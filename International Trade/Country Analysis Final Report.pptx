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pic>
        <p:nvPicPr>
          <p:cNvPr descr="HD-ShadowLong.png" id="17" name="Google Shape;17;p2"/>
          <p:cNvPicPr preferRelativeResize="0"/>
          <p:nvPr/>
        </p:nvPicPr>
        <p:blipFill rotWithShape="1">
          <a:blip r:embed="rId2">
            <a:alphaModFix/>
          </a:blip>
          <a:srcRect b="0" l="0" r="0" t="0"/>
          <a:stretch/>
        </p:blipFill>
        <p:spPr>
          <a:xfrm>
            <a:off x="1" y="4242851"/>
            <a:ext cx="8968084" cy="275942"/>
          </a:xfrm>
          <a:prstGeom prst="rect">
            <a:avLst/>
          </a:prstGeom>
          <a:noFill/>
          <a:ln>
            <a:noFill/>
          </a:ln>
        </p:spPr>
      </p:pic>
      <p:pic>
        <p:nvPicPr>
          <p:cNvPr descr="HD-ShadowShort.png" id="18" name="Google Shape;18;p2"/>
          <p:cNvPicPr preferRelativeResize="0"/>
          <p:nvPr/>
        </p:nvPicPr>
        <p:blipFill rotWithShape="1">
          <a:blip r:embed="rId3">
            <a:alphaModFix/>
          </a:blip>
          <a:srcRect b="0" l="0" r="0" t="0"/>
          <a:stretch/>
        </p:blipFill>
        <p:spPr>
          <a:xfrm>
            <a:off x="9111716" y="4243845"/>
            <a:ext cx="3077108" cy="276940"/>
          </a:xfrm>
          <a:prstGeom prst="rect">
            <a:avLst/>
          </a:prstGeom>
          <a:noFill/>
          <a:ln>
            <a:noFill/>
          </a:ln>
        </p:spPr>
      </p:pic>
      <p:sp>
        <p:nvSpPr>
          <p:cNvPr id="19" name="Google Shape;19;p2"/>
          <p:cNvSpPr/>
          <p:nvPr/>
        </p:nvSpPr>
        <p:spPr>
          <a:xfrm>
            <a:off x="0" y="2590078"/>
            <a:ext cx="8968085"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9111715" y="2590078"/>
            <a:ext cx="3077109" cy="166033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txBox="1"/>
          <p:nvPr>
            <p:ph type="ctrTitle"/>
          </p:nvPr>
        </p:nvSpPr>
        <p:spPr>
          <a:xfrm>
            <a:off x="680322" y="2733709"/>
            <a:ext cx="8144134" cy="1373070"/>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lt1"/>
              </a:buClr>
              <a:buSzPts val="5400"/>
              <a:buFont typeface="Trebuchet M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680322" y="4394039"/>
            <a:ext cx="8144134" cy="1117687"/>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3" name="Google Shape;23;p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9255346" y="2750337"/>
            <a:ext cx="1171888" cy="1356442"/>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pic>
        <p:nvPicPr>
          <p:cNvPr descr="HD-ShadowLong.png" id="27" name="Google Shape;27;p3"/>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28" name="Google Shape;28;p3"/>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29" name="Google Shape;29;p3"/>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 name="Google Shape;33;p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pic>
        <p:nvPicPr>
          <p:cNvPr descr="HD-ShadowLong.png" id="37" name="Google Shape;37;p4"/>
          <p:cNvPicPr preferRelativeResize="0"/>
          <p:nvPr/>
        </p:nvPicPr>
        <p:blipFill rotWithShape="1">
          <a:blip r:embed="rId2">
            <a:alphaModFix/>
          </a:blip>
          <a:srcRect b="0" l="0" r="0" t="0"/>
          <a:stretch/>
        </p:blipFill>
        <p:spPr>
          <a:xfrm>
            <a:off x="-1" y="4086907"/>
            <a:ext cx="10437812" cy="321164"/>
          </a:xfrm>
          <a:prstGeom prst="rect">
            <a:avLst/>
          </a:prstGeom>
          <a:noFill/>
          <a:ln>
            <a:noFill/>
          </a:ln>
        </p:spPr>
      </p:pic>
      <p:pic>
        <p:nvPicPr>
          <p:cNvPr descr="HD-ShadowShort.png" id="38" name="Google Shape;38;p4"/>
          <p:cNvPicPr preferRelativeResize="0"/>
          <p:nvPr/>
        </p:nvPicPr>
        <p:blipFill rotWithShape="1">
          <a:blip r:embed="rId3">
            <a:alphaModFix/>
          </a:blip>
          <a:srcRect b="0" l="0" r="0" t="0"/>
          <a:stretch/>
        </p:blipFill>
        <p:spPr>
          <a:xfrm>
            <a:off x="10585824" y="4087901"/>
            <a:ext cx="1602997" cy="144270"/>
          </a:xfrm>
          <a:prstGeom prst="rect">
            <a:avLst/>
          </a:prstGeom>
          <a:noFill/>
          <a:ln>
            <a:noFill/>
          </a:ln>
        </p:spPr>
      </p:pic>
      <p:sp>
        <p:nvSpPr>
          <p:cNvPr id="39" name="Google Shape;39;p4"/>
          <p:cNvSpPr/>
          <p:nvPr/>
        </p:nvSpPr>
        <p:spPr>
          <a:xfrm>
            <a:off x="-2" y="2726267"/>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0585825" y="2726267"/>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txBox="1"/>
          <p:nvPr>
            <p:ph type="title"/>
          </p:nvPr>
        </p:nvSpPr>
        <p:spPr>
          <a:xfrm>
            <a:off x="680322" y="2869895"/>
            <a:ext cx="9613860" cy="109078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
          <p:cNvSpPr txBox="1"/>
          <p:nvPr>
            <p:ph idx="1" type="body"/>
          </p:nvPr>
        </p:nvSpPr>
        <p:spPr>
          <a:xfrm>
            <a:off x="680322" y="4232171"/>
            <a:ext cx="9613860" cy="170401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000"/>
              <a:buNone/>
              <a:defRPr sz="20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43" name="Google Shape;43;p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
          <p:cNvSpPr txBox="1"/>
          <p:nvPr>
            <p:ph idx="12" type="sldNum"/>
          </p:nvPr>
        </p:nvSpPr>
        <p:spPr>
          <a:xfrm>
            <a:off x="10729455" y="286989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pic>
        <p:nvPicPr>
          <p:cNvPr descr="HD-ShadowLong.png" id="47" name="Google Shape;47;p5"/>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48" name="Google Shape;48;p5"/>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49" name="Google Shape;49;p5"/>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5"/>
          <p:cNvSpPr txBox="1"/>
          <p:nvPr>
            <p:ph idx="1" type="body"/>
          </p:nvPr>
        </p:nvSpPr>
        <p:spPr>
          <a:xfrm>
            <a:off x="680320" y="2336873"/>
            <a:ext cx="46983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3" name="Google Shape;53;p5"/>
          <p:cNvSpPr txBox="1"/>
          <p:nvPr>
            <p:ph idx="2" type="body"/>
          </p:nvPr>
        </p:nvSpPr>
        <p:spPr>
          <a:xfrm>
            <a:off x="5594123" y="2336873"/>
            <a:ext cx="47000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4" name="Google Shape;54;p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pic>
        <p:nvPicPr>
          <p:cNvPr descr="HD-ShadowLong.png" id="58" name="Google Shape;58;p6"/>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59" name="Google Shape;59;p6"/>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60" name="Google Shape;60;p6"/>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txBox="1"/>
          <p:nvPr>
            <p:ph type="title"/>
          </p:nvPr>
        </p:nvSpPr>
        <p:spPr>
          <a:xfrm>
            <a:off x="680319" y="753229"/>
            <a:ext cx="9613863" cy="108093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
          <p:cNvSpPr txBox="1"/>
          <p:nvPr>
            <p:ph idx="1" type="body"/>
          </p:nvPr>
        </p:nvSpPr>
        <p:spPr>
          <a:xfrm>
            <a:off x="906350" y="2336873"/>
            <a:ext cx="4472327" cy="69313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64" name="Google Shape;64;p6"/>
          <p:cNvSpPr txBox="1"/>
          <p:nvPr>
            <p:ph idx="2" type="body"/>
          </p:nvPr>
        </p:nvSpPr>
        <p:spPr>
          <a:xfrm>
            <a:off x="680322" y="3030008"/>
            <a:ext cx="4698355"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5" name="Google Shape;65;p6"/>
          <p:cNvSpPr txBox="1"/>
          <p:nvPr>
            <p:ph idx="3" type="body"/>
          </p:nvPr>
        </p:nvSpPr>
        <p:spPr>
          <a:xfrm>
            <a:off x="5820154" y="2336873"/>
            <a:ext cx="4474028" cy="69207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66" name="Google Shape;66;p6"/>
          <p:cNvSpPr txBox="1"/>
          <p:nvPr>
            <p:ph idx="4" type="body"/>
          </p:nvPr>
        </p:nvSpPr>
        <p:spPr>
          <a:xfrm>
            <a:off x="5594123" y="3030008"/>
            <a:ext cx="4700059"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7" name="Google Shape;67;p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pic>
        <p:nvPicPr>
          <p:cNvPr descr="HD-ShadowLong.png" id="71" name="Google Shape;71;p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72" name="Google Shape;72;p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73" name="Google Shape;73;p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pic>
        <p:nvPicPr>
          <p:cNvPr descr="HD-ShadowShort.png" id="80" name="Google Shape;80;p8"/>
          <p:cNvPicPr preferRelativeResize="0"/>
          <p:nvPr/>
        </p:nvPicPr>
        <p:blipFill rotWithShape="1">
          <a:blip r:embed="rId2">
            <a:alphaModFix/>
          </a:blip>
          <a:srcRect b="0" l="0" r="0" t="0"/>
          <a:stretch/>
        </p:blipFill>
        <p:spPr>
          <a:xfrm>
            <a:off x="10585826" y="1971234"/>
            <a:ext cx="1602997" cy="144270"/>
          </a:xfrm>
          <a:prstGeom prst="rect">
            <a:avLst/>
          </a:prstGeom>
          <a:noFill/>
          <a:ln>
            <a:noFill/>
          </a:ln>
        </p:spPr>
      </p:pic>
      <p:sp>
        <p:nvSpPr>
          <p:cNvPr id="81" name="Google Shape;81;p8"/>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5" name="Shape 85"/>
        <p:cNvGrpSpPr/>
        <p:nvPr/>
      </p:nvGrpSpPr>
      <p:grpSpPr>
        <a:xfrm>
          <a:off x="0" y="0"/>
          <a:ext cx="0" cy="0"/>
          <a:chOff x="0" y="0"/>
          <a:chExt cx="0" cy="0"/>
        </a:xfrm>
      </p:grpSpPr>
      <p:pic>
        <p:nvPicPr>
          <p:cNvPr descr="HD-ShadowLong.png" id="86" name="Google Shape;86;p9"/>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87" name="Google Shape;87;p9"/>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88" name="Google Shape;88;p9"/>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txBox="1"/>
          <p:nvPr>
            <p:ph type="title"/>
          </p:nvPr>
        </p:nvSpPr>
        <p:spPr>
          <a:xfrm>
            <a:off x="680321" y="753227"/>
            <a:ext cx="9613859" cy="10809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9"/>
          <p:cNvSpPr txBox="1"/>
          <p:nvPr>
            <p:ph idx="1" type="body"/>
          </p:nvPr>
        </p:nvSpPr>
        <p:spPr>
          <a:xfrm>
            <a:off x="4685846" y="2336873"/>
            <a:ext cx="5608336" cy="3599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2" name="Google Shape;92;p9"/>
          <p:cNvSpPr txBox="1"/>
          <p:nvPr>
            <p:ph idx="2" type="body"/>
          </p:nvPr>
        </p:nvSpPr>
        <p:spPr>
          <a:xfrm>
            <a:off x="680322" y="2336872"/>
            <a:ext cx="3790078" cy="359931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3" name="Google Shape;93;p9"/>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9"/>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9"/>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pic>
        <p:nvPicPr>
          <p:cNvPr descr="HD-ShadowLong.png" id="97" name="Google Shape;97;p10"/>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98" name="Google Shape;98;p10"/>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99" name="Google Shape;99;p10"/>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0"/>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txBox="1"/>
          <p:nvPr>
            <p:ph type="title"/>
          </p:nvPr>
        </p:nvSpPr>
        <p:spPr>
          <a:xfrm>
            <a:off x="680323" y="753228"/>
            <a:ext cx="9613857"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0"/>
          <p:cNvSpPr/>
          <p:nvPr>
            <p:ph idx="2" type="pic"/>
          </p:nvPr>
        </p:nvSpPr>
        <p:spPr>
          <a:xfrm>
            <a:off x="4868333" y="2336874"/>
            <a:ext cx="5425849" cy="3599312"/>
          </a:xfrm>
          <a:prstGeom prst="rect">
            <a:avLst/>
          </a:prstGeom>
          <a:noFill/>
          <a:ln>
            <a:noFill/>
          </a:ln>
          <a:effectLst>
            <a:outerShdw blurRad="76200" rotWithShape="0" algn="tl" dir="5040000" dist="63500">
              <a:srgbClr val="000000">
                <a:alpha val="40784"/>
              </a:srgbClr>
            </a:outerShdw>
          </a:effectLst>
        </p:spPr>
      </p:sp>
      <p:sp>
        <p:nvSpPr>
          <p:cNvPr id="103" name="Google Shape;103;p10"/>
          <p:cNvSpPr txBox="1"/>
          <p:nvPr>
            <p:ph idx="1" type="body"/>
          </p:nvPr>
        </p:nvSpPr>
        <p:spPr>
          <a:xfrm>
            <a:off x="680323" y="2336873"/>
            <a:ext cx="3876256" cy="359931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04" name="Google Shape;104;p10"/>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0"/>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0"/>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07" name="Shape 107"/>
        <p:cNvGrpSpPr/>
        <p:nvPr/>
      </p:nvGrpSpPr>
      <p:grpSpPr>
        <a:xfrm>
          <a:off x="0" y="0"/>
          <a:ext cx="0" cy="0"/>
          <a:chOff x="0" y="0"/>
          <a:chExt cx="0" cy="0"/>
        </a:xfrm>
      </p:grpSpPr>
      <p:pic>
        <p:nvPicPr>
          <p:cNvPr descr="HD-ShadowLong.png" id="108" name="Google Shape;108;p11"/>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09" name="Google Shape;109;p11"/>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10" name="Google Shape;110;p11"/>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txBox="1"/>
          <p:nvPr>
            <p:ph type="title"/>
          </p:nvPr>
        </p:nvSpPr>
        <p:spPr>
          <a:xfrm>
            <a:off x="680322" y="4711616"/>
            <a:ext cx="9613859" cy="4530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400"/>
              <a:buFont typeface="Trebuchet M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1"/>
          <p:cNvSpPr/>
          <p:nvPr>
            <p:ph idx="2" type="pic"/>
          </p:nvPr>
        </p:nvSpPr>
        <p:spPr>
          <a:xfrm>
            <a:off x="680322" y="609597"/>
            <a:ext cx="9613859" cy="3589575"/>
          </a:xfrm>
          <a:prstGeom prst="rect">
            <a:avLst/>
          </a:prstGeom>
          <a:noFill/>
          <a:ln>
            <a:noFill/>
          </a:ln>
          <a:effectLst>
            <a:outerShdw blurRad="76200" rotWithShape="0" algn="tl" dir="5040000" dist="63500">
              <a:srgbClr val="000000">
                <a:alpha val="40784"/>
              </a:srgbClr>
            </a:outerShdw>
          </a:effectLst>
        </p:spPr>
      </p:sp>
      <p:sp>
        <p:nvSpPr>
          <p:cNvPr id="114" name="Google Shape;114;p11"/>
          <p:cNvSpPr txBox="1"/>
          <p:nvPr>
            <p:ph idx="1" type="body"/>
          </p:nvPr>
        </p:nvSpPr>
        <p:spPr>
          <a:xfrm>
            <a:off x="680319" y="5169583"/>
            <a:ext cx="9613862" cy="6229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5" name="Google Shape;115;p1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1"/>
          <p:cNvSpPr txBox="1"/>
          <p:nvPr>
            <p:ph idx="12" type="sldNum"/>
          </p:nvPr>
        </p:nvSpPr>
        <p:spPr>
          <a:xfrm>
            <a:off x="10729455" y="4711309"/>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8" name="Shape 118"/>
        <p:cNvGrpSpPr/>
        <p:nvPr/>
      </p:nvGrpSpPr>
      <p:grpSpPr>
        <a:xfrm>
          <a:off x="0" y="0"/>
          <a:ext cx="0" cy="0"/>
          <a:chOff x="0" y="0"/>
          <a:chExt cx="0" cy="0"/>
        </a:xfrm>
      </p:grpSpPr>
      <p:pic>
        <p:nvPicPr>
          <p:cNvPr descr="HD-ShadowLong.png" id="119" name="Google Shape;119;p12"/>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20" name="Google Shape;120;p12"/>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21" name="Google Shape;121;p12"/>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txBox="1"/>
          <p:nvPr>
            <p:ph type="title"/>
          </p:nvPr>
        </p:nvSpPr>
        <p:spPr>
          <a:xfrm>
            <a:off x="680322" y="609597"/>
            <a:ext cx="9613858" cy="35927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2"/>
          <p:cNvSpPr txBox="1"/>
          <p:nvPr>
            <p:ph idx="1"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25" name="Google Shape;125;p1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2"/>
          <p:cNvSpPr txBox="1"/>
          <p:nvPr>
            <p:ph idx="12" type="sldNum"/>
          </p:nvPr>
        </p:nvSpPr>
        <p:spPr>
          <a:xfrm>
            <a:off x="10729455" y="471161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28" name="Shape 128"/>
        <p:cNvGrpSpPr/>
        <p:nvPr/>
      </p:nvGrpSpPr>
      <p:grpSpPr>
        <a:xfrm>
          <a:off x="0" y="0"/>
          <a:ext cx="0" cy="0"/>
          <a:chOff x="0" y="0"/>
          <a:chExt cx="0" cy="0"/>
        </a:xfrm>
      </p:grpSpPr>
      <p:pic>
        <p:nvPicPr>
          <p:cNvPr descr="HD-ShadowLong.png" id="129" name="Google Shape;129;p13"/>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30" name="Google Shape;130;p13"/>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31" name="Google Shape;131;p13"/>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txBox="1"/>
          <p:nvPr>
            <p:ph type="title"/>
          </p:nvPr>
        </p:nvSpPr>
        <p:spPr>
          <a:xfrm>
            <a:off x="1127856" y="609598"/>
            <a:ext cx="8718877" cy="30360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3"/>
          <p:cNvSpPr txBox="1"/>
          <p:nvPr>
            <p:ph idx="1" type="body"/>
          </p:nvPr>
        </p:nvSpPr>
        <p:spPr>
          <a:xfrm>
            <a:off x="1402288" y="3653379"/>
            <a:ext cx="815657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5" name="Google Shape;135;p13"/>
          <p:cNvSpPr txBox="1"/>
          <p:nvPr>
            <p:ph idx="2"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6" name="Google Shape;136;p1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3"/>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39" name="Google Shape;139;p13"/>
          <p:cNvSpPr txBox="1"/>
          <p:nvPr/>
        </p:nvSpPr>
        <p:spPr>
          <a:xfrm>
            <a:off x="583572" y="74811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7200"/>
              <a:buFont typeface="Trebuchet MS"/>
              <a:buNone/>
            </a:pPr>
            <a:r>
              <a:rPr b="0" i="0" lang="en-US" sz="7200" u="none" cap="none" strike="noStrike">
                <a:solidFill>
                  <a:schemeClr val="lt1"/>
                </a:solidFill>
                <a:latin typeface="Trebuchet MS"/>
                <a:ea typeface="Trebuchet MS"/>
                <a:cs typeface="Trebuchet MS"/>
                <a:sym typeface="Trebuchet MS"/>
              </a:rPr>
              <a:t>“</a:t>
            </a:r>
            <a:endParaRPr/>
          </a:p>
        </p:txBody>
      </p:sp>
      <p:sp>
        <p:nvSpPr>
          <p:cNvPr id="140" name="Google Shape;140;p13"/>
          <p:cNvSpPr txBox="1"/>
          <p:nvPr/>
        </p:nvSpPr>
        <p:spPr>
          <a:xfrm>
            <a:off x="9662809" y="303352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7200"/>
              <a:buFont typeface="Trebuchet MS"/>
              <a:buNone/>
            </a:pPr>
            <a:r>
              <a:rPr b="0" i="0" lang="en-US" sz="7200" u="none" cap="none" strike="noStrike">
                <a:solidFill>
                  <a:schemeClr val="lt1"/>
                </a:solidFill>
                <a:latin typeface="Trebuchet MS"/>
                <a:ea typeface="Trebuchet MS"/>
                <a:cs typeface="Trebuchet MS"/>
                <a:sym typeface="Trebuchet MS"/>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41" name="Shape 141"/>
        <p:cNvGrpSpPr/>
        <p:nvPr/>
      </p:nvGrpSpPr>
      <p:grpSpPr>
        <a:xfrm>
          <a:off x="0" y="0"/>
          <a:ext cx="0" cy="0"/>
          <a:chOff x="0" y="0"/>
          <a:chExt cx="0" cy="0"/>
        </a:xfrm>
      </p:grpSpPr>
      <p:pic>
        <p:nvPicPr>
          <p:cNvPr descr="HD-ShadowLong.png" id="142" name="Google Shape;142;p14"/>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43" name="Google Shape;143;p14"/>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44" name="Google Shape;144;p14"/>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txBox="1"/>
          <p:nvPr>
            <p:ph type="title"/>
          </p:nvPr>
        </p:nvSpPr>
        <p:spPr>
          <a:xfrm>
            <a:off x="680319" y="4711615"/>
            <a:ext cx="9613862" cy="5885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14"/>
          <p:cNvSpPr txBox="1"/>
          <p:nvPr>
            <p:ph idx="1" type="body"/>
          </p:nvPr>
        </p:nvSpPr>
        <p:spPr>
          <a:xfrm>
            <a:off x="680320" y="5300149"/>
            <a:ext cx="9613862" cy="50225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48" name="Google Shape;148;p1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4"/>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51" name="Shape 151"/>
        <p:cNvGrpSpPr/>
        <p:nvPr/>
      </p:nvGrpSpPr>
      <p:grpSpPr>
        <a:xfrm>
          <a:off x="0" y="0"/>
          <a:ext cx="0" cy="0"/>
          <a:chOff x="0" y="0"/>
          <a:chExt cx="0" cy="0"/>
        </a:xfrm>
      </p:grpSpPr>
      <p:pic>
        <p:nvPicPr>
          <p:cNvPr descr="HD-ShadowLong.png" id="152" name="Google Shape;152;p15"/>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53" name="Google Shape;153;p15"/>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54" name="Google Shape;154;p15"/>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txBox="1"/>
          <p:nvPr>
            <p:ph type="title"/>
          </p:nvPr>
        </p:nvSpPr>
        <p:spPr>
          <a:xfrm>
            <a:off x="669222" y="753228"/>
            <a:ext cx="96249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15"/>
          <p:cNvSpPr txBox="1"/>
          <p:nvPr>
            <p:ph idx="1" type="body"/>
          </p:nvPr>
        </p:nvSpPr>
        <p:spPr>
          <a:xfrm>
            <a:off x="660946" y="2336873"/>
            <a:ext cx="3070034"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58" name="Google Shape;158;p15"/>
          <p:cNvSpPr txBox="1"/>
          <p:nvPr>
            <p:ph idx="2" type="body"/>
          </p:nvPr>
        </p:nvSpPr>
        <p:spPr>
          <a:xfrm>
            <a:off x="680322" y="3022673"/>
            <a:ext cx="3049702"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59" name="Google Shape;159;p15"/>
          <p:cNvSpPr txBox="1"/>
          <p:nvPr>
            <p:ph idx="3" type="body"/>
          </p:nvPr>
        </p:nvSpPr>
        <p:spPr>
          <a:xfrm>
            <a:off x="3956025" y="233687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0" name="Google Shape;160;p15"/>
          <p:cNvSpPr txBox="1"/>
          <p:nvPr>
            <p:ph idx="4" type="body"/>
          </p:nvPr>
        </p:nvSpPr>
        <p:spPr>
          <a:xfrm>
            <a:off x="3945470" y="3022673"/>
            <a:ext cx="3063240"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61" name="Google Shape;161;p15"/>
          <p:cNvSpPr txBox="1"/>
          <p:nvPr>
            <p:ph idx="5" type="body"/>
          </p:nvPr>
        </p:nvSpPr>
        <p:spPr>
          <a:xfrm>
            <a:off x="7224156" y="2336873"/>
            <a:ext cx="307002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2" name="Google Shape;162;p15"/>
          <p:cNvSpPr txBox="1"/>
          <p:nvPr>
            <p:ph idx="6" type="body"/>
          </p:nvPr>
        </p:nvSpPr>
        <p:spPr>
          <a:xfrm>
            <a:off x="7224156" y="3022673"/>
            <a:ext cx="3070025"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63" name="Google Shape;163;p1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5"/>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66" name="Shape 166"/>
        <p:cNvGrpSpPr/>
        <p:nvPr/>
      </p:nvGrpSpPr>
      <p:grpSpPr>
        <a:xfrm>
          <a:off x="0" y="0"/>
          <a:ext cx="0" cy="0"/>
          <a:chOff x="0" y="0"/>
          <a:chExt cx="0" cy="0"/>
        </a:xfrm>
      </p:grpSpPr>
      <p:pic>
        <p:nvPicPr>
          <p:cNvPr descr="HD-ShadowLong.png" id="167" name="Google Shape;167;p16"/>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68" name="Google Shape;168;p16"/>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69" name="Google Shape;169;p16"/>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txBox="1"/>
          <p:nvPr>
            <p:ph type="title"/>
          </p:nvPr>
        </p:nvSpPr>
        <p:spPr>
          <a:xfrm>
            <a:off x="680322" y="753228"/>
            <a:ext cx="96138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16"/>
          <p:cNvSpPr txBox="1"/>
          <p:nvPr>
            <p:ph idx="1" type="body"/>
          </p:nvPr>
        </p:nvSpPr>
        <p:spPr>
          <a:xfrm>
            <a:off x="680318" y="4297503"/>
            <a:ext cx="30497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3" name="Google Shape;173;p16"/>
          <p:cNvSpPr/>
          <p:nvPr>
            <p:ph idx="2" type="pic"/>
          </p:nvPr>
        </p:nvSpPr>
        <p:spPr>
          <a:xfrm>
            <a:off x="680318" y="2336873"/>
            <a:ext cx="30497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4" name="Google Shape;174;p16"/>
          <p:cNvSpPr txBox="1"/>
          <p:nvPr>
            <p:ph idx="3" type="body"/>
          </p:nvPr>
        </p:nvSpPr>
        <p:spPr>
          <a:xfrm>
            <a:off x="680318" y="4873765"/>
            <a:ext cx="3049705"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5" name="Google Shape;175;p16"/>
          <p:cNvSpPr txBox="1"/>
          <p:nvPr>
            <p:ph idx="4" type="body"/>
          </p:nvPr>
        </p:nvSpPr>
        <p:spPr>
          <a:xfrm>
            <a:off x="3945471" y="429750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6" name="Google Shape;176;p16"/>
          <p:cNvSpPr/>
          <p:nvPr>
            <p:ph idx="5" type="pic"/>
          </p:nvPr>
        </p:nvSpPr>
        <p:spPr>
          <a:xfrm>
            <a:off x="3945470" y="2336873"/>
            <a:ext cx="3063240"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7" name="Google Shape;177;p16"/>
          <p:cNvSpPr txBox="1"/>
          <p:nvPr>
            <p:ph idx="6" type="body"/>
          </p:nvPr>
        </p:nvSpPr>
        <p:spPr>
          <a:xfrm>
            <a:off x="3944117" y="4873764"/>
            <a:ext cx="3067297"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8" name="Google Shape;178;p16"/>
          <p:cNvSpPr txBox="1"/>
          <p:nvPr>
            <p:ph idx="7" type="body"/>
          </p:nvPr>
        </p:nvSpPr>
        <p:spPr>
          <a:xfrm>
            <a:off x="7230678" y="4297503"/>
            <a:ext cx="30635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9" name="Google Shape;179;p16"/>
          <p:cNvSpPr/>
          <p:nvPr>
            <p:ph idx="8" type="pic"/>
          </p:nvPr>
        </p:nvSpPr>
        <p:spPr>
          <a:xfrm>
            <a:off x="7230677" y="2336873"/>
            <a:ext cx="30635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80" name="Google Shape;180;p16"/>
          <p:cNvSpPr txBox="1"/>
          <p:nvPr>
            <p:ph idx="9" type="body"/>
          </p:nvPr>
        </p:nvSpPr>
        <p:spPr>
          <a:xfrm>
            <a:off x="7230553" y="4873762"/>
            <a:ext cx="3067563"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81" name="Google Shape;181;p1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1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6"/>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4" name="Shape 184"/>
        <p:cNvGrpSpPr/>
        <p:nvPr/>
      </p:nvGrpSpPr>
      <p:grpSpPr>
        <a:xfrm>
          <a:off x="0" y="0"/>
          <a:ext cx="0" cy="0"/>
          <a:chOff x="0" y="0"/>
          <a:chExt cx="0" cy="0"/>
        </a:xfrm>
      </p:grpSpPr>
      <p:pic>
        <p:nvPicPr>
          <p:cNvPr descr="HD-ShadowLong.png" id="185" name="Google Shape;185;p1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86" name="Google Shape;186;p1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87" name="Google Shape;187;p1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17"/>
          <p:cNvSpPr txBox="1"/>
          <p:nvPr>
            <p:ph idx="1" type="body"/>
          </p:nvPr>
        </p:nvSpPr>
        <p:spPr>
          <a:xfrm rot="5400000">
            <a:off x="3687594" y="-670400"/>
            <a:ext cx="3599316" cy="961386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1" name="Google Shape;191;p1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1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18"/>
          <p:cNvSpPr/>
          <p:nvPr/>
        </p:nvSpPr>
        <p:spPr>
          <a:xfrm rot="5400000">
            <a:off x="8116207" y="1869395"/>
            <a:ext cx="5106988"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p:nvPr/>
        </p:nvSpPr>
        <p:spPr>
          <a:xfrm rot="5400000">
            <a:off x="9868202" y="5372403"/>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8"/>
          <p:cNvSpPr txBox="1"/>
          <p:nvPr>
            <p:ph type="title"/>
          </p:nvPr>
        </p:nvSpPr>
        <p:spPr>
          <a:xfrm rot="5400000">
            <a:off x="8489252" y="2249576"/>
            <a:ext cx="4353760" cy="1073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18"/>
          <p:cNvSpPr txBox="1"/>
          <p:nvPr>
            <p:ph idx="1" type="body"/>
          </p:nvPr>
        </p:nvSpPr>
        <p:spPr>
          <a:xfrm rot="5400000">
            <a:off x="2452030" y="-1162110"/>
            <a:ext cx="5326589" cy="88700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9" name="Google Shape;199;p18"/>
          <p:cNvSpPr txBox="1"/>
          <p:nvPr>
            <p:ph idx="10" type="dt"/>
          </p:nvPr>
        </p:nvSpPr>
        <p:spPr>
          <a:xfrm>
            <a:off x="6807126"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18"/>
          <p:cNvSpPr txBox="1"/>
          <p:nvPr>
            <p:ph idx="11" type="ftr"/>
          </p:nvPr>
        </p:nvSpPr>
        <p:spPr>
          <a:xfrm>
            <a:off x="680321" y="5936188"/>
            <a:ext cx="61268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8"/>
          <p:cNvSpPr txBox="1"/>
          <p:nvPr>
            <p:ph idx="12" type="sldNum"/>
          </p:nvPr>
        </p:nvSpPr>
        <p:spPr>
          <a:xfrm>
            <a:off x="10097550" y="5398633"/>
            <a:ext cx="1154151" cy="1090789"/>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b="0" i="0" sz="3600" u="none" cap="none" strike="noStrike">
                <a:solidFill>
                  <a:schemeClr val="lt1"/>
                </a:solidFill>
                <a:latin typeface="Trebuchet MS"/>
                <a:ea typeface="Trebuchet MS"/>
                <a:cs typeface="Trebuchet MS"/>
                <a:sym typeface="Trebuchet MS"/>
              </a:defRPr>
            </a:lvl1pPr>
            <a:lvl2pPr indent="0" lvl="1" marL="0" algn="ctr">
              <a:spcBef>
                <a:spcPts val="0"/>
              </a:spcBef>
              <a:buNone/>
              <a:defRPr b="0" i="0" sz="3600" u="none" cap="none" strike="noStrike">
                <a:solidFill>
                  <a:schemeClr val="lt1"/>
                </a:solidFill>
                <a:latin typeface="Trebuchet MS"/>
                <a:ea typeface="Trebuchet MS"/>
                <a:cs typeface="Trebuchet MS"/>
                <a:sym typeface="Trebuchet MS"/>
              </a:defRPr>
            </a:lvl2pPr>
            <a:lvl3pPr indent="0" lvl="2" marL="0" algn="ctr">
              <a:spcBef>
                <a:spcPts val="0"/>
              </a:spcBef>
              <a:buNone/>
              <a:defRPr b="0" i="0" sz="3600" u="none" cap="none" strike="noStrike">
                <a:solidFill>
                  <a:schemeClr val="lt1"/>
                </a:solidFill>
                <a:latin typeface="Trebuchet MS"/>
                <a:ea typeface="Trebuchet MS"/>
                <a:cs typeface="Trebuchet MS"/>
                <a:sym typeface="Trebuchet MS"/>
              </a:defRPr>
            </a:lvl3pPr>
            <a:lvl4pPr indent="0" lvl="3" marL="0" algn="ctr">
              <a:spcBef>
                <a:spcPts val="0"/>
              </a:spcBef>
              <a:buNone/>
              <a:defRPr b="0" i="0" sz="3600" u="none" cap="none" strike="noStrike">
                <a:solidFill>
                  <a:schemeClr val="lt1"/>
                </a:solidFill>
                <a:latin typeface="Trebuchet MS"/>
                <a:ea typeface="Trebuchet MS"/>
                <a:cs typeface="Trebuchet MS"/>
                <a:sym typeface="Trebuchet MS"/>
              </a:defRPr>
            </a:lvl4pPr>
            <a:lvl5pPr indent="0" lvl="4" marL="0" algn="ctr">
              <a:spcBef>
                <a:spcPts val="0"/>
              </a:spcBef>
              <a:buNone/>
              <a:defRPr b="0" i="0" sz="3600" u="none" cap="none" strike="noStrike">
                <a:solidFill>
                  <a:schemeClr val="lt1"/>
                </a:solidFill>
                <a:latin typeface="Trebuchet MS"/>
                <a:ea typeface="Trebuchet MS"/>
                <a:cs typeface="Trebuchet MS"/>
                <a:sym typeface="Trebuchet MS"/>
              </a:defRPr>
            </a:lvl5pPr>
            <a:lvl6pPr indent="0" lvl="5" marL="0" algn="ctr">
              <a:spcBef>
                <a:spcPts val="0"/>
              </a:spcBef>
              <a:buNone/>
              <a:defRPr b="0" i="0" sz="3600" u="none" cap="none" strike="noStrike">
                <a:solidFill>
                  <a:schemeClr val="lt1"/>
                </a:solidFill>
                <a:latin typeface="Trebuchet MS"/>
                <a:ea typeface="Trebuchet MS"/>
                <a:cs typeface="Trebuchet MS"/>
                <a:sym typeface="Trebuchet MS"/>
              </a:defRPr>
            </a:lvl6pPr>
            <a:lvl7pPr indent="0" lvl="6" marL="0" algn="ctr">
              <a:spcBef>
                <a:spcPts val="0"/>
              </a:spcBef>
              <a:buNone/>
              <a:defRPr b="0" i="0" sz="3600" u="none" cap="none" strike="noStrike">
                <a:solidFill>
                  <a:schemeClr val="lt1"/>
                </a:solidFill>
                <a:latin typeface="Trebuchet MS"/>
                <a:ea typeface="Trebuchet MS"/>
                <a:cs typeface="Trebuchet MS"/>
                <a:sym typeface="Trebuchet MS"/>
              </a:defRPr>
            </a:lvl7pPr>
            <a:lvl8pPr indent="0" lvl="7" marL="0" algn="ctr">
              <a:spcBef>
                <a:spcPts val="0"/>
              </a:spcBef>
              <a:buNone/>
              <a:defRPr b="0" i="0" sz="3600" u="none" cap="none" strike="noStrike">
                <a:solidFill>
                  <a:schemeClr val="lt1"/>
                </a:solidFill>
                <a:latin typeface="Trebuchet MS"/>
                <a:ea typeface="Trebuchet MS"/>
                <a:cs typeface="Trebuchet MS"/>
                <a:sym typeface="Trebuchet MS"/>
              </a:defRPr>
            </a:lvl8pPr>
            <a:lvl9pPr indent="0" lvl="8" marL="0" algn="ctr">
              <a:spcBef>
                <a:spcPts val="0"/>
              </a:spcBef>
              <a:buNone/>
              <a:defRPr b="0" i="0" sz="3600" u="none" cap="none" strike="noStrike">
                <a:solidFill>
                  <a:schemeClr val="lt1"/>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9" name="Shape 9"/>
        <p:cNvGrpSpPr/>
        <p:nvPr/>
      </p:nvGrpSpPr>
      <p:grpSpPr>
        <a:xfrm>
          <a:off x="0" y="0"/>
          <a:ext cx="0" cy="0"/>
          <a:chOff x="0" y="0"/>
          <a:chExt cx="0" cy="0"/>
        </a:xfrm>
      </p:grpSpPr>
      <p:pic>
        <p:nvPicPr>
          <p:cNvPr descr="hashOverlay-FullResolve.png" id="10" name="Google Shape;10;p1"/>
          <p:cNvPicPr preferRelativeResize="0"/>
          <p:nvPr/>
        </p:nvPicPr>
        <p:blipFill rotWithShape="1">
          <a:blip r:embed="rId1">
            <a:alphaModFix amt="10000"/>
          </a:blip>
          <a:srcRect b="0" l="0" r="0" t="0"/>
          <a:stretch/>
        </p:blipFill>
        <p:spPr>
          <a:xfrm>
            <a:off x="0" y="0"/>
            <a:ext cx="12192000" cy="6858000"/>
          </a:xfrm>
          <a:prstGeom prst="rect">
            <a:avLst/>
          </a:prstGeom>
          <a:noFill/>
          <a:ln>
            <a:noFill/>
          </a:ln>
        </p:spPr>
      </p:pic>
      <p:sp>
        <p:nvSpPr>
          <p:cNvPr id="11" name="Google Shape;11;p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rebuchet MS"/>
              <a:buNone/>
              <a:defRPr b="0"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lt1"/>
              </a:buClr>
              <a:buSzPts val="2400"/>
              <a:buFont typeface="Arial"/>
              <a:buChar char="•"/>
              <a:defRPr b="0" i="0" sz="2400" u="none" cap="none" strike="noStrike">
                <a:solidFill>
                  <a:schemeClr val="lt1"/>
                </a:solidFill>
                <a:latin typeface="Trebuchet MS"/>
                <a:ea typeface="Trebuchet MS"/>
                <a:cs typeface="Trebuchet MS"/>
                <a:sym typeface="Trebuchet MS"/>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Trebuchet MS"/>
                <a:ea typeface="Trebuchet MS"/>
                <a:cs typeface="Trebuchet MS"/>
                <a:sym typeface="Trebuchet MS"/>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rebuchet MS"/>
                <a:ea typeface="Trebuchet MS"/>
                <a:cs typeface="Trebuchet MS"/>
                <a:sym typeface="Trebuchet MS"/>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5pPr>
            <a:lvl6pPr indent="-317500" lvl="5" marL="27432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6pPr>
            <a:lvl7pPr indent="-317500" lvl="6" marL="32004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7pPr>
            <a:lvl8pPr indent="-317500" lvl="7" marL="36576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8pPr>
            <a:lvl9pPr indent="-317500" lvl="8" marL="41148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9pPr>
          </a:lstStyle>
          <a:p/>
        </p:txBody>
      </p:sp>
      <p:sp>
        <p:nvSpPr>
          <p:cNvPr id="13" name="Google Shape;13;p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4" name="Google Shape;14;p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5" name="Google Shape;15;p1"/>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3600" u="none" cap="none" strike="noStrike">
                <a:solidFill>
                  <a:schemeClr val="lt1"/>
                </a:solidFill>
                <a:latin typeface="Trebuchet MS"/>
                <a:ea typeface="Trebuchet MS"/>
                <a:cs typeface="Trebuchet MS"/>
                <a:sym typeface="Trebuchet MS"/>
              </a:defRPr>
            </a:lvl1pPr>
            <a:lvl2pPr indent="0" lvl="1" marL="0" marR="0" rtl="0" algn="l">
              <a:spcBef>
                <a:spcPts val="0"/>
              </a:spcBef>
              <a:buNone/>
              <a:defRPr b="0" i="0" sz="3600" u="none" cap="none" strike="noStrike">
                <a:solidFill>
                  <a:schemeClr val="lt1"/>
                </a:solidFill>
                <a:latin typeface="Trebuchet MS"/>
                <a:ea typeface="Trebuchet MS"/>
                <a:cs typeface="Trebuchet MS"/>
                <a:sym typeface="Trebuchet MS"/>
              </a:defRPr>
            </a:lvl2pPr>
            <a:lvl3pPr indent="0" lvl="2" marL="0" marR="0" rtl="0" algn="l">
              <a:spcBef>
                <a:spcPts val="0"/>
              </a:spcBef>
              <a:buNone/>
              <a:defRPr b="0" i="0" sz="3600" u="none" cap="none" strike="noStrike">
                <a:solidFill>
                  <a:schemeClr val="lt1"/>
                </a:solidFill>
                <a:latin typeface="Trebuchet MS"/>
                <a:ea typeface="Trebuchet MS"/>
                <a:cs typeface="Trebuchet MS"/>
                <a:sym typeface="Trebuchet MS"/>
              </a:defRPr>
            </a:lvl3pPr>
            <a:lvl4pPr indent="0" lvl="3" marL="0" marR="0" rtl="0" algn="l">
              <a:spcBef>
                <a:spcPts val="0"/>
              </a:spcBef>
              <a:buNone/>
              <a:defRPr b="0" i="0" sz="3600" u="none" cap="none" strike="noStrike">
                <a:solidFill>
                  <a:schemeClr val="lt1"/>
                </a:solidFill>
                <a:latin typeface="Trebuchet MS"/>
                <a:ea typeface="Trebuchet MS"/>
                <a:cs typeface="Trebuchet MS"/>
                <a:sym typeface="Trebuchet MS"/>
              </a:defRPr>
            </a:lvl4pPr>
            <a:lvl5pPr indent="0" lvl="4" marL="0" marR="0" rtl="0" algn="l">
              <a:spcBef>
                <a:spcPts val="0"/>
              </a:spcBef>
              <a:buNone/>
              <a:defRPr b="0" i="0" sz="3600" u="none" cap="none" strike="noStrike">
                <a:solidFill>
                  <a:schemeClr val="lt1"/>
                </a:solidFill>
                <a:latin typeface="Trebuchet MS"/>
                <a:ea typeface="Trebuchet MS"/>
                <a:cs typeface="Trebuchet MS"/>
                <a:sym typeface="Trebuchet MS"/>
              </a:defRPr>
            </a:lvl5pPr>
            <a:lvl6pPr indent="0" lvl="5" marL="0" marR="0" rtl="0" algn="l">
              <a:spcBef>
                <a:spcPts val="0"/>
              </a:spcBef>
              <a:buNone/>
              <a:defRPr b="0" i="0" sz="3600" u="none" cap="none" strike="noStrike">
                <a:solidFill>
                  <a:schemeClr val="lt1"/>
                </a:solidFill>
                <a:latin typeface="Trebuchet MS"/>
                <a:ea typeface="Trebuchet MS"/>
                <a:cs typeface="Trebuchet MS"/>
                <a:sym typeface="Trebuchet MS"/>
              </a:defRPr>
            </a:lvl6pPr>
            <a:lvl7pPr indent="0" lvl="6" marL="0" marR="0" rtl="0" algn="l">
              <a:spcBef>
                <a:spcPts val="0"/>
              </a:spcBef>
              <a:buNone/>
              <a:defRPr b="0" i="0" sz="3600" u="none" cap="none" strike="noStrike">
                <a:solidFill>
                  <a:schemeClr val="lt1"/>
                </a:solidFill>
                <a:latin typeface="Trebuchet MS"/>
                <a:ea typeface="Trebuchet MS"/>
                <a:cs typeface="Trebuchet MS"/>
                <a:sym typeface="Trebuchet MS"/>
              </a:defRPr>
            </a:lvl7pPr>
            <a:lvl8pPr indent="0" lvl="7" marL="0" marR="0" rtl="0" algn="l">
              <a:spcBef>
                <a:spcPts val="0"/>
              </a:spcBef>
              <a:buNone/>
              <a:defRPr b="0" i="0" sz="3600" u="none" cap="none" strike="noStrike">
                <a:solidFill>
                  <a:schemeClr val="lt1"/>
                </a:solidFill>
                <a:latin typeface="Trebuchet MS"/>
                <a:ea typeface="Trebuchet MS"/>
                <a:cs typeface="Trebuchet MS"/>
                <a:sym typeface="Trebuchet MS"/>
              </a:defRPr>
            </a:lvl8pPr>
            <a:lvl9pPr indent="0" lvl="8" marL="0" marR="0" rtl="0" algn="l">
              <a:spcBef>
                <a:spcPts val="0"/>
              </a:spcBef>
              <a:buNone/>
              <a:defRPr b="0" i="0" sz="36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www.bbc.com/news/world-europe-17301646" TargetMode="External"/><Relationship Id="rId4" Type="http://schemas.openxmlformats.org/officeDocument/2006/relationships/hyperlink" Target="http://www.eubusiness.com/europe/germany" TargetMode="External"/><Relationship Id="rId5" Type="http://schemas.openxmlformats.org/officeDocument/2006/relationships/hyperlink" Target="http://www.nestle.com/aboutus" TargetMode="External"/><Relationship Id="rId6" Type="http://schemas.openxmlformats.org/officeDocument/2006/relationships/hyperlink" Target="http://www.nestle.de/" TargetMode="External"/><Relationship Id="rId7" Type="http://schemas.openxmlformats.org/officeDocument/2006/relationships/hyperlink" Target="http://www.dw.com/en/german-minimum-hourl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ctrTitle"/>
          </p:nvPr>
        </p:nvSpPr>
        <p:spPr>
          <a:xfrm>
            <a:off x="680322" y="2733709"/>
            <a:ext cx="8144134" cy="137307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Clr>
                <a:schemeClr val="lt1"/>
              </a:buClr>
              <a:buSzPts val="5400"/>
              <a:buFont typeface="Trebuchet MS"/>
              <a:buNone/>
            </a:pPr>
            <a:r>
              <a:rPr lang="en-US"/>
              <a:t>Germany Nestlé</a:t>
            </a:r>
            <a:endParaRPr/>
          </a:p>
        </p:txBody>
      </p:sp>
      <p:sp>
        <p:nvSpPr>
          <p:cNvPr id="207" name="Google Shape;207;p19"/>
          <p:cNvSpPr txBox="1"/>
          <p:nvPr>
            <p:ph idx="1" type="subTitle"/>
          </p:nvPr>
        </p:nvSpPr>
        <p:spPr>
          <a:xfrm>
            <a:off x="680322" y="4394039"/>
            <a:ext cx="8144134" cy="111768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chemeClr val="lt1"/>
              </a:buClr>
              <a:buSzPts val="2000"/>
              <a:buNone/>
            </a:pPr>
            <a:r>
              <a:rPr lang="en-US"/>
              <a:t>Austin Humphrey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History and Demographic Information</a:t>
            </a:r>
            <a:endParaRPr/>
          </a:p>
        </p:txBody>
      </p:sp>
      <p:sp>
        <p:nvSpPr>
          <p:cNvPr id="213" name="Google Shape;213;p20"/>
          <p:cNvSpPr txBox="1"/>
          <p:nvPr>
            <p:ph idx="1" type="body"/>
          </p:nvPr>
        </p:nvSpPr>
        <p:spPr>
          <a:xfrm>
            <a:off x="680321" y="2336872"/>
            <a:ext cx="9613861" cy="4021725"/>
          </a:xfrm>
          <a:prstGeom prst="rect">
            <a:avLst/>
          </a:prstGeom>
          <a:noFill/>
          <a:ln>
            <a:noFill/>
          </a:ln>
        </p:spPr>
        <p:txBody>
          <a:bodyPr anchorCtr="0" anchor="t" bIns="45700" lIns="91425" spcFirstLastPara="1" rIns="91425" wrap="square" tIns="45700">
            <a:normAutofit fontScale="92500" lnSpcReduction="10000"/>
          </a:bodyPr>
          <a:lstStyle/>
          <a:p>
            <a:pPr indent="-228631" lvl="0" marL="228600" rtl="0" algn="l">
              <a:lnSpc>
                <a:spcPct val="90000"/>
              </a:lnSpc>
              <a:spcBef>
                <a:spcPts val="0"/>
              </a:spcBef>
              <a:spcAft>
                <a:spcPts val="0"/>
              </a:spcAft>
              <a:buClr>
                <a:schemeClr val="lt1"/>
              </a:buClr>
              <a:buSzPct val="100000"/>
              <a:buChar char="•"/>
            </a:pPr>
            <a:r>
              <a:rPr b="1" lang="en-US" sz="1900"/>
              <a:t>Germany History:</a:t>
            </a:r>
            <a:endParaRPr/>
          </a:p>
          <a:p>
            <a:pPr indent="-228631" lvl="1" marL="685800" rtl="0" algn="l">
              <a:lnSpc>
                <a:spcPct val="90000"/>
              </a:lnSpc>
              <a:spcBef>
                <a:spcPts val="500"/>
              </a:spcBef>
              <a:spcAft>
                <a:spcPts val="0"/>
              </a:spcAft>
              <a:buClr>
                <a:schemeClr val="lt1"/>
              </a:buClr>
              <a:buSzPct val="100000"/>
              <a:buChar char="•"/>
            </a:pPr>
            <a:r>
              <a:rPr lang="en-US" sz="1900"/>
              <a:t>1871: Modern Germany takes shape, Otto von Bismarck finally achieves unification</a:t>
            </a:r>
            <a:endParaRPr/>
          </a:p>
          <a:p>
            <a:pPr indent="-228631" lvl="1" marL="685800" rtl="0" algn="l">
              <a:lnSpc>
                <a:spcPct val="90000"/>
              </a:lnSpc>
              <a:spcBef>
                <a:spcPts val="500"/>
              </a:spcBef>
              <a:spcAft>
                <a:spcPts val="0"/>
              </a:spcAft>
              <a:buClr>
                <a:schemeClr val="lt1"/>
              </a:buClr>
              <a:buSzPct val="100000"/>
              <a:buChar char="•"/>
            </a:pPr>
            <a:r>
              <a:rPr lang="en-US" sz="1900"/>
              <a:t>1914-1918: Part of Axis Power during WWI; defeat effectively ended </a:t>
            </a:r>
            <a:r>
              <a:rPr i="1" lang="en-US" sz="1900"/>
              <a:t>Kaiser Reich</a:t>
            </a:r>
            <a:endParaRPr/>
          </a:p>
          <a:p>
            <a:pPr indent="-228631" lvl="1" marL="685800" rtl="0" algn="l">
              <a:lnSpc>
                <a:spcPct val="90000"/>
              </a:lnSpc>
              <a:spcBef>
                <a:spcPts val="500"/>
              </a:spcBef>
              <a:spcAft>
                <a:spcPts val="0"/>
              </a:spcAft>
              <a:buClr>
                <a:schemeClr val="lt1"/>
              </a:buClr>
              <a:buSzPct val="100000"/>
              <a:buChar char="•"/>
            </a:pPr>
            <a:r>
              <a:rPr lang="en-US" sz="1900"/>
              <a:t>1933-1945: Hitler’s Nazi Party in power, collapsed after WWII</a:t>
            </a:r>
            <a:endParaRPr/>
          </a:p>
          <a:p>
            <a:pPr indent="-228631" lvl="1" marL="685800" rtl="0" algn="l">
              <a:lnSpc>
                <a:spcPct val="90000"/>
              </a:lnSpc>
              <a:spcBef>
                <a:spcPts val="500"/>
              </a:spcBef>
              <a:spcAft>
                <a:spcPts val="0"/>
              </a:spcAft>
              <a:buClr>
                <a:schemeClr val="lt1"/>
              </a:buClr>
              <a:buSzPct val="100000"/>
              <a:buChar char="•"/>
            </a:pPr>
            <a:r>
              <a:rPr lang="en-US" sz="1900"/>
              <a:t>1949: Divided into West and East Germany</a:t>
            </a:r>
            <a:endParaRPr/>
          </a:p>
          <a:p>
            <a:pPr indent="-228631" lvl="1" marL="685800" rtl="0" algn="l">
              <a:lnSpc>
                <a:spcPct val="90000"/>
              </a:lnSpc>
              <a:spcBef>
                <a:spcPts val="500"/>
              </a:spcBef>
              <a:spcAft>
                <a:spcPts val="0"/>
              </a:spcAft>
              <a:buClr>
                <a:schemeClr val="lt1"/>
              </a:buClr>
              <a:buSzPct val="100000"/>
              <a:buChar char="•"/>
            </a:pPr>
            <a:r>
              <a:rPr lang="en-US" sz="1900"/>
              <a:t>1989-1990: Berlin Wall torn down, East and West united into Federal Republic of Germany</a:t>
            </a:r>
            <a:endParaRPr/>
          </a:p>
          <a:p>
            <a:pPr indent="-228631" lvl="0" marL="228600" rtl="0" algn="l">
              <a:lnSpc>
                <a:spcPct val="90000"/>
              </a:lnSpc>
              <a:spcBef>
                <a:spcPts val="1000"/>
              </a:spcBef>
              <a:spcAft>
                <a:spcPts val="0"/>
              </a:spcAft>
              <a:buClr>
                <a:schemeClr val="lt1"/>
              </a:buClr>
              <a:buSzPct val="100000"/>
              <a:buChar char="•"/>
            </a:pPr>
            <a:r>
              <a:rPr b="1" lang="en-US" sz="1900"/>
              <a:t>Demographics:</a:t>
            </a:r>
            <a:endParaRPr/>
          </a:p>
          <a:p>
            <a:pPr indent="-228631" lvl="1" marL="685800" rtl="0" algn="l">
              <a:lnSpc>
                <a:spcPct val="90000"/>
              </a:lnSpc>
              <a:spcBef>
                <a:spcPts val="500"/>
              </a:spcBef>
              <a:spcAft>
                <a:spcPts val="0"/>
              </a:spcAft>
              <a:buClr>
                <a:schemeClr val="lt1"/>
              </a:buClr>
              <a:buSzPct val="100000"/>
              <a:buChar char="•"/>
            </a:pPr>
            <a:r>
              <a:rPr lang="en-US" sz="1900"/>
              <a:t>Population of 81.4 million (73,337.3 million native Germans)</a:t>
            </a:r>
            <a:endParaRPr/>
          </a:p>
          <a:p>
            <a:pPr indent="-228631" lvl="1" marL="685800" rtl="0" algn="l">
              <a:lnSpc>
                <a:spcPct val="90000"/>
              </a:lnSpc>
              <a:spcBef>
                <a:spcPts val="500"/>
              </a:spcBef>
              <a:spcAft>
                <a:spcPts val="0"/>
              </a:spcAft>
              <a:buClr>
                <a:schemeClr val="lt1"/>
              </a:buClr>
              <a:buSzPct val="100000"/>
              <a:buChar char="•"/>
            </a:pPr>
            <a:r>
              <a:rPr lang="en-US" sz="1900"/>
              <a:t>$48,989 GDP per capita (1.5% growth rate)</a:t>
            </a:r>
            <a:endParaRPr sz="1900"/>
          </a:p>
          <a:p>
            <a:pPr indent="-228631" lvl="0" marL="228600" rtl="0" algn="l">
              <a:lnSpc>
                <a:spcPct val="90000"/>
              </a:lnSpc>
              <a:spcBef>
                <a:spcPts val="1000"/>
              </a:spcBef>
              <a:spcAft>
                <a:spcPts val="0"/>
              </a:spcAft>
              <a:buClr>
                <a:schemeClr val="lt1"/>
              </a:buClr>
              <a:buSzPct val="100000"/>
              <a:buChar char="•"/>
            </a:pPr>
            <a:r>
              <a:rPr b="1" lang="en-US" sz="1900" u="sng"/>
              <a:t>The Bottom Line:</a:t>
            </a:r>
            <a:r>
              <a:rPr lang="en-US" sz="1900"/>
              <a:t> Much of German history consists of failed attempts at unification.  Despite this, the country has shown itself as a force to be reckoned because of its strong political and economic power. With the largest population and strongest economy in Europe, it is likely to remain a leader in regional decision-making.</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Political and Legal Environment</a:t>
            </a:r>
            <a:endParaRPr/>
          </a:p>
        </p:txBody>
      </p:sp>
      <p:sp>
        <p:nvSpPr>
          <p:cNvPr id="219" name="Google Shape;219;p21"/>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b="1" lang="en-US" sz="1800"/>
              <a:t>Political Environment:</a:t>
            </a:r>
            <a:endParaRPr/>
          </a:p>
          <a:p>
            <a:pPr indent="-228600" lvl="1" marL="685800" rtl="0" algn="l">
              <a:lnSpc>
                <a:spcPct val="90000"/>
              </a:lnSpc>
              <a:spcBef>
                <a:spcPts val="500"/>
              </a:spcBef>
              <a:spcAft>
                <a:spcPts val="0"/>
              </a:spcAft>
              <a:buClr>
                <a:schemeClr val="lt1"/>
              </a:buClr>
              <a:buSzPts val="1800"/>
              <a:buChar char="•"/>
            </a:pPr>
            <a:r>
              <a:rPr lang="en-US" sz="1800"/>
              <a:t>Federal parliamentary democracy</a:t>
            </a:r>
            <a:endParaRPr/>
          </a:p>
          <a:p>
            <a:pPr indent="-228600" lvl="1" marL="685800" rtl="0" algn="l">
              <a:lnSpc>
                <a:spcPct val="90000"/>
              </a:lnSpc>
              <a:spcBef>
                <a:spcPts val="500"/>
              </a:spcBef>
              <a:spcAft>
                <a:spcPts val="0"/>
              </a:spcAft>
              <a:buClr>
                <a:schemeClr val="lt1"/>
              </a:buClr>
              <a:buSzPts val="1800"/>
              <a:buChar char="•"/>
            </a:pPr>
            <a:r>
              <a:rPr lang="en-US" sz="1800"/>
              <a:t>Mixed-member proportional representation voting system - prevents single parties from having monopoly on power </a:t>
            </a:r>
            <a:endParaRPr/>
          </a:p>
          <a:p>
            <a:pPr indent="-228600" lvl="0" marL="228600" rtl="0" algn="l">
              <a:lnSpc>
                <a:spcPct val="90000"/>
              </a:lnSpc>
              <a:spcBef>
                <a:spcPts val="1000"/>
              </a:spcBef>
              <a:spcAft>
                <a:spcPts val="0"/>
              </a:spcAft>
              <a:buClr>
                <a:schemeClr val="lt1"/>
              </a:buClr>
              <a:buSzPts val="1800"/>
              <a:buChar char="•"/>
            </a:pPr>
            <a:r>
              <a:rPr b="1" lang="en-US" sz="1800"/>
              <a:t>Legal Environment:</a:t>
            </a:r>
            <a:endParaRPr/>
          </a:p>
          <a:p>
            <a:pPr indent="-228600" lvl="1" marL="685800" rtl="0" algn="l">
              <a:lnSpc>
                <a:spcPct val="90000"/>
              </a:lnSpc>
              <a:spcBef>
                <a:spcPts val="500"/>
              </a:spcBef>
              <a:spcAft>
                <a:spcPts val="0"/>
              </a:spcAft>
              <a:buClr>
                <a:schemeClr val="lt1"/>
              </a:buClr>
              <a:buSzPts val="1800"/>
              <a:buChar char="•"/>
            </a:pPr>
            <a:r>
              <a:rPr lang="en-US" sz="1800"/>
              <a:t>Basic Law of the Federal Republic of Germany (Constitution of Germany)</a:t>
            </a:r>
            <a:endParaRPr/>
          </a:p>
          <a:p>
            <a:pPr indent="-228600" lvl="1" marL="685800" rtl="0" algn="l">
              <a:lnSpc>
                <a:spcPct val="90000"/>
              </a:lnSpc>
              <a:spcBef>
                <a:spcPts val="500"/>
              </a:spcBef>
              <a:spcAft>
                <a:spcPts val="0"/>
              </a:spcAft>
              <a:buClr>
                <a:schemeClr val="lt1"/>
              </a:buClr>
              <a:buSzPts val="1800"/>
              <a:buChar char="•"/>
            </a:pPr>
            <a:r>
              <a:rPr lang="en-US" sz="1800"/>
              <a:t>Foreign nationals/investors receive equal treatment as citizens/businesses</a:t>
            </a:r>
            <a:endParaRPr/>
          </a:p>
          <a:p>
            <a:pPr indent="-228600" lvl="0" marL="228600" rtl="0" algn="l">
              <a:lnSpc>
                <a:spcPct val="90000"/>
              </a:lnSpc>
              <a:spcBef>
                <a:spcPts val="1000"/>
              </a:spcBef>
              <a:spcAft>
                <a:spcPts val="0"/>
              </a:spcAft>
              <a:buClr>
                <a:schemeClr val="lt1"/>
              </a:buClr>
              <a:buSzPts val="1800"/>
              <a:buChar char="•"/>
            </a:pPr>
            <a:r>
              <a:rPr b="1" lang="en-US" sz="1800" u="sng"/>
              <a:t>The Bottom Line:</a:t>
            </a:r>
            <a:r>
              <a:rPr lang="en-US" sz="1800"/>
              <a:t> Germany fosters environment of equality and fairness for all citizens.  Historically this hasn’t been true, but “Basic Law” system has helped make great strides.  This outlook applies foreign investors also, meaning businesses are granted equal legal rights in proceedings.  Consequentially, the friendly corporate environment encourages both FDI and foreign-controlled private ownership.</a:t>
            </a:r>
            <a:endParaRPr b="1" sz="1800" u="sng"/>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Cultural Environment</a:t>
            </a:r>
            <a:endParaRPr/>
          </a:p>
        </p:txBody>
      </p:sp>
      <p:sp>
        <p:nvSpPr>
          <p:cNvPr id="225" name="Google Shape;225;p22"/>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Very decentralized government with strong middle class</a:t>
            </a:r>
            <a:endParaRPr/>
          </a:p>
          <a:p>
            <a:pPr indent="-228600" lvl="0" marL="228600" rtl="0" algn="l">
              <a:lnSpc>
                <a:spcPct val="90000"/>
              </a:lnSpc>
              <a:spcBef>
                <a:spcPts val="1000"/>
              </a:spcBef>
              <a:spcAft>
                <a:spcPts val="0"/>
              </a:spcAft>
              <a:buClr>
                <a:schemeClr val="lt1"/>
              </a:buClr>
              <a:buSzPts val="1800"/>
              <a:buChar char="•"/>
            </a:pPr>
            <a:r>
              <a:rPr lang="en-US" sz="1800"/>
              <a:t>Highly pragmatic, great ability to adapt traditions to promote future conditions</a:t>
            </a:r>
            <a:endParaRPr/>
          </a:p>
          <a:p>
            <a:pPr indent="-228600" lvl="1" marL="228600" rtl="0" algn="l">
              <a:lnSpc>
                <a:spcPct val="90000"/>
              </a:lnSpc>
              <a:spcBef>
                <a:spcPts val="1000"/>
              </a:spcBef>
              <a:spcAft>
                <a:spcPts val="0"/>
              </a:spcAft>
              <a:buClr>
                <a:schemeClr val="lt1"/>
              </a:buClr>
              <a:buSzPts val="1900"/>
              <a:buChar char="•"/>
            </a:pPr>
            <a:r>
              <a:rPr lang="en-US" sz="1900"/>
              <a:t>Christians 68% of population, 30% identify as secular</a:t>
            </a:r>
            <a:endParaRPr sz="1900"/>
          </a:p>
          <a:p>
            <a:pPr indent="-228600" lvl="0" marL="228600" rtl="0" algn="l">
              <a:lnSpc>
                <a:spcPct val="90000"/>
              </a:lnSpc>
              <a:spcBef>
                <a:spcPts val="1000"/>
              </a:spcBef>
              <a:spcAft>
                <a:spcPts val="0"/>
              </a:spcAft>
              <a:buClr>
                <a:schemeClr val="lt1"/>
              </a:buClr>
              <a:buSzPts val="1800"/>
              <a:buChar char="•"/>
            </a:pPr>
            <a:r>
              <a:rPr lang="en-US" sz="1800"/>
              <a:t>Naturally restrained, put emphasis on work over leisure (very disciplined)</a:t>
            </a:r>
            <a:endParaRPr/>
          </a:p>
          <a:p>
            <a:pPr indent="-228600" lvl="0" marL="228600" rtl="0" algn="l">
              <a:lnSpc>
                <a:spcPct val="90000"/>
              </a:lnSpc>
              <a:spcBef>
                <a:spcPts val="1000"/>
              </a:spcBef>
              <a:spcAft>
                <a:spcPts val="0"/>
              </a:spcAft>
              <a:buClr>
                <a:schemeClr val="lt1"/>
              </a:buClr>
              <a:buSzPts val="1800"/>
              <a:buChar char="•"/>
            </a:pPr>
            <a:r>
              <a:rPr lang="en-US" sz="1800"/>
              <a:t>Per Hofstede: Comparable in power distance, individualism, masculinity, uncertainty avoidance, and long term orientation to Switzerland (but significantly less indulgent) </a:t>
            </a:r>
            <a:endParaRPr/>
          </a:p>
          <a:p>
            <a:pPr indent="-228600" lvl="0" marL="228600" rtl="0" algn="l">
              <a:lnSpc>
                <a:spcPct val="90000"/>
              </a:lnSpc>
              <a:spcBef>
                <a:spcPts val="1000"/>
              </a:spcBef>
              <a:spcAft>
                <a:spcPts val="0"/>
              </a:spcAft>
              <a:buClr>
                <a:schemeClr val="lt1"/>
              </a:buClr>
              <a:buSzPts val="1800"/>
              <a:buChar char="•"/>
            </a:pPr>
            <a:r>
              <a:rPr b="1" lang="en-US" sz="1800" u="sng"/>
              <a:t>The Bottom Line:</a:t>
            </a:r>
            <a:r>
              <a:rPr lang="en-US" sz="1800"/>
              <a:t> History of on-and-off again unification fostered a preference for decentralization.  Supplemented by a large, educated middle class, Germans challenge leadership.  Historically very religious, investment in science and education have evolved outlooks, creating a shift towards secularism.  Education and infrastructure investment exhibit stress placed on long-run opposed to short-sighted decision making.</a:t>
            </a:r>
            <a:endParaRPr b="1" sz="1800" u="sng"/>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Economic Overview</a:t>
            </a:r>
            <a:endParaRPr/>
          </a:p>
        </p:txBody>
      </p:sp>
      <p:sp>
        <p:nvSpPr>
          <p:cNvPr id="231" name="Google Shape;231;p23"/>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b="1" lang="en-US" sz="1800"/>
              <a:t>Economic Data:</a:t>
            </a:r>
            <a:endParaRPr/>
          </a:p>
          <a:p>
            <a:pPr indent="-228600" lvl="1" marL="685800" rtl="0" algn="l">
              <a:lnSpc>
                <a:spcPct val="90000"/>
              </a:lnSpc>
              <a:spcBef>
                <a:spcPts val="500"/>
              </a:spcBef>
              <a:spcAft>
                <a:spcPts val="0"/>
              </a:spcAft>
              <a:buClr>
                <a:schemeClr val="lt1"/>
              </a:buClr>
              <a:buSzPts val="1800"/>
              <a:buChar char="•"/>
            </a:pPr>
            <a:r>
              <a:rPr b="1" lang="en-US" sz="1800"/>
              <a:t>GDP (PPP): </a:t>
            </a:r>
            <a:r>
              <a:rPr lang="en-US" sz="1800"/>
              <a:t>3.467 trillion USD</a:t>
            </a:r>
            <a:endParaRPr/>
          </a:p>
          <a:p>
            <a:pPr indent="-228600" lvl="1" marL="685800" rtl="0" algn="l">
              <a:lnSpc>
                <a:spcPct val="90000"/>
              </a:lnSpc>
              <a:spcBef>
                <a:spcPts val="500"/>
              </a:spcBef>
              <a:spcAft>
                <a:spcPts val="0"/>
              </a:spcAft>
              <a:buClr>
                <a:schemeClr val="lt1"/>
              </a:buClr>
              <a:buSzPts val="1800"/>
              <a:buChar char="•"/>
            </a:pPr>
            <a:r>
              <a:rPr b="1" lang="en-US" sz="1800"/>
              <a:t>GDP Per Capita (PPP): </a:t>
            </a:r>
            <a:r>
              <a:rPr lang="en-US" sz="1800"/>
              <a:t>41,936.06 million USD</a:t>
            </a:r>
            <a:endParaRPr/>
          </a:p>
          <a:p>
            <a:pPr indent="-228600" lvl="1" marL="685800" rtl="0" algn="l">
              <a:lnSpc>
                <a:spcPct val="90000"/>
              </a:lnSpc>
              <a:spcBef>
                <a:spcPts val="500"/>
              </a:spcBef>
              <a:spcAft>
                <a:spcPts val="0"/>
              </a:spcAft>
              <a:buClr>
                <a:schemeClr val="lt1"/>
              </a:buClr>
              <a:buSzPts val="1800"/>
              <a:buChar char="•"/>
            </a:pPr>
            <a:r>
              <a:rPr b="1" lang="en-US" sz="1800"/>
              <a:t>Unemployment Rate: </a:t>
            </a:r>
            <a:r>
              <a:rPr lang="en-US" sz="1800"/>
              <a:t>3.9%</a:t>
            </a:r>
            <a:endParaRPr/>
          </a:p>
          <a:p>
            <a:pPr indent="-228600" lvl="1" marL="685800" rtl="0" algn="l">
              <a:lnSpc>
                <a:spcPct val="90000"/>
              </a:lnSpc>
              <a:spcBef>
                <a:spcPts val="500"/>
              </a:spcBef>
              <a:spcAft>
                <a:spcPts val="0"/>
              </a:spcAft>
              <a:buClr>
                <a:schemeClr val="lt1"/>
              </a:buClr>
              <a:buSzPts val="1800"/>
              <a:buChar char="•"/>
            </a:pPr>
            <a:r>
              <a:rPr b="1" lang="en-US" sz="1800"/>
              <a:t>FDI Inflow: </a:t>
            </a:r>
            <a:r>
              <a:rPr lang="en-US" sz="1800"/>
              <a:t>52,474,196,612 USD</a:t>
            </a:r>
            <a:endParaRPr/>
          </a:p>
          <a:p>
            <a:pPr indent="-228600" lvl="1" marL="685800" rtl="0" algn="l">
              <a:lnSpc>
                <a:spcPct val="90000"/>
              </a:lnSpc>
              <a:spcBef>
                <a:spcPts val="500"/>
              </a:spcBef>
              <a:spcAft>
                <a:spcPts val="0"/>
              </a:spcAft>
              <a:buClr>
                <a:schemeClr val="lt1"/>
              </a:buClr>
              <a:buSzPts val="1800"/>
              <a:buChar char="•"/>
            </a:pPr>
            <a:r>
              <a:rPr b="1" lang="en-US" sz="1800"/>
              <a:t>Public Debt: </a:t>
            </a:r>
            <a:r>
              <a:rPr lang="en-US" sz="1800"/>
              <a:t>68.1% of GDP</a:t>
            </a:r>
            <a:endParaRPr/>
          </a:p>
          <a:p>
            <a:pPr indent="-228600" lvl="0" marL="228600" rtl="0" algn="l">
              <a:lnSpc>
                <a:spcPct val="90000"/>
              </a:lnSpc>
              <a:spcBef>
                <a:spcPts val="1000"/>
              </a:spcBef>
              <a:spcAft>
                <a:spcPts val="0"/>
              </a:spcAft>
              <a:buClr>
                <a:schemeClr val="lt1"/>
              </a:buClr>
              <a:buSzPts val="1800"/>
              <a:buChar char="•"/>
            </a:pPr>
            <a:r>
              <a:rPr b="1" lang="en-US" sz="1800"/>
              <a:t>Heavyweight of the EU:</a:t>
            </a:r>
            <a:endParaRPr/>
          </a:p>
          <a:p>
            <a:pPr indent="-228600" lvl="1" marL="685800" rtl="0" algn="l">
              <a:lnSpc>
                <a:spcPct val="90000"/>
              </a:lnSpc>
              <a:spcBef>
                <a:spcPts val="500"/>
              </a:spcBef>
              <a:spcAft>
                <a:spcPts val="0"/>
              </a:spcAft>
              <a:buClr>
                <a:schemeClr val="lt1"/>
              </a:buClr>
              <a:buSzPts val="1800"/>
              <a:buChar char="•"/>
            </a:pPr>
            <a:r>
              <a:rPr lang="en-US" sz="1800"/>
              <a:t>5</a:t>
            </a:r>
            <a:r>
              <a:rPr baseline="30000" lang="en-US" sz="1800"/>
              <a:t>th</a:t>
            </a:r>
            <a:r>
              <a:rPr lang="en-US" sz="1800"/>
              <a:t> largest economy in world, largest in Europe (PPP)</a:t>
            </a:r>
            <a:endParaRPr/>
          </a:p>
          <a:p>
            <a:pPr indent="-228600" lvl="1" marL="685800" rtl="0" algn="l">
              <a:lnSpc>
                <a:spcPct val="90000"/>
              </a:lnSpc>
              <a:spcBef>
                <a:spcPts val="500"/>
              </a:spcBef>
              <a:spcAft>
                <a:spcPts val="0"/>
              </a:spcAft>
              <a:buClr>
                <a:schemeClr val="lt1"/>
              </a:buClr>
              <a:buSzPts val="1800"/>
              <a:buChar char="•"/>
            </a:pPr>
            <a:r>
              <a:rPr lang="en-US" sz="1800"/>
              <a:t>Leading exporter of machinery, vehicles, chemicals, household equipment</a:t>
            </a:r>
            <a:endParaRPr/>
          </a:p>
          <a:p>
            <a:pPr indent="-228600" lvl="1" marL="685800" rtl="0" algn="l">
              <a:lnSpc>
                <a:spcPct val="90000"/>
              </a:lnSpc>
              <a:spcBef>
                <a:spcPts val="500"/>
              </a:spcBef>
              <a:spcAft>
                <a:spcPts val="0"/>
              </a:spcAft>
              <a:buClr>
                <a:schemeClr val="lt1"/>
              </a:buClr>
              <a:buSzPts val="1800"/>
              <a:buChar char="•"/>
            </a:pPr>
            <a:r>
              <a:rPr lang="en-US" sz="1800"/>
              <a:t>Extremely skilled labor force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4"/>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Economic Overview (cont.)</a:t>
            </a:r>
            <a:endParaRPr/>
          </a:p>
        </p:txBody>
      </p:sp>
      <p:sp>
        <p:nvSpPr>
          <p:cNvPr id="237" name="Google Shape;237;p24"/>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b="1" lang="en-US" sz="2000"/>
              <a:t>Economy Overview:</a:t>
            </a:r>
            <a:endParaRPr/>
          </a:p>
          <a:p>
            <a:pPr indent="-228600" lvl="1" marL="685800" rtl="0" algn="l">
              <a:lnSpc>
                <a:spcPct val="90000"/>
              </a:lnSpc>
              <a:spcBef>
                <a:spcPts val="500"/>
              </a:spcBef>
              <a:spcAft>
                <a:spcPts val="0"/>
              </a:spcAft>
              <a:buClr>
                <a:schemeClr val="lt1"/>
              </a:buClr>
              <a:buSzPts val="1800"/>
              <a:buChar char="•"/>
            </a:pPr>
            <a:r>
              <a:rPr lang="en-US" sz="1800"/>
              <a:t>Following 2008-09 crisis, recovered back to a sizeable surplus by 2015</a:t>
            </a:r>
            <a:endParaRPr/>
          </a:p>
          <a:p>
            <a:pPr indent="-228600" lvl="1" marL="685800" rtl="0" algn="l">
              <a:lnSpc>
                <a:spcPct val="90000"/>
              </a:lnSpc>
              <a:spcBef>
                <a:spcPts val="500"/>
              </a:spcBef>
              <a:spcAft>
                <a:spcPts val="0"/>
              </a:spcAft>
              <a:buClr>
                <a:schemeClr val="lt1"/>
              </a:buClr>
              <a:buSzPts val="1800"/>
              <a:buChar char="•"/>
            </a:pPr>
            <a:r>
              <a:rPr lang="en-US" sz="1800"/>
              <a:t>Low fertility rates and high net immigration leading to social welfare pressures</a:t>
            </a:r>
            <a:endParaRPr/>
          </a:p>
          <a:p>
            <a:pPr indent="-228600" lvl="1" marL="685800" rtl="0" algn="l">
              <a:lnSpc>
                <a:spcPct val="90000"/>
              </a:lnSpc>
              <a:spcBef>
                <a:spcPts val="500"/>
              </a:spcBef>
              <a:spcAft>
                <a:spcPts val="0"/>
              </a:spcAft>
              <a:buClr>
                <a:schemeClr val="lt1"/>
              </a:buClr>
              <a:buSzPts val="1800"/>
              <a:buChar char="•"/>
            </a:pPr>
            <a:r>
              <a:rPr lang="en-US" sz="1800"/>
              <a:t>Low level of investments (2016-2018 infrastructure investment)</a:t>
            </a:r>
            <a:endParaRPr/>
          </a:p>
          <a:p>
            <a:pPr indent="-228600" lvl="1" marL="685800" rtl="0" algn="l">
              <a:lnSpc>
                <a:spcPct val="90000"/>
              </a:lnSpc>
              <a:spcBef>
                <a:spcPts val="500"/>
              </a:spcBef>
              <a:spcAft>
                <a:spcPts val="0"/>
              </a:spcAft>
              <a:buClr>
                <a:schemeClr val="lt1"/>
              </a:buClr>
              <a:buSzPts val="1800"/>
              <a:buChar char="•"/>
            </a:pPr>
            <a:r>
              <a:rPr lang="en-US" sz="1800"/>
              <a:t>Increased domestic consumption due to low energy prices and weak euro</a:t>
            </a:r>
            <a:endParaRPr/>
          </a:p>
          <a:p>
            <a:pPr indent="-228600" lvl="0" marL="228600" rtl="0" algn="l">
              <a:lnSpc>
                <a:spcPct val="90000"/>
              </a:lnSpc>
              <a:spcBef>
                <a:spcPts val="1000"/>
              </a:spcBef>
              <a:spcAft>
                <a:spcPts val="0"/>
              </a:spcAft>
              <a:buClr>
                <a:schemeClr val="lt1"/>
              </a:buClr>
              <a:buSzPts val="2000"/>
              <a:buChar char="•"/>
            </a:pPr>
            <a:r>
              <a:rPr b="1" lang="en-US" sz="2000" u="sng"/>
              <a:t>The Bottom Line:</a:t>
            </a:r>
            <a:r>
              <a:rPr lang="en-US" sz="2000"/>
              <a:t> Germany boasts the best economy in Europe, further boosted as a result of the devalued euro contributed to EU crisis countries like Greece.  An upward tick in domestic demand bodes well for businesses within German borders, making foreign investment favorable.  Therefore, if the euro’s price continues to be driven down, the country’s economy will continue thrive.</a:t>
            </a:r>
            <a:endParaRPr b="1" sz="2000" u="sng"/>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Economic Analysis: Trade and Trade Relationships</a:t>
            </a:r>
            <a:endParaRPr/>
          </a:p>
        </p:txBody>
      </p:sp>
      <p:sp>
        <p:nvSpPr>
          <p:cNvPr id="243" name="Google Shape;243;p25"/>
          <p:cNvSpPr txBox="1"/>
          <p:nvPr>
            <p:ph idx="1" type="body"/>
          </p:nvPr>
        </p:nvSpPr>
        <p:spPr>
          <a:xfrm>
            <a:off x="680321" y="2336872"/>
            <a:ext cx="9613861" cy="413426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b="1" lang="en-US" sz="1800"/>
              <a:t>Trade Overview:</a:t>
            </a:r>
            <a:endParaRPr/>
          </a:p>
          <a:p>
            <a:pPr indent="-228600" lvl="1" marL="685800" rtl="0" algn="l">
              <a:lnSpc>
                <a:spcPct val="90000"/>
              </a:lnSpc>
              <a:spcBef>
                <a:spcPts val="500"/>
              </a:spcBef>
              <a:spcAft>
                <a:spcPts val="0"/>
              </a:spcAft>
              <a:buClr>
                <a:schemeClr val="lt1"/>
              </a:buClr>
              <a:buSzPts val="1800"/>
              <a:buChar char="•"/>
            </a:pPr>
            <a:r>
              <a:rPr lang="en-US" sz="1800"/>
              <a:t>3</a:t>
            </a:r>
            <a:r>
              <a:rPr baseline="30000" lang="en-US" sz="1800"/>
              <a:t>rd</a:t>
            </a:r>
            <a:r>
              <a:rPr lang="en-US" sz="1800"/>
              <a:t> largest exporter in world (45.99% of GDP)</a:t>
            </a:r>
            <a:endParaRPr/>
          </a:p>
          <a:p>
            <a:pPr indent="-228600" lvl="1" marL="685800" rtl="0" algn="l">
              <a:lnSpc>
                <a:spcPct val="90000"/>
              </a:lnSpc>
              <a:spcBef>
                <a:spcPts val="500"/>
              </a:spcBef>
              <a:spcAft>
                <a:spcPts val="0"/>
              </a:spcAft>
              <a:buClr>
                <a:schemeClr val="lt1"/>
              </a:buClr>
              <a:buSzPts val="1800"/>
              <a:buChar char="•"/>
            </a:pPr>
            <a:r>
              <a:rPr lang="en-US" sz="1800"/>
              <a:t>Largest exports: vehicles other than railway/tramway, machinery/nuclear reactors/boilers, electronics, pharmaceuticals, and optical/photo/technical, medical apparatus (in order)</a:t>
            </a:r>
            <a:endParaRPr/>
          </a:p>
          <a:p>
            <a:pPr indent="-228600" lvl="1" marL="685800" rtl="0" algn="l">
              <a:lnSpc>
                <a:spcPct val="90000"/>
              </a:lnSpc>
              <a:spcBef>
                <a:spcPts val="500"/>
              </a:spcBef>
              <a:spcAft>
                <a:spcPts val="0"/>
              </a:spcAft>
              <a:buClr>
                <a:schemeClr val="lt1"/>
              </a:buClr>
              <a:buSzPts val="1800"/>
              <a:buChar char="•"/>
            </a:pPr>
            <a:r>
              <a:rPr lang="en-US" sz="1800"/>
              <a:t>Top imports: same list as above with addition of mineral fuels, oils, distillation products (machinery and electronics hold the top spots)</a:t>
            </a:r>
            <a:endParaRPr/>
          </a:p>
          <a:p>
            <a:pPr indent="-228600" lvl="0" marL="228600" rtl="0" algn="l">
              <a:lnSpc>
                <a:spcPct val="90000"/>
              </a:lnSpc>
              <a:spcBef>
                <a:spcPts val="1000"/>
              </a:spcBef>
              <a:spcAft>
                <a:spcPts val="0"/>
              </a:spcAft>
              <a:buClr>
                <a:schemeClr val="lt1"/>
              </a:buClr>
              <a:buSzPts val="1800"/>
              <a:buChar char="•"/>
            </a:pPr>
            <a:r>
              <a:rPr b="1" lang="en-US" sz="1800"/>
              <a:t>Trade Relationships:</a:t>
            </a:r>
            <a:endParaRPr/>
          </a:p>
          <a:p>
            <a:pPr indent="-228600" lvl="1" marL="685800" rtl="0" algn="l">
              <a:lnSpc>
                <a:spcPct val="90000"/>
              </a:lnSpc>
              <a:spcBef>
                <a:spcPts val="500"/>
              </a:spcBef>
              <a:spcAft>
                <a:spcPts val="0"/>
              </a:spcAft>
              <a:buClr>
                <a:schemeClr val="lt1"/>
              </a:buClr>
              <a:buSzPts val="1800"/>
              <a:buChar char="•"/>
            </a:pPr>
            <a:r>
              <a:rPr lang="en-US" sz="1800"/>
              <a:t>U.S. ranks as most important export market ($118.60B), France is 2</a:t>
            </a:r>
            <a:r>
              <a:rPr baseline="30000" lang="en-US" sz="1800"/>
              <a:t>nd</a:t>
            </a:r>
            <a:r>
              <a:rPr lang="en-US" sz="1800"/>
              <a:t> ($110.67B)</a:t>
            </a:r>
            <a:endParaRPr/>
          </a:p>
          <a:p>
            <a:pPr indent="-228600" lvl="1" marL="685800" rtl="0" algn="l">
              <a:lnSpc>
                <a:spcPct val="90000"/>
              </a:lnSpc>
              <a:spcBef>
                <a:spcPts val="500"/>
              </a:spcBef>
              <a:spcAft>
                <a:spcPts val="0"/>
              </a:spcAft>
              <a:buClr>
                <a:schemeClr val="lt1"/>
              </a:buClr>
              <a:buSzPts val="1800"/>
              <a:buChar char="•"/>
            </a:pPr>
            <a:r>
              <a:rPr lang="en-US" sz="1800"/>
              <a:t>China ($105.29B), Netherlands ($92.49B) constitute biggest import partners</a:t>
            </a:r>
            <a:endParaRPr/>
          </a:p>
          <a:p>
            <a:pPr indent="-228600" lvl="0" marL="228600" rtl="0" algn="l">
              <a:lnSpc>
                <a:spcPct val="90000"/>
              </a:lnSpc>
              <a:spcBef>
                <a:spcPts val="1000"/>
              </a:spcBef>
              <a:spcAft>
                <a:spcPts val="0"/>
              </a:spcAft>
              <a:buClr>
                <a:schemeClr val="lt1"/>
              </a:buClr>
              <a:buSzPts val="1800"/>
              <a:buChar char="•"/>
            </a:pPr>
            <a:r>
              <a:rPr b="1" lang="en-US" sz="1800" u="sng"/>
              <a:t>The Bottom Line:</a:t>
            </a:r>
            <a:r>
              <a:rPr lang="en-US" sz="1800"/>
              <a:t> Germany is an export-driven country due to the devalued euro and their educated, skilled labor force.  U.S. consumption, unsurprisingly, is pivotal in fueling  this upward tick in exports.  Inversely, increasing domestic consumption resulting from low energy prices and weak euro continues characterizing German trade.</a:t>
            </a:r>
            <a:endParaRPr/>
          </a:p>
          <a:p>
            <a:pPr indent="-76200" lvl="0" marL="228600" rtl="0" algn="l">
              <a:lnSpc>
                <a:spcPct val="90000"/>
              </a:lnSpc>
              <a:spcBef>
                <a:spcPts val="1000"/>
              </a:spcBef>
              <a:spcAft>
                <a:spcPts val="0"/>
              </a:spcAft>
              <a:buClr>
                <a:schemeClr val="lt1"/>
              </a:buClr>
              <a:buSzPts val="2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Economic Analysis: FDI</a:t>
            </a:r>
            <a:endParaRPr/>
          </a:p>
        </p:txBody>
      </p:sp>
      <p:sp>
        <p:nvSpPr>
          <p:cNvPr id="249" name="Google Shape;249;p26"/>
          <p:cNvSpPr txBox="1"/>
          <p:nvPr>
            <p:ph idx="1" type="body"/>
          </p:nvPr>
        </p:nvSpPr>
        <p:spPr>
          <a:xfrm>
            <a:off x="680321" y="2336872"/>
            <a:ext cx="9613861" cy="424680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lt1"/>
              </a:buClr>
              <a:buSzPts val="1800"/>
              <a:buChar char="•"/>
            </a:pPr>
            <a:r>
              <a:rPr lang="en-US" sz="1800"/>
              <a:t>Level of FDI: 6195.14 EUR Million as of March 2016</a:t>
            </a:r>
            <a:endParaRPr/>
          </a:p>
          <a:p>
            <a:pPr indent="-228600" lvl="0" marL="228600" rtl="0" algn="l">
              <a:lnSpc>
                <a:spcPct val="90000"/>
              </a:lnSpc>
              <a:spcBef>
                <a:spcPts val="1000"/>
              </a:spcBef>
              <a:spcAft>
                <a:spcPts val="0"/>
              </a:spcAft>
              <a:buClr>
                <a:schemeClr val="lt1"/>
              </a:buClr>
              <a:buSzPts val="1800"/>
              <a:buChar char="•"/>
            </a:pPr>
            <a:r>
              <a:rPr lang="en-US" sz="1800"/>
              <a:t>U.S. is biggest source of both FDI inflows and outflows (U.S.-FRG Treaty of Friendship, Commerce and Navigation)</a:t>
            </a:r>
            <a:endParaRPr/>
          </a:p>
          <a:p>
            <a:pPr indent="-228600" lvl="0" marL="228600" rtl="0" algn="l">
              <a:lnSpc>
                <a:spcPct val="90000"/>
              </a:lnSpc>
              <a:spcBef>
                <a:spcPts val="1000"/>
              </a:spcBef>
              <a:spcAft>
                <a:spcPts val="0"/>
              </a:spcAft>
              <a:buClr>
                <a:schemeClr val="lt1"/>
              </a:buClr>
              <a:buSzPts val="1800"/>
              <a:buChar char="•"/>
            </a:pPr>
            <a:r>
              <a:rPr lang="en-US" sz="1800"/>
              <a:t>Suffered recently from lack of FDI inflows</a:t>
            </a:r>
            <a:endParaRPr/>
          </a:p>
          <a:p>
            <a:pPr indent="-228600" lvl="1" marL="685800" rtl="0" algn="l">
              <a:lnSpc>
                <a:spcPct val="90000"/>
              </a:lnSpc>
              <a:spcBef>
                <a:spcPts val="500"/>
              </a:spcBef>
              <a:spcAft>
                <a:spcPts val="0"/>
              </a:spcAft>
              <a:buClr>
                <a:schemeClr val="lt1"/>
              </a:buClr>
              <a:buSzPts val="1800"/>
              <a:buChar char="•"/>
            </a:pPr>
            <a:r>
              <a:rPr lang="en-US" sz="1800"/>
              <a:t>2016-18 infrastructure investment looks to reverse trend</a:t>
            </a:r>
            <a:endParaRPr/>
          </a:p>
          <a:p>
            <a:pPr indent="-228600" lvl="0" marL="228600" rtl="0" algn="l">
              <a:lnSpc>
                <a:spcPct val="90000"/>
              </a:lnSpc>
              <a:spcBef>
                <a:spcPts val="1000"/>
              </a:spcBef>
              <a:spcAft>
                <a:spcPts val="0"/>
              </a:spcAft>
              <a:buClr>
                <a:schemeClr val="lt1"/>
              </a:buClr>
              <a:buSzPts val="1800"/>
              <a:buChar char="•"/>
            </a:pPr>
            <a:r>
              <a:rPr lang="en-US" sz="1800"/>
              <a:t>Inflows due to capital formation are 19.1%, 1.5% portfolio investments, and rest is due to mergers and acquisitions (up 38%)</a:t>
            </a:r>
            <a:endParaRPr/>
          </a:p>
          <a:p>
            <a:pPr indent="-228600" lvl="0" marL="228600" rtl="0" algn="l">
              <a:lnSpc>
                <a:spcPct val="90000"/>
              </a:lnSpc>
              <a:spcBef>
                <a:spcPts val="1000"/>
              </a:spcBef>
              <a:spcAft>
                <a:spcPts val="0"/>
              </a:spcAft>
              <a:buClr>
                <a:schemeClr val="lt1"/>
              </a:buClr>
              <a:buSzPts val="1800"/>
              <a:buChar char="•"/>
            </a:pPr>
            <a:r>
              <a:rPr lang="en-US" sz="1800"/>
              <a:t>Recent increase in outflows to China in past 10 years</a:t>
            </a:r>
            <a:endParaRPr/>
          </a:p>
          <a:p>
            <a:pPr indent="-228600" lvl="0" marL="228600" rtl="0" algn="l">
              <a:lnSpc>
                <a:spcPct val="90000"/>
              </a:lnSpc>
              <a:spcBef>
                <a:spcPts val="1000"/>
              </a:spcBef>
              <a:spcAft>
                <a:spcPts val="0"/>
              </a:spcAft>
              <a:buClr>
                <a:schemeClr val="lt1"/>
              </a:buClr>
              <a:buSzPts val="1800"/>
              <a:buChar char="•"/>
            </a:pPr>
            <a:r>
              <a:rPr lang="en-US" sz="1800"/>
              <a:t>Policy of national treatment extended towards foreign businesses, investors</a:t>
            </a:r>
            <a:endParaRPr/>
          </a:p>
          <a:p>
            <a:pPr indent="-228600" lvl="0" marL="228600" rtl="0" algn="l">
              <a:lnSpc>
                <a:spcPct val="90000"/>
              </a:lnSpc>
              <a:spcBef>
                <a:spcPts val="1000"/>
              </a:spcBef>
              <a:spcAft>
                <a:spcPts val="0"/>
              </a:spcAft>
              <a:buClr>
                <a:schemeClr val="lt1"/>
              </a:buClr>
              <a:buSzPts val="1800"/>
              <a:buChar char="•"/>
            </a:pPr>
            <a:r>
              <a:rPr b="1" lang="en-US" sz="1800" u="sng"/>
              <a:t>The Bottom Line:</a:t>
            </a:r>
            <a:r>
              <a:rPr lang="en-US" sz="1800"/>
              <a:t> Openness towards FDI defines the German sentiment, as equality in proceedings attracts foreign investment.  Considering the latter, a stable economy, and increasing domestic consumption, FDI inflows have been disappointing.  Attempting to spur outside investment, much needed investment in infrastructure have been made.  Despite this, if all goes as plan, German FDI inflows should see better days in years to come.</a:t>
            </a:r>
            <a:endParaRPr b="1" sz="1800" u="sng"/>
          </a:p>
          <a:p>
            <a:pPr indent="-114300" lvl="0" marL="228600" rtl="0" algn="l">
              <a:lnSpc>
                <a:spcPct val="90000"/>
              </a:lnSpc>
              <a:spcBef>
                <a:spcPts val="1000"/>
              </a:spcBef>
              <a:spcAft>
                <a:spcPts val="0"/>
              </a:spcAft>
              <a:buClr>
                <a:schemeClr val="lt1"/>
              </a:buClr>
              <a:buSzPts val="1800"/>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Economic Analysis: Currency and Monetary System</a:t>
            </a:r>
            <a:endParaRPr/>
          </a:p>
        </p:txBody>
      </p:sp>
      <p:sp>
        <p:nvSpPr>
          <p:cNvPr id="255" name="Google Shape;255;p27"/>
          <p:cNvSpPr txBox="1"/>
          <p:nvPr>
            <p:ph idx="1" type="body"/>
          </p:nvPr>
        </p:nvSpPr>
        <p:spPr>
          <a:xfrm>
            <a:off x="680321" y="2336872"/>
            <a:ext cx="9613861" cy="452112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1800"/>
              <a:buChar char="•"/>
            </a:pPr>
            <a:r>
              <a:rPr b="1" lang="en-US" sz="1800"/>
              <a:t>The Euro:</a:t>
            </a:r>
            <a:endParaRPr/>
          </a:p>
          <a:p>
            <a:pPr indent="-228600" lvl="1" marL="685800" rtl="0" algn="l">
              <a:lnSpc>
                <a:spcPct val="90000"/>
              </a:lnSpc>
              <a:spcBef>
                <a:spcPts val="500"/>
              </a:spcBef>
              <a:spcAft>
                <a:spcPts val="0"/>
              </a:spcAft>
              <a:buClr>
                <a:schemeClr val="lt1"/>
              </a:buClr>
              <a:buSzPts val="1800"/>
              <a:buChar char="•"/>
            </a:pPr>
            <a:r>
              <a:rPr lang="en-US" sz="1800"/>
              <a:t>2</a:t>
            </a:r>
            <a:r>
              <a:rPr baseline="30000" lang="en-US" sz="1800"/>
              <a:t>nd</a:t>
            </a:r>
            <a:r>
              <a:rPr lang="en-US" sz="1800"/>
              <a:t> most traded currency worldwide</a:t>
            </a:r>
            <a:endParaRPr/>
          </a:p>
          <a:p>
            <a:pPr indent="-228600" lvl="1" marL="685800" rtl="0" algn="l">
              <a:lnSpc>
                <a:spcPct val="90000"/>
              </a:lnSpc>
              <a:spcBef>
                <a:spcPts val="500"/>
              </a:spcBef>
              <a:spcAft>
                <a:spcPts val="0"/>
              </a:spcAft>
              <a:buClr>
                <a:schemeClr val="lt1"/>
              </a:buClr>
              <a:buSzPts val="1800"/>
              <a:buChar char="•"/>
            </a:pPr>
            <a:r>
              <a:rPr lang="en-US" sz="1800"/>
              <a:t>Total average number of daily forex is 1,591</a:t>
            </a:r>
            <a:endParaRPr/>
          </a:p>
          <a:p>
            <a:pPr indent="-228600" lvl="1" marL="685800" rtl="0" algn="l">
              <a:lnSpc>
                <a:spcPct val="90000"/>
              </a:lnSpc>
              <a:spcBef>
                <a:spcPts val="500"/>
              </a:spcBef>
              <a:spcAft>
                <a:spcPts val="0"/>
              </a:spcAft>
              <a:buClr>
                <a:schemeClr val="lt1"/>
              </a:buClr>
              <a:buSzPts val="1800"/>
              <a:buChar char="•"/>
            </a:pPr>
            <a:r>
              <a:rPr lang="en-US" sz="1800"/>
              <a:t>Approximate percentage of total global daily forex transactions is 31.3%</a:t>
            </a:r>
            <a:endParaRPr/>
          </a:p>
          <a:p>
            <a:pPr indent="-228600" lvl="1" marL="685800" rtl="0" algn="l">
              <a:lnSpc>
                <a:spcPct val="90000"/>
              </a:lnSpc>
              <a:spcBef>
                <a:spcPts val="500"/>
              </a:spcBef>
              <a:spcAft>
                <a:spcPts val="0"/>
              </a:spcAft>
              <a:buClr>
                <a:schemeClr val="lt1"/>
              </a:buClr>
              <a:buSzPts val="1800"/>
              <a:buChar char="•"/>
            </a:pPr>
            <a:r>
              <a:rPr lang="en-US" sz="1800"/>
              <a:t>As of November 15</a:t>
            </a:r>
            <a:r>
              <a:rPr baseline="30000" lang="en-US" sz="1800"/>
              <a:t>th</a:t>
            </a:r>
            <a:r>
              <a:rPr lang="en-US" sz="1800"/>
              <a:t>, 2017, 1 euro = 1.184 USD</a:t>
            </a:r>
            <a:endParaRPr/>
          </a:p>
          <a:p>
            <a:pPr indent="-228600" lvl="1" marL="685800" rtl="0" algn="l">
              <a:lnSpc>
                <a:spcPct val="90000"/>
              </a:lnSpc>
              <a:spcBef>
                <a:spcPts val="500"/>
              </a:spcBef>
              <a:spcAft>
                <a:spcPts val="0"/>
              </a:spcAft>
              <a:buClr>
                <a:schemeClr val="lt1"/>
              </a:buClr>
              <a:buSzPts val="1800"/>
              <a:buChar char="•"/>
            </a:pPr>
            <a:r>
              <a:rPr lang="en-US" sz="1800"/>
              <a:t>Eurozone debt crisis has led to diminishing value recently</a:t>
            </a:r>
            <a:endParaRPr/>
          </a:p>
          <a:p>
            <a:pPr indent="-228600" lvl="0" marL="228600" rtl="0" algn="l">
              <a:lnSpc>
                <a:spcPct val="90000"/>
              </a:lnSpc>
              <a:spcBef>
                <a:spcPts val="1000"/>
              </a:spcBef>
              <a:spcAft>
                <a:spcPts val="0"/>
              </a:spcAft>
              <a:buClr>
                <a:schemeClr val="lt1"/>
              </a:buClr>
              <a:buSzPts val="1800"/>
              <a:buChar char="•"/>
            </a:pPr>
            <a:r>
              <a:rPr b="1" lang="en-US" sz="1800"/>
              <a:t>Monetary System:</a:t>
            </a:r>
            <a:endParaRPr/>
          </a:p>
          <a:p>
            <a:pPr indent="-228600" lvl="1" marL="685800" rtl="0" algn="l">
              <a:lnSpc>
                <a:spcPct val="90000"/>
              </a:lnSpc>
              <a:spcBef>
                <a:spcPts val="500"/>
              </a:spcBef>
              <a:spcAft>
                <a:spcPts val="0"/>
              </a:spcAft>
              <a:buClr>
                <a:schemeClr val="lt1"/>
              </a:buClr>
              <a:buSzPts val="1800"/>
              <a:buChar char="•"/>
            </a:pPr>
            <a:r>
              <a:rPr lang="en-US" sz="1800"/>
              <a:t>“Dirty” float system used when dealing outside Eurozone</a:t>
            </a:r>
            <a:endParaRPr/>
          </a:p>
          <a:p>
            <a:pPr indent="-228600" lvl="1" marL="685800" rtl="0" algn="l">
              <a:lnSpc>
                <a:spcPct val="90000"/>
              </a:lnSpc>
              <a:spcBef>
                <a:spcPts val="500"/>
              </a:spcBef>
              <a:spcAft>
                <a:spcPts val="0"/>
              </a:spcAft>
              <a:buClr>
                <a:schemeClr val="lt1"/>
              </a:buClr>
              <a:buSzPts val="1800"/>
              <a:buChar char="•"/>
            </a:pPr>
            <a:r>
              <a:rPr lang="en-US" sz="1800"/>
              <a:t>Fixed exchange rate in proceedings involving Eurozone members not using euro</a:t>
            </a:r>
            <a:endParaRPr/>
          </a:p>
          <a:p>
            <a:pPr indent="-228600" lvl="1" marL="685800" rtl="0" algn="l">
              <a:lnSpc>
                <a:spcPct val="90000"/>
              </a:lnSpc>
              <a:spcBef>
                <a:spcPts val="500"/>
              </a:spcBef>
              <a:spcAft>
                <a:spcPts val="0"/>
              </a:spcAft>
              <a:buClr>
                <a:schemeClr val="lt1"/>
              </a:buClr>
              <a:buSzPts val="1800"/>
              <a:buChar char="•"/>
            </a:pPr>
            <a:r>
              <a:rPr lang="en-US" sz="1800"/>
              <a:t>EU hit hard by 2008 financial crisis, Germany adopts policy of austerity, structural reforms, and price stability in order to combat</a:t>
            </a:r>
            <a:endParaRPr/>
          </a:p>
          <a:p>
            <a:pPr indent="-228600" lvl="0" marL="228600" rtl="0" algn="l">
              <a:lnSpc>
                <a:spcPct val="90000"/>
              </a:lnSpc>
              <a:spcBef>
                <a:spcPts val="1000"/>
              </a:spcBef>
              <a:spcAft>
                <a:spcPts val="0"/>
              </a:spcAft>
              <a:buClr>
                <a:schemeClr val="lt1"/>
              </a:buClr>
              <a:buSzPts val="1800"/>
              <a:buChar char="•"/>
            </a:pPr>
            <a:r>
              <a:rPr b="1" lang="en-US" sz="1800" u="sng"/>
              <a:t>The Bottom Line:</a:t>
            </a:r>
            <a:r>
              <a:rPr lang="en-US" sz="1800"/>
              <a:t> Despite volatility, the euro remains strong, further hindering crisis nations.  Hoping to drive down the euro’s value, large sums of money have been lent out by Germany.  As Greece suffers, Germany has thrived, taking advantage of low borrowing costs and skilled immigrants to further increase exports and balance their budget.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Economic Analysis: Other Topics and Balance of Payments</a:t>
            </a:r>
            <a:endParaRPr/>
          </a:p>
        </p:txBody>
      </p:sp>
      <p:sp>
        <p:nvSpPr>
          <p:cNvPr id="261" name="Google Shape;261;p28"/>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lt1"/>
              </a:buClr>
              <a:buSzPct val="100000"/>
              <a:buChar char="•"/>
            </a:pPr>
            <a:r>
              <a:rPr b="1" lang="en-US" sz="2200"/>
              <a:t>Balance of Payments (BOP):</a:t>
            </a:r>
            <a:endParaRPr/>
          </a:p>
          <a:p>
            <a:pPr indent="-228631" lvl="1" marL="685800" rtl="0" algn="l">
              <a:lnSpc>
                <a:spcPct val="90000"/>
              </a:lnSpc>
              <a:spcBef>
                <a:spcPts val="500"/>
              </a:spcBef>
              <a:spcAft>
                <a:spcPts val="0"/>
              </a:spcAft>
              <a:buClr>
                <a:schemeClr val="lt1"/>
              </a:buClr>
              <a:buSzPct val="100000"/>
              <a:buChar char="•"/>
            </a:pPr>
            <a:r>
              <a:rPr lang="en-US" sz="1900"/>
              <a:t>Complies with basic BOP system format of IMF</a:t>
            </a:r>
            <a:endParaRPr/>
          </a:p>
          <a:p>
            <a:pPr indent="-228631" lvl="1" marL="685800" rtl="0" algn="l">
              <a:lnSpc>
                <a:spcPct val="90000"/>
              </a:lnSpc>
              <a:spcBef>
                <a:spcPts val="500"/>
              </a:spcBef>
              <a:spcAft>
                <a:spcPts val="0"/>
              </a:spcAft>
              <a:buClr>
                <a:schemeClr val="lt1"/>
              </a:buClr>
              <a:buSzPct val="100000"/>
              <a:buChar char="•"/>
            </a:pPr>
            <a:r>
              <a:rPr lang="en-US" sz="1900"/>
              <a:t>Large surplus in goods/merchandise trade (271.7 billion euros), a result of export-driven economy</a:t>
            </a:r>
            <a:endParaRPr/>
          </a:p>
          <a:p>
            <a:pPr indent="-228631" lvl="1" marL="685800" rtl="0" algn="l">
              <a:lnSpc>
                <a:spcPct val="90000"/>
              </a:lnSpc>
              <a:spcBef>
                <a:spcPts val="500"/>
              </a:spcBef>
              <a:spcAft>
                <a:spcPts val="0"/>
              </a:spcAft>
              <a:buClr>
                <a:schemeClr val="lt1"/>
              </a:buClr>
              <a:buSzPct val="100000"/>
              <a:buChar char="•"/>
            </a:pPr>
            <a:r>
              <a:rPr lang="en-US" sz="1900"/>
              <a:t>Current account surplus (261.4 billion euros) did not continue steady rise in 2016, but still remains well above a healthy economic level</a:t>
            </a:r>
            <a:endParaRPr/>
          </a:p>
          <a:p>
            <a:pPr indent="-228631" lvl="1" marL="685800" rtl="0" algn="l">
              <a:lnSpc>
                <a:spcPct val="90000"/>
              </a:lnSpc>
              <a:spcBef>
                <a:spcPts val="500"/>
              </a:spcBef>
              <a:spcAft>
                <a:spcPts val="0"/>
              </a:spcAft>
              <a:buClr>
                <a:schemeClr val="lt1"/>
              </a:buClr>
              <a:buSzPct val="100000"/>
              <a:buChar char="•"/>
            </a:pPr>
            <a:r>
              <a:rPr lang="en-US" sz="1900"/>
              <a:t>Looking at FDI, both portfolio investment and direct investment accounts posted a surplus, but direct investment slipped as portfolio investment rose</a:t>
            </a:r>
            <a:endParaRPr sz="1900"/>
          </a:p>
          <a:p>
            <a:pPr indent="-228600" lvl="0" marL="228600" rtl="0" algn="l">
              <a:lnSpc>
                <a:spcPct val="90000"/>
              </a:lnSpc>
              <a:spcBef>
                <a:spcPts val="1000"/>
              </a:spcBef>
              <a:spcAft>
                <a:spcPts val="0"/>
              </a:spcAft>
              <a:buClr>
                <a:schemeClr val="lt1"/>
              </a:buClr>
              <a:buSzPct val="100000"/>
              <a:buChar char="•"/>
            </a:pPr>
            <a:r>
              <a:rPr b="1" lang="en-US" sz="2200" u="sng"/>
              <a:t>The Bottom Line:</a:t>
            </a:r>
            <a:r>
              <a:rPr lang="en-US" sz="2200"/>
              <a:t> A surplus in the current account indicates economic health overall.  This is attributed to the strength of German exporting, financial austerity, and structural reforms in infrastructure.  The latter is also a reason for increases seen in portfolio investment, as investing in financial assets tied to a stable market is low-risk.</a:t>
            </a:r>
            <a:endParaRPr b="1" sz="2200" u="sng"/>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Country Synopsis</a:t>
            </a:r>
            <a:endParaRPr/>
          </a:p>
        </p:txBody>
      </p:sp>
      <p:sp>
        <p:nvSpPr>
          <p:cNvPr id="267" name="Google Shape;267;p29"/>
          <p:cNvSpPr txBox="1"/>
          <p:nvPr>
            <p:ph idx="1" type="body"/>
          </p:nvPr>
        </p:nvSpPr>
        <p:spPr>
          <a:xfrm>
            <a:off x="680321" y="2336873"/>
            <a:ext cx="9613861" cy="430307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rPr lang="en-US" sz="1800"/>
              <a:t>Germany is a country with a storied past, that has been characterized by struggle to maintain a singular, unified governing body.  In spite of this, when united, the region has shown itself to be a major player not only in Europe, but on a global scale as well. Though Germany’s economy was crippled following its role in both World Wars, it has managed to recover. This is due to Germany’s austerity, investment in structural reforms, and the growth of a large, educated middle-class that forms the backbone of the country’s labor force.  The resiliency of Germany’s economic policies was threatened by the 2008 financial crisis, but the German economy has seemed to have come out of the crisis in better economic health than ever.  While credit for this must be given to the previously mentioned factors, their export-driven economy, coupled with the devalued Euro attributed to lagging crisis in Greece was played large roles as well. </a:t>
            </a:r>
            <a:br>
              <a:rPr lang="en-US" sz="1800"/>
            </a:br>
            <a:r>
              <a:rPr lang="en-US" sz="1800"/>
              <a:t>Germany’s economic resiliency bodes well for future foreign investment. Various improvements in infrastructure (such as the 2016-2018 initiative), in addition with policies that grant foreigners equal rights in business proceedings, foster an open, low-risk environment that is attractive to investors. Therefore, I believe that Germany is likely to remain a key cog in the global market, regardless of the uncertain future of the EU.</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COC</a:t>
            </a:r>
            <a:endParaRPr/>
          </a:p>
        </p:txBody>
      </p:sp>
      <p:sp>
        <p:nvSpPr>
          <p:cNvPr id="273" name="Google Shape;273;p30"/>
          <p:cNvSpPr txBox="1"/>
          <p:nvPr>
            <p:ph idx="1" type="body"/>
          </p:nvPr>
        </p:nvSpPr>
        <p:spPr>
          <a:xfrm>
            <a:off x="680321" y="2336872"/>
            <a:ext cx="9613861" cy="424680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b="1" lang="en-US" sz="1800"/>
              <a:t>Nestlé:</a:t>
            </a:r>
            <a:endParaRPr/>
          </a:p>
          <a:p>
            <a:pPr indent="-228600" lvl="1" marL="685800" rtl="0" algn="l">
              <a:lnSpc>
                <a:spcPct val="90000"/>
              </a:lnSpc>
              <a:spcBef>
                <a:spcPts val="500"/>
              </a:spcBef>
              <a:spcAft>
                <a:spcPts val="0"/>
              </a:spcAft>
              <a:buClr>
                <a:schemeClr val="lt1"/>
              </a:buClr>
              <a:buSzPts val="1800"/>
              <a:buChar char="•"/>
            </a:pPr>
            <a:r>
              <a:rPr lang="en-US" sz="1800"/>
              <a:t>Nestlé is the world’s largest multinational titan in the food and beverage industry, spanning 191 countries around the globe</a:t>
            </a:r>
            <a:endParaRPr/>
          </a:p>
          <a:p>
            <a:pPr indent="-228600" lvl="1" marL="685800" rtl="0" algn="l">
              <a:lnSpc>
                <a:spcPct val="90000"/>
              </a:lnSpc>
              <a:spcBef>
                <a:spcPts val="500"/>
              </a:spcBef>
              <a:spcAft>
                <a:spcPts val="0"/>
              </a:spcAft>
              <a:buClr>
                <a:schemeClr val="lt1"/>
              </a:buClr>
              <a:buSzPts val="1800"/>
              <a:buChar char="•"/>
            </a:pPr>
            <a:r>
              <a:rPr lang="en-US" sz="1800"/>
              <a:t>Founded in 1866, it is headquartered in Vevey, Vaud, Switzerland</a:t>
            </a:r>
            <a:endParaRPr/>
          </a:p>
          <a:p>
            <a:pPr indent="-228600" lvl="1" marL="685800" rtl="0" algn="l">
              <a:lnSpc>
                <a:spcPct val="90000"/>
              </a:lnSpc>
              <a:spcBef>
                <a:spcPts val="500"/>
              </a:spcBef>
              <a:spcAft>
                <a:spcPts val="0"/>
              </a:spcAft>
              <a:buClr>
                <a:schemeClr val="lt1"/>
              </a:buClr>
              <a:buSzPts val="1800"/>
              <a:buChar char="•"/>
            </a:pPr>
            <a:r>
              <a:rPr lang="en-US" sz="1800"/>
              <a:t>Purpose includes enhancing quality of life and helping to foster a better future, therefore promoting long-term success of the company</a:t>
            </a:r>
            <a:endParaRPr/>
          </a:p>
          <a:p>
            <a:pPr indent="-228600" lvl="1" marL="685800" rtl="0" algn="l">
              <a:lnSpc>
                <a:spcPct val="90000"/>
              </a:lnSpc>
              <a:spcBef>
                <a:spcPts val="500"/>
              </a:spcBef>
              <a:spcAft>
                <a:spcPts val="0"/>
              </a:spcAft>
              <a:buClr>
                <a:schemeClr val="lt1"/>
              </a:buClr>
              <a:buSzPts val="1800"/>
              <a:buChar char="•"/>
            </a:pPr>
            <a:r>
              <a:rPr lang="en-US" sz="1800"/>
              <a:t>Values aim to treat fellow humans and business associates with honesty and respect, not only following legal requirements but also leading towards a sustainable future</a:t>
            </a:r>
            <a:endParaRPr/>
          </a:p>
          <a:p>
            <a:pPr indent="-228600" lvl="0" marL="228600" rtl="0" algn="l">
              <a:lnSpc>
                <a:spcPct val="90000"/>
              </a:lnSpc>
              <a:spcBef>
                <a:spcPts val="1000"/>
              </a:spcBef>
              <a:spcAft>
                <a:spcPts val="0"/>
              </a:spcAft>
              <a:buClr>
                <a:schemeClr val="lt1"/>
              </a:buClr>
              <a:buSzPts val="1800"/>
              <a:buChar char="•"/>
            </a:pPr>
            <a:r>
              <a:rPr b="1" lang="en-US" sz="1800"/>
              <a:t>Nestlé Deutschland AG:</a:t>
            </a:r>
            <a:endParaRPr/>
          </a:p>
          <a:p>
            <a:pPr indent="-228600" lvl="1" marL="685800" rtl="0" algn="l">
              <a:lnSpc>
                <a:spcPct val="90000"/>
              </a:lnSpc>
              <a:spcBef>
                <a:spcPts val="500"/>
              </a:spcBef>
              <a:spcAft>
                <a:spcPts val="0"/>
              </a:spcAft>
              <a:buClr>
                <a:schemeClr val="lt1"/>
              </a:buClr>
              <a:buSzPts val="1800"/>
              <a:buChar char="•"/>
            </a:pPr>
            <a:r>
              <a:rPr lang="en-US" sz="1800"/>
              <a:t>Subsidiary company based in Frankfurt, Germany</a:t>
            </a:r>
            <a:endParaRPr/>
          </a:p>
          <a:p>
            <a:pPr indent="-228600" lvl="1" marL="685800" rtl="0" algn="l">
              <a:lnSpc>
                <a:spcPct val="90000"/>
              </a:lnSpc>
              <a:spcBef>
                <a:spcPts val="500"/>
              </a:spcBef>
              <a:spcAft>
                <a:spcPts val="0"/>
              </a:spcAft>
              <a:buClr>
                <a:schemeClr val="lt1"/>
              </a:buClr>
              <a:buSzPts val="1800"/>
              <a:buChar char="•"/>
            </a:pPr>
            <a:r>
              <a:rPr lang="en-US" sz="1800"/>
              <a:t>Major player in nation’s food industry</a:t>
            </a:r>
            <a:endParaRPr/>
          </a:p>
          <a:p>
            <a:pPr indent="-228600" lvl="1" marL="685800" rtl="0" algn="l">
              <a:lnSpc>
                <a:spcPct val="90000"/>
              </a:lnSpc>
              <a:spcBef>
                <a:spcPts val="500"/>
              </a:spcBef>
              <a:spcAft>
                <a:spcPts val="0"/>
              </a:spcAft>
              <a:buClr>
                <a:schemeClr val="lt1"/>
              </a:buClr>
              <a:buSzPts val="1800"/>
              <a:buChar char="•"/>
            </a:pPr>
            <a:r>
              <a:rPr lang="en-US" sz="1800"/>
              <a:t>Ice-cream branch Schöller GmbH is 2</a:t>
            </a:r>
            <a:r>
              <a:rPr baseline="30000" lang="en-US" sz="1800"/>
              <a:t>nd</a:t>
            </a:r>
            <a:r>
              <a:rPr lang="en-US" sz="1800"/>
              <a:t> largest in Germany</a:t>
            </a:r>
            <a:endParaRPr/>
          </a:p>
          <a:p>
            <a:pPr indent="-228600" lvl="1" marL="685800" rtl="0" algn="l">
              <a:lnSpc>
                <a:spcPct val="90000"/>
              </a:lnSpc>
              <a:spcBef>
                <a:spcPts val="500"/>
              </a:spcBef>
              <a:spcAft>
                <a:spcPts val="0"/>
              </a:spcAft>
              <a:buClr>
                <a:schemeClr val="lt1"/>
              </a:buClr>
              <a:buSzPts val="1800"/>
              <a:buChar char="•"/>
            </a:pPr>
            <a:r>
              <a:rPr lang="en-US" sz="1800"/>
              <a:t>Domestic spending trending upward</a:t>
            </a:r>
            <a:endParaRPr/>
          </a:p>
          <a:p>
            <a:pPr indent="-228600" lvl="1" marL="685800" rtl="0" algn="l">
              <a:lnSpc>
                <a:spcPct val="90000"/>
              </a:lnSpc>
              <a:spcBef>
                <a:spcPts val="500"/>
              </a:spcBef>
              <a:spcAft>
                <a:spcPts val="0"/>
              </a:spcAft>
              <a:buClr>
                <a:schemeClr val="lt1"/>
              </a:buClr>
              <a:buSzPts val="1800"/>
              <a:buChar char="•"/>
            </a:pPr>
            <a:r>
              <a:rPr lang="en-US" sz="1800"/>
              <a:t>Large middle-class means greater percent of population with disposable funds</a:t>
            </a:r>
            <a:endParaRPr/>
          </a:p>
          <a:p>
            <a:pPr indent="-114300" lvl="1" marL="685800" rtl="0" algn="l">
              <a:lnSpc>
                <a:spcPct val="90000"/>
              </a:lnSpc>
              <a:spcBef>
                <a:spcPts val="500"/>
              </a:spcBef>
              <a:spcAft>
                <a:spcPts val="0"/>
              </a:spcAft>
              <a:buClr>
                <a:schemeClr val="lt1"/>
              </a:buClr>
              <a:buSzPts val="1800"/>
              <a:buNone/>
            </a:pPr>
            <a:r>
              <a:t/>
            </a:r>
            <a:endParaRPr sz="1800"/>
          </a:p>
          <a:p>
            <a:pPr indent="-114300" lvl="1" marL="685800" rtl="0" algn="l">
              <a:lnSpc>
                <a:spcPct val="90000"/>
              </a:lnSpc>
              <a:spcBef>
                <a:spcPts val="500"/>
              </a:spcBef>
              <a:spcAft>
                <a:spcPts val="0"/>
              </a:spcAft>
              <a:buClr>
                <a:schemeClr val="lt1"/>
              </a:buClr>
              <a:buSzPts val="1800"/>
              <a:buNone/>
            </a:pPr>
            <a:r>
              <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COC: Strategic Consideration</a:t>
            </a:r>
            <a:endParaRPr/>
          </a:p>
        </p:txBody>
      </p:sp>
      <p:sp>
        <p:nvSpPr>
          <p:cNvPr id="279" name="Google Shape;279;p31"/>
          <p:cNvSpPr txBox="1"/>
          <p:nvPr>
            <p:ph idx="1" type="body"/>
          </p:nvPr>
        </p:nvSpPr>
        <p:spPr>
          <a:xfrm>
            <a:off x="680321" y="2336873"/>
            <a:ext cx="9613861" cy="421867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lt1"/>
              </a:buClr>
              <a:buSzPts val="1800"/>
              <a:buChar char="•"/>
            </a:pPr>
            <a:r>
              <a:rPr lang="en-US" sz="1800"/>
              <a:t>Inflation of the euro and economic stability supports increased domestic spending, meaning that purchasing goods produced inside Germany costs relatively less than those imported.  This entails that further direct investment in the form of new branches will lead to increased profit if a niche base of target customers can be gained.</a:t>
            </a:r>
            <a:endParaRPr/>
          </a:p>
          <a:p>
            <a:pPr indent="-228600" lvl="0" marL="228600" rtl="0" algn="l">
              <a:lnSpc>
                <a:spcPct val="90000"/>
              </a:lnSpc>
              <a:spcBef>
                <a:spcPts val="1000"/>
              </a:spcBef>
              <a:spcAft>
                <a:spcPts val="0"/>
              </a:spcAft>
              <a:buClr>
                <a:schemeClr val="lt1"/>
              </a:buClr>
              <a:buSzPts val="1800"/>
              <a:buChar char="•"/>
            </a:pPr>
            <a:r>
              <a:rPr lang="en-US" sz="1800"/>
              <a:t>A strong middle-class means a greater percentage of citizens with disposable incomes, leading to more money available to be spent on luxury items.</a:t>
            </a:r>
            <a:endParaRPr/>
          </a:p>
          <a:p>
            <a:pPr indent="-228600" lvl="0" marL="228600" rtl="0" algn="l">
              <a:lnSpc>
                <a:spcPct val="90000"/>
              </a:lnSpc>
              <a:spcBef>
                <a:spcPts val="1000"/>
              </a:spcBef>
              <a:spcAft>
                <a:spcPts val="0"/>
              </a:spcAft>
              <a:buClr>
                <a:schemeClr val="lt1"/>
              </a:buClr>
              <a:buSzPts val="1800"/>
              <a:buChar char="•"/>
            </a:pPr>
            <a:r>
              <a:rPr lang="en-US" sz="1800"/>
              <a:t>Track record of business success in Germany makes investment on large-scale less risky considering a foothold in the region has already been established.  Therefore, expansion of Nestlé’s well-known brand beyond food and into beverages as well would yield positive returns.</a:t>
            </a:r>
            <a:endParaRPr/>
          </a:p>
          <a:p>
            <a:pPr indent="-228600" lvl="0" marL="228600" rtl="0" algn="l">
              <a:lnSpc>
                <a:spcPct val="90000"/>
              </a:lnSpc>
              <a:spcBef>
                <a:spcPts val="1000"/>
              </a:spcBef>
              <a:spcAft>
                <a:spcPts val="0"/>
              </a:spcAft>
              <a:buClr>
                <a:schemeClr val="lt1"/>
              </a:buClr>
              <a:buSzPts val="1800"/>
              <a:buChar char="•"/>
            </a:pPr>
            <a:r>
              <a:rPr lang="en-US" sz="1800"/>
              <a:t>Similar Hofstede scores across the board between Germany and Switzerland means they differentiate little on most cultural values, allowing Nestlé clearer insight into consumer behavior (though German tendencies to indulge significantly less must be inversely considered).</a:t>
            </a:r>
            <a:endParaRPr/>
          </a:p>
          <a:p>
            <a:pPr indent="-228600" lvl="0" marL="228600" rtl="0" algn="l">
              <a:lnSpc>
                <a:spcPct val="90000"/>
              </a:lnSpc>
              <a:spcBef>
                <a:spcPts val="1000"/>
              </a:spcBef>
              <a:spcAft>
                <a:spcPts val="0"/>
              </a:spcAft>
              <a:buClr>
                <a:schemeClr val="lt1"/>
              </a:buClr>
              <a:buSzPts val="1800"/>
              <a:buChar char="•"/>
            </a:pPr>
            <a:r>
              <a:rPr lang="en-US" sz="1800"/>
              <a:t>Germany’s policy of equality and openness towards foreign business ventures allows an equal playing field for foreigners when bearing in mind domestic competition.</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COC: Operational Implications</a:t>
            </a:r>
            <a:endParaRPr/>
          </a:p>
        </p:txBody>
      </p:sp>
      <p:sp>
        <p:nvSpPr>
          <p:cNvPr id="285" name="Google Shape;285;p32"/>
          <p:cNvSpPr txBox="1"/>
          <p:nvPr>
            <p:ph idx="1" type="body"/>
          </p:nvPr>
        </p:nvSpPr>
        <p:spPr>
          <a:xfrm>
            <a:off x="680321" y="2336872"/>
            <a:ext cx="9613861" cy="434528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lt1"/>
              </a:buClr>
              <a:buSzPts val="1800"/>
              <a:buChar char="•"/>
            </a:pPr>
            <a:r>
              <a:rPr lang="en-US" sz="1800"/>
              <a:t>Implementation of a minimum wage law in 2015 (which was raised in 2017 by 34 cents) means that human capital is made more expensive.  Keeping this in mind, investment in machinery could streamline production, improving efficiency and cutting long-run costs associated with human labor.  While the initial price is higher, long-term savings will eventually catch up as costs are minimized over time with less salaries to be paid.</a:t>
            </a:r>
            <a:endParaRPr/>
          </a:p>
          <a:p>
            <a:pPr indent="-228600" lvl="0" marL="228600" rtl="0" algn="l">
              <a:lnSpc>
                <a:spcPct val="90000"/>
              </a:lnSpc>
              <a:spcBef>
                <a:spcPts val="1000"/>
              </a:spcBef>
              <a:spcAft>
                <a:spcPts val="0"/>
              </a:spcAft>
              <a:buClr>
                <a:schemeClr val="lt1"/>
              </a:buClr>
              <a:buSzPts val="1800"/>
              <a:buChar char="•"/>
            </a:pPr>
            <a:r>
              <a:rPr lang="en-US" sz="1800"/>
              <a:t>Expanding the number of Nestlé Deutschland AG branches would allow the company to offer a greater variety of brands at lower prices than possible if they were having to be imported from Switzerland.  This method would yield returns due to reduced transportation costs, also cutting out any import tariffs which may drive prices up and inevitably make it difficult to match the low prices offered by domestic competition.</a:t>
            </a:r>
            <a:endParaRPr/>
          </a:p>
          <a:p>
            <a:pPr indent="-228600" lvl="0" marL="228600" rtl="0" algn="l">
              <a:lnSpc>
                <a:spcPct val="90000"/>
              </a:lnSpc>
              <a:spcBef>
                <a:spcPts val="1000"/>
              </a:spcBef>
              <a:spcAft>
                <a:spcPts val="0"/>
              </a:spcAft>
              <a:buClr>
                <a:schemeClr val="lt1"/>
              </a:buClr>
              <a:buSzPts val="1800"/>
              <a:buChar char="•"/>
            </a:pPr>
            <a:r>
              <a:rPr lang="en-US" sz="1800"/>
              <a:t>Another advantage is that under German policy any foreign businesses ventures or investment is subject to the same law as native corporations.  This, coupled with Hofstede’s findings that Swiss and German culture hold somewhat similar values, means that investing on a larger-scale in attempt to enter the beverage industry as well could pay dividends.  Already possessing knowledge of German consumer behavior and the drink industry, there would be only a slight learning curve if any at all.  After this, superior brand name recognition of Nestlé would be able to outcompete smaller competition.</a:t>
            </a:r>
            <a:endParaRPr/>
          </a:p>
          <a:p>
            <a:pPr indent="-114300" lvl="0" marL="228600" rtl="0" algn="l">
              <a:lnSpc>
                <a:spcPct val="90000"/>
              </a:lnSpc>
              <a:spcBef>
                <a:spcPts val="1000"/>
              </a:spcBef>
              <a:spcAft>
                <a:spcPts val="0"/>
              </a:spcAft>
              <a:buClr>
                <a:schemeClr val="lt1"/>
              </a:buClr>
              <a:buSzPts val="1800"/>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References</a:t>
            </a:r>
            <a:endParaRPr/>
          </a:p>
        </p:txBody>
      </p:sp>
      <p:sp>
        <p:nvSpPr>
          <p:cNvPr id="291" name="Google Shape;291;p33"/>
          <p:cNvSpPr txBox="1"/>
          <p:nvPr>
            <p:ph idx="1" type="body"/>
          </p:nvPr>
        </p:nvSpPr>
        <p:spPr>
          <a:xfrm>
            <a:off x="680321" y="2336873"/>
            <a:ext cx="9613861" cy="438748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“Germany profile - Timeline.” BBC News, BBC, 28 Sept. 2017, 	</a:t>
            </a:r>
            <a:r>
              <a:rPr lang="en-US" sz="1800" u="sng">
                <a:solidFill>
                  <a:schemeClr val="hlink"/>
                </a:solidFill>
                <a:hlinkClick r:id="rId3"/>
              </a:rPr>
              <a:t>www.bbc.com/news/world-europe-17301646</a:t>
            </a:r>
            <a:r>
              <a:rPr lang="en-US" sz="1800"/>
              <a:t>.</a:t>
            </a:r>
            <a:endParaRPr/>
          </a:p>
          <a:p>
            <a:pPr indent="-228600" lvl="0" marL="228600" rtl="0" algn="l">
              <a:lnSpc>
                <a:spcPct val="90000"/>
              </a:lnSpc>
              <a:spcBef>
                <a:spcPts val="1000"/>
              </a:spcBef>
              <a:spcAft>
                <a:spcPts val="0"/>
              </a:spcAft>
              <a:buClr>
                <a:schemeClr val="lt1"/>
              </a:buClr>
              <a:buSzPts val="1800"/>
              <a:buChar char="•"/>
            </a:pPr>
            <a:r>
              <a:rPr lang="en-US" sz="1800"/>
              <a:t>“Germany .” </a:t>
            </a:r>
            <a:r>
              <a:rPr i="1" lang="en-US" sz="1800"/>
              <a:t>Germany | Data</a:t>
            </a:r>
            <a:r>
              <a:rPr lang="en-US" sz="1800"/>
              <a:t>, World Bank, data.worldbank.org/country/germany.</a:t>
            </a:r>
            <a:endParaRPr/>
          </a:p>
          <a:p>
            <a:pPr indent="-228600" lvl="0" marL="228600" rtl="0" algn="l">
              <a:lnSpc>
                <a:spcPct val="90000"/>
              </a:lnSpc>
              <a:spcBef>
                <a:spcPts val="1000"/>
              </a:spcBef>
              <a:spcAft>
                <a:spcPts val="0"/>
              </a:spcAft>
              <a:buClr>
                <a:schemeClr val="lt1"/>
              </a:buClr>
              <a:buSzPts val="1800"/>
              <a:buChar char="•"/>
            </a:pPr>
            <a:r>
              <a:rPr lang="en-US" sz="1800"/>
              <a:t>eub2. “Germany: country overview.” </a:t>
            </a:r>
            <a:r>
              <a:rPr i="1" lang="en-US" sz="1800"/>
              <a:t>Germany: country overview — EUbusiness.Com | EU 	news, business and politics</a:t>
            </a:r>
            <a:r>
              <a:rPr lang="en-US" sz="1800"/>
              <a:t>, EUbusiness, 30 Jan. 2017, 	</a:t>
            </a:r>
            <a:r>
              <a:rPr lang="en-US" sz="1800" u="sng">
                <a:solidFill>
                  <a:schemeClr val="hlink"/>
                </a:solidFill>
                <a:hlinkClick r:id="rId4"/>
              </a:rPr>
              <a:t>www.eubusiness.com/europe/germany</a:t>
            </a:r>
            <a:r>
              <a:rPr lang="en-US" sz="1800"/>
              <a:t>.</a:t>
            </a:r>
            <a:endParaRPr/>
          </a:p>
          <a:p>
            <a:pPr indent="-228600" lvl="0" marL="228600" rtl="0" algn="l">
              <a:lnSpc>
                <a:spcPct val="90000"/>
              </a:lnSpc>
              <a:spcBef>
                <a:spcPts val="1000"/>
              </a:spcBef>
              <a:spcAft>
                <a:spcPts val="0"/>
              </a:spcAft>
              <a:buClr>
                <a:schemeClr val="lt1"/>
              </a:buClr>
              <a:buSzPts val="1800"/>
              <a:buChar char="•"/>
            </a:pPr>
            <a:r>
              <a:rPr lang="en-US" sz="1800"/>
              <a:t>“About us.” </a:t>
            </a:r>
            <a:r>
              <a:rPr i="1" lang="en-US" sz="1800"/>
              <a:t>Nestle.com</a:t>
            </a:r>
            <a:r>
              <a:rPr lang="en-US" sz="1800"/>
              <a:t>, Nestlé, </a:t>
            </a:r>
            <a:r>
              <a:rPr lang="en-US" sz="1800" u="sng">
                <a:solidFill>
                  <a:schemeClr val="hlink"/>
                </a:solidFill>
                <a:hlinkClick r:id="rId5"/>
              </a:rPr>
              <a:t>www.nestle.com/aboutus</a:t>
            </a:r>
            <a:r>
              <a:rPr lang="en-US" sz="1800"/>
              <a:t>.</a:t>
            </a:r>
            <a:endParaRPr/>
          </a:p>
          <a:p>
            <a:pPr indent="-228600" lvl="0" marL="228600" rtl="0" algn="l">
              <a:lnSpc>
                <a:spcPct val="90000"/>
              </a:lnSpc>
              <a:spcBef>
                <a:spcPts val="1000"/>
              </a:spcBef>
              <a:spcAft>
                <a:spcPts val="0"/>
              </a:spcAft>
              <a:buClr>
                <a:schemeClr val="lt1"/>
              </a:buClr>
              <a:buSzPts val="1800"/>
              <a:buChar char="•"/>
            </a:pPr>
            <a:r>
              <a:rPr lang="en-US" sz="1800"/>
              <a:t>“Lebensqualität verbessern und zu einer gesünderen Zukunft beitragen. – Nestlé© 	Deutschland AG.” Https://Www.nestle.de, Nestlé, </a:t>
            </a:r>
            <a:r>
              <a:rPr lang="en-US" sz="1800" u="sng">
                <a:solidFill>
                  <a:schemeClr val="hlink"/>
                </a:solidFill>
                <a:hlinkClick r:id="rId6"/>
              </a:rPr>
              <a:t>www.nestle.de/</a:t>
            </a:r>
            <a:r>
              <a:rPr lang="en-US" sz="1800"/>
              <a:t>.</a:t>
            </a:r>
            <a:endParaRPr/>
          </a:p>
          <a:p>
            <a:pPr indent="-228600" lvl="0" marL="228600" rtl="0" algn="l">
              <a:lnSpc>
                <a:spcPct val="90000"/>
              </a:lnSpc>
              <a:spcBef>
                <a:spcPts val="1000"/>
              </a:spcBef>
              <a:spcAft>
                <a:spcPts val="0"/>
              </a:spcAft>
              <a:buClr>
                <a:schemeClr val="lt1"/>
              </a:buClr>
              <a:buSzPts val="1800"/>
              <a:buChar char="•"/>
            </a:pPr>
            <a:r>
              <a:rPr lang="en-US" sz="1800"/>
              <a:t>“Nestlé Deutschland.” </a:t>
            </a:r>
            <a:r>
              <a:rPr i="1" lang="en-US" sz="1800"/>
              <a:t>Wikipedia</a:t>
            </a:r>
            <a:r>
              <a:rPr lang="en-US" sz="1800"/>
              <a:t>, Wikimedia Foundation, 28 Nov. 2017, 	en.wikipedia.org/wiki/Nestl%C3%A9_Deutschland.</a:t>
            </a:r>
            <a:endParaRPr/>
          </a:p>
          <a:p>
            <a:pPr indent="-228600" lvl="0" marL="228600" rtl="0" algn="l">
              <a:lnSpc>
                <a:spcPct val="90000"/>
              </a:lnSpc>
              <a:spcBef>
                <a:spcPts val="1000"/>
              </a:spcBef>
              <a:spcAft>
                <a:spcPts val="0"/>
              </a:spcAft>
              <a:buClr>
                <a:schemeClr val="lt1"/>
              </a:buClr>
              <a:buSzPts val="1800"/>
              <a:buChar char="•"/>
            </a:pPr>
            <a:r>
              <a:rPr lang="en-US" sz="1800"/>
              <a:t>(www.dw.com), Deutsche Welle. “German minimum hourly wage bumped up for 2017 | 	News | DW | 28.06.2016.” </a:t>
            </a:r>
            <a:r>
              <a:rPr i="1" lang="en-US" sz="1800"/>
              <a:t>DW.COM</a:t>
            </a:r>
            <a:r>
              <a:rPr lang="en-US" sz="1800"/>
              <a:t>, </a:t>
            </a:r>
            <a:r>
              <a:rPr lang="en-US" sz="1800" u="sng">
                <a:solidFill>
                  <a:schemeClr val="hlink"/>
                </a:solidFill>
                <a:hlinkClick r:id="rId7"/>
              </a:rPr>
              <a:t>www.dw.com/en/german-minimum-hourly-</a:t>
            </a:r>
            <a:r>
              <a:rPr lang="en-US" sz="1800"/>
              <a:t>	wage-bumped-up-for-2017/a-19362540.</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erlin">
  <a:themeElements>
    <a:clrScheme name="Berlin">
      <a:dk1>
        <a:srgbClr val="000000"/>
      </a:dk1>
      <a:lt1>
        <a:srgbClr val="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