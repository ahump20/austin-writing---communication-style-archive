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LIBERALISM AND REGIONAL TRADE BLOCS</a:t>
            </a:r>
            <a:endParaRPr/>
          </a:p>
        </p:txBody>
      </p:sp>
      <p:sp>
        <p:nvSpPr>
          <p:cNvPr id="237" name="Google Shape;23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pic>
        <p:nvPicPr>
          <p:cNvPr descr="HD-ShadowLong.png" id="17" name="Google Shape;17;p2"/>
          <p:cNvPicPr preferRelativeResize="0"/>
          <p:nvPr/>
        </p:nvPicPr>
        <p:blipFill rotWithShape="1">
          <a:blip r:embed="rId2">
            <a:alphaModFix/>
          </a:blip>
          <a:srcRect b="0" l="0" r="0" t="0"/>
          <a:stretch/>
        </p:blipFill>
        <p:spPr>
          <a:xfrm>
            <a:off x="1" y="4242851"/>
            <a:ext cx="8968084" cy="275942"/>
          </a:xfrm>
          <a:prstGeom prst="rect">
            <a:avLst/>
          </a:prstGeom>
          <a:noFill/>
          <a:ln>
            <a:noFill/>
          </a:ln>
        </p:spPr>
      </p:pic>
      <p:pic>
        <p:nvPicPr>
          <p:cNvPr descr="HD-ShadowShort.png" id="18" name="Google Shape;18;p2"/>
          <p:cNvPicPr preferRelativeResize="0"/>
          <p:nvPr/>
        </p:nvPicPr>
        <p:blipFill rotWithShape="1">
          <a:blip r:embed="rId3">
            <a:alphaModFix/>
          </a:blip>
          <a:srcRect b="0" l="0" r="0" t="0"/>
          <a:stretch/>
        </p:blipFill>
        <p:spPr>
          <a:xfrm>
            <a:off x="9111716" y="4243845"/>
            <a:ext cx="3077108" cy="276940"/>
          </a:xfrm>
          <a:prstGeom prst="rect">
            <a:avLst/>
          </a:prstGeom>
          <a:noFill/>
          <a:ln>
            <a:noFill/>
          </a:ln>
        </p:spPr>
      </p:pic>
      <p:sp>
        <p:nvSpPr>
          <p:cNvPr id="19" name="Google Shape;19;p2"/>
          <p:cNvSpPr/>
          <p:nvPr/>
        </p:nvSpPr>
        <p:spPr>
          <a:xfrm>
            <a:off x="0" y="2590078"/>
            <a:ext cx="8968085"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9111715" y="2590078"/>
            <a:ext cx="3077109" cy="166033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txBox="1"/>
          <p:nvPr>
            <p:ph type="ctrTitle"/>
          </p:nvPr>
        </p:nvSpPr>
        <p:spPr>
          <a:xfrm>
            <a:off x="680322" y="2733709"/>
            <a:ext cx="8144134" cy="1373070"/>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lt1"/>
              </a:buClr>
              <a:buSzPts val="5400"/>
              <a:buFont typeface="Trebuchet MS"/>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
          <p:cNvSpPr txBox="1"/>
          <p:nvPr>
            <p:ph idx="1" type="subTitle"/>
          </p:nvPr>
        </p:nvSpPr>
        <p:spPr>
          <a:xfrm>
            <a:off x="680322" y="4394039"/>
            <a:ext cx="8144134" cy="1117687"/>
          </a:xfrm>
          <a:prstGeom prst="rect">
            <a:avLst/>
          </a:prstGeom>
          <a:noFill/>
          <a:ln>
            <a:noFill/>
          </a:ln>
        </p:spPr>
        <p:txBody>
          <a:bodyPr anchorCtr="0" anchor="t" bIns="45700" lIns="91425" spcFirstLastPara="1" rIns="91425" wrap="square" tIns="45700">
            <a:normAutofit/>
          </a:bodyPr>
          <a:lstStyle>
            <a:lvl1pPr lvl="0" algn="r">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3" name="Google Shape;23;p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
          <p:cNvSpPr txBox="1"/>
          <p:nvPr>
            <p:ph idx="12" type="sldNum"/>
          </p:nvPr>
        </p:nvSpPr>
        <p:spPr>
          <a:xfrm>
            <a:off x="9255346" y="2750337"/>
            <a:ext cx="1171888" cy="1356442"/>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pic>
        <p:nvPicPr>
          <p:cNvPr descr="HD-ShadowLong.png" id="27" name="Google Shape;27;p3"/>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28" name="Google Shape;28;p3"/>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29" name="Google Shape;29;p3"/>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 name="Google Shape;33;p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pic>
        <p:nvPicPr>
          <p:cNvPr descr="HD-ShadowLong.png" id="37" name="Google Shape;37;p4"/>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38" name="Google Shape;38;p4"/>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39" name="Google Shape;39;p4"/>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
          <p:cNvSpPr txBox="1"/>
          <p:nvPr>
            <p:ph idx="1" type="body"/>
          </p:nvPr>
        </p:nvSpPr>
        <p:spPr>
          <a:xfrm>
            <a:off x="680320" y="2336873"/>
            <a:ext cx="46983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4"/>
          <p:cNvSpPr txBox="1"/>
          <p:nvPr>
            <p:ph idx="2" type="body"/>
          </p:nvPr>
        </p:nvSpPr>
        <p:spPr>
          <a:xfrm>
            <a:off x="5594123" y="2336873"/>
            <a:ext cx="4700058" cy="359931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7" name="Shape 47"/>
        <p:cNvGrpSpPr/>
        <p:nvPr/>
      </p:nvGrpSpPr>
      <p:grpSpPr>
        <a:xfrm>
          <a:off x="0" y="0"/>
          <a:ext cx="0" cy="0"/>
          <a:chOff x="0" y="0"/>
          <a:chExt cx="0" cy="0"/>
        </a:xfrm>
      </p:grpSpPr>
      <p:pic>
        <p:nvPicPr>
          <p:cNvPr descr="HD-ShadowLong.png" id="48" name="Google Shape;48;p5"/>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49" name="Google Shape;49;p5"/>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50" name="Google Shape;50;p5"/>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txBox="1"/>
          <p:nvPr>
            <p:ph type="title"/>
          </p:nvPr>
        </p:nvSpPr>
        <p:spPr>
          <a:xfrm>
            <a:off x="680321" y="753227"/>
            <a:ext cx="9613859" cy="108094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5"/>
          <p:cNvSpPr txBox="1"/>
          <p:nvPr>
            <p:ph idx="1" type="body"/>
          </p:nvPr>
        </p:nvSpPr>
        <p:spPr>
          <a:xfrm>
            <a:off x="4685846" y="2336873"/>
            <a:ext cx="5608336" cy="3599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4" name="Google Shape;54;p5"/>
          <p:cNvSpPr txBox="1"/>
          <p:nvPr>
            <p:ph idx="2" type="body"/>
          </p:nvPr>
        </p:nvSpPr>
        <p:spPr>
          <a:xfrm>
            <a:off x="680322" y="2336872"/>
            <a:ext cx="3790078" cy="359931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5" name="Google Shape;55;p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pic>
        <p:nvPicPr>
          <p:cNvPr descr="HD-ShadowLong.png" id="59" name="Google Shape;59;p6"/>
          <p:cNvPicPr preferRelativeResize="0"/>
          <p:nvPr/>
        </p:nvPicPr>
        <p:blipFill rotWithShape="1">
          <a:blip r:embed="rId2">
            <a:alphaModFix/>
          </a:blip>
          <a:srcRect b="0" l="0" r="0" t="0"/>
          <a:stretch/>
        </p:blipFill>
        <p:spPr>
          <a:xfrm>
            <a:off x="-1" y="4086907"/>
            <a:ext cx="10437812" cy="321164"/>
          </a:xfrm>
          <a:prstGeom prst="rect">
            <a:avLst/>
          </a:prstGeom>
          <a:noFill/>
          <a:ln>
            <a:noFill/>
          </a:ln>
        </p:spPr>
      </p:pic>
      <p:pic>
        <p:nvPicPr>
          <p:cNvPr descr="HD-ShadowShort.png" id="60" name="Google Shape;60;p6"/>
          <p:cNvPicPr preferRelativeResize="0"/>
          <p:nvPr/>
        </p:nvPicPr>
        <p:blipFill rotWithShape="1">
          <a:blip r:embed="rId3">
            <a:alphaModFix/>
          </a:blip>
          <a:srcRect b="0" l="0" r="0" t="0"/>
          <a:stretch/>
        </p:blipFill>
        <p:spPr>
          <a:xfrm>
            <a:off x="10585824" y="4087901"/>
            <a:ext cx="1602997" cy="144270"/>
          </a:xfrm>
          <a:prstGeom prst="rect">
            <a:avLst/>
          </a:prstGeom>
          <a:noFill/>
          <a:ln>
            <a:noFill/>
          </a:ln>
        </p:spPr>
      </p:pic>
      <p:sp>
        <p:nvSpPr>
          <p:cNvPr id="61" name="Google Shape;61;p6"/>
          <p:cNvSpPr/>
          <p:nvPr/>
        </p:nvSpPr>
        <p:spPr>
          <a:xfrm>
            <a:off x="-2" y="2726267"/>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10585825" y="2726267"/>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txBox="1"/>
          <p:nvPr>
            <p:ph type="title"/>
          </p:nvPr>
        </p:nvSpPr>
        <p:spPr>
          <a:xfrm>
            <a:off x="680322" y="2869895"/>
            <a:ext cx="9613860" cy="109078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
          <p:cNvSpPr txBox="1"/>
          <p:nvPr>
            <p:ph idx="1" type="body"/>
          </p:nvPr>
        </p:nvSpPr>
        <p:spPr>
          <a:xfrm>
            <a:off x="680322" y="4232171"/>
            <a:ext cx="9613860" cy="170401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000"/>
              <a:buNone/>
              <a:defRPr sz="20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65" name="Google Shape;65;p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
          <p:cNvSpPr txBox="1"/>
          <p:nvPr>
            <p:ph idx="12" type="sldNum"/>
          </p:nvPr>
        </p:nvSpPr>
        <p:spPr>
          <a:xfrm>
            <a:off x="10729455" y="286989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pic>
        <p:nvPicPr>
          <p:cNvPr descr="HD-ShadowLong.png" id="69" name="Google Shape;69;p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70" name="Google Shape;70;p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71" name="Google Shape;71;p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txBox="1"/>
          <p:nvPr>
            <p:ph type="title"/>
          </p:nvPr>
        </p:nvSpPr>
        <p:spPr>
          <a:xfrm>
            <a:off x="680319" y="753229"/>
            <a:ext cx="9613863" cy="108093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7"/>
          <p:cNvSpPr txBox="1"/>
          <p:nvPr>
            <p:ph idx="1" type="body"/>
          </p:nvPr>
        </p:nvSpPr>
        <p:spPr>
          <a:xfrm>
            <a:off x="906350" y="2336873"/>
            <a:ext cx="4472327" cy="69313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75" name="Google Shape;75;p7"/>
          <p:cNvSpPr txBox="1"/>
          <p:nvPr>
            <p:ph idx="2" type="body"/>
          </p:nvPr>
        </p:nvSpPr>
        <p:spPr>
          <a:xfrm>
            <a:off x="680322" y="3030008"/>
            <a:ext cx="4698355"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6" name="Google Shape;76;p7"/>
          <p:cNvSpPr txBox="1"/>
          <p:nvPr>
            <p:ph idx="3" type="body"/>
          </p:nvPr>
        </p:nvSpPr>
        <p:spPr>
          <a:xfrm>
            <a:off x="5820154" y="2336873"/>
            <a:ext cx="4474028" cy="692076"/>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77" name="Google Shape;77;p7"/>
          <p:cNvSpPr txBox="1"/>
          <p:nvPr>
            <p:ph idx="4" type="body"/>
          </p:nvPr>
        </p:nvSpPr>
        <p:spPr>
          <a:xfrm>
            <a:off x="5594123" y="3030008"/>
            <a:ext cx="4700059" cy="290617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8" name="Google Shape;78;p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pic>
        <p:nvPicPr>
          <p:cNvPr descr="HD-ShadowLong.png" id="82" name="Google Shape;82;p8"/>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83" name="Google Shape;83;p8"/>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84" name="Google Shape;84;p8"/>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8"/>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8"/>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pic>
        <p:nvPicPr>
          <p:cNvPr descr="HD-ShadowShort.png" id="91" name="Google Shape;91;p9"/>
          <p:cNvPicPr preferRelativeResize="0"/>
          <p:nvPr/>
        </p:nvPicPr>
        <p:blipFill rotWithShape="1">
          <a:blip r:embed="rId2">
            <a:alphaModFix/>
          </a:blip>
          <a:srcRect b="0" l="0" r="0" t="0"/>
          <a:stretch/>
        </p:blipFill>
        <p:spPr>
          <a:xfrm>
            <a:off x="10585826" y="1971234"/>
            <a:ext cx="1602997" cy="144270"/>
          </a:xfrm>
          <a:prstGeom prst="rect">
            <a:avLst/>
          </a:prstGeom>
          <a:noFill/>
          <a:ln>
            <a:noFill/>
          </a:ln>
        </p:spPr>
      </p:pic>
      <p:sp>
        <p:nvSpPr>
          <p:cNvPr id="92" name="Google Shape;92;p9"/>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9"/>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9"/>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pic>
        <p:nvPicPr>
          <p:cNvPr descr="HD-ShadowLong.png" id="97" name="Google Shape;97;p10"/>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98" name="Google Shape;98;p10"/>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99" name="Google Shape;99;p10"/>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0"/>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0"/>
          <p:cNvSpPr txBox="1"/>
          <p:nvPr>
            <p:ph type="title"/>
          </p:nvPr>
        </p:nvSpPr>
        <p:spPr>
          <a:xfrm>
            <a:off x="680323" y="753228"/>
            <a:ext cx="9613857"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600"/>
              <a:buFont typeface="Trebuchet M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0"/>
          <p:cNvSpPr/>
          <p:nvPr>
            <p:ph idx="2" type="pic"/>
          </p:nvPr>
        </p:nvSpPr>
        <p:spPr>
          <a:xfrm>
            <a:off x="4868333" y="2336874"/>
            <a:ext cx="5425849" cy="3599312"/>
          </a:xfrm>
          <a:prstGeom prst="rect">
            <a:avLst/>
          </a:prstGeom>
          <a:noFill/>
          <a:ln>
            <a:noFill/>
          </a:ln>
          <a:effectLst>
            <a:outerShdw blurRad="76200" rotWithShape="0" algn="tl" dir="5040000" dist="63500">
              <a:srgbClr val="000000">
                <a:alpha val="40784"/>
              </a:srgbClr>
            </a:outerShdw>
          </a:effectLst>
        </p:spPr>
      </p:sp>
      <p:sp>
        <p:nvSpPr>
          <p:cNvPr id="103" name="Google Shape;103;p10"/>
          <p:cNvSpPr txBox="1"/>
          <p:nvPr>
            <p:ph idx="1" type="body"/>
          </p:nvPr>
        </p:nvSpPr>
        <p:spPr>
          <a:xfrm>
            <a:off x="680323" y="2336873"/>
            <a:ext cx="3876256" cy="3599315"/>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04" name="Google Shape;104;p10"/>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0"/>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0"/>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07" name="Shape 107"/>
        <p:cNvGrpSpPr/>
        <p:nvPr/>
      </p:nvGrpSpPr>
      <p:grpSpPr>
        <a:xfrm>
          <a:off x="0" y="0"/>
          <a:ext cx="0" cy="0"/>
          <a:chOff x="0" y="0"/>
          <a:chExt cx="0" cy="0"/>
        </a:xfrm>
      </p:grpSpPr>
      <p:pic>
        <p:nvPicPr>
          <p:cNvPr descr="HD-ShadowLong.png" id="108" name="Google Shape;108;p11"/>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09" name="Google Shape;109;p11"/>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10" name="Google Shape;110;p11"/>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txBox="1"/>
          <p:nvPr>
            <p:ph type="title"/>
          </p:nvPr>
        </p:nvSpPr>
        <p:spPr>
          <a:xfrm>
            <a:off x="680322" y="4711616"/>
            <a:ext cx="9613859" cy="45305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400"/>
              <a:buFont typeface="Trebuchet M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1"/>
          <p:cNvSpPr/>
          <p:nvPr>
            <p:ph idx="2" type="pic"/>
          </p:nvPr>
        </p:nvSpPr>
        <p:spPr>
          <a:xfrm>
            <a:off x="680322" y="609597"/>
            <a:ext cx="9613859" cy="3589575"/>
          </a:xfrm>
          <a:prstGeom prst="rect">
            <a:avLst/>
          </a:prstGeom>
          <a:noFill/>
          <a:ln>
            <a:noFill/>
          </a:ln>
          <a:effectLst>
            <a:outerShdw blurRad="76200" rotWithShape="0" algn="tl" dir="5040000" dist="63500">
              <a:srgbClr val="000000">
                <a:alpha val="40784"/>
              </a:srgbClr>
            </a:outerShdw>
          </a:effectLst>
        </p:spPr>
      </p:sp>
      <p:sp>
        <p:nvSpPr>
          <p:cNvPr id="114" name="Google Shape;114;p11"/>
          <p:cNvSpPr txBox="1"/>
          <p:nvPr>
            <p:ph idx="1" type="body"/>
          </p:nvPr>
        </p:nvSpPr>
        <p:spPr>
          <a:xfrm>
            <a:off x="680319" y="5169583"/>
            <a:ext cx="9613862" cy="62297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5" name="Google Shape;115;p1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1"/>
          <p:cNvSpPr txBox="1"/>
          <p:nvPr>
            <p:ph idx="12" type="sldNum"/>
          </p:nvPr>
        </p:nvSpPr>
        <p:spPr>
          <a:xfrm>
            <a:off x="10729455" y="4711309"/>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8" name="Shape 118"/>
        <p:cNvGrpSpPr/>
        <p:nvPr/>
      </p:nvGrpSpPr>
      <p:grpSpPr>
        <a:xfrm>
          <a:off x="0" y="0"/>
          <a:ext cx="0" cy="0"/>
          <a:chOff x="0" y="0"/>
          <a:chExt cx="0" cy="0"/>
        </a:xfrm>
      </p:grpSpPr>
      <p:pic>
        <p:nvPicPr>
          <p:cNvPr descr="HD-ShadowLong.png" id="119" name="Google Shape;119;p12"/>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20" name="Google Shape;120;p12"/>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21" name="Google Shape;121;p12"/>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2"/>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2"/>
          <p:cNvSpPr txBox="1"/>
          <p:nvPr>
            <p:ph type="title"/>
          </p:nvPr>
        </p:nvSpPr>
        <p:spPr>
          <a:xfrm>
            <a:off x="680322" y="609597"/>
            <a:ext cx="9613858" cy="359275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12"/>
          <p:cNvSpPr txBox="1"/>
          <p:nvPr>
            <p:ph idx="1"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25" name="Google Shape;125;p12"/>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2"/>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2"/>
          <p:cNvSpPr txBox="1"/>
          <p:nvPr>
            <p:ph idx="12" type="sldNum"/>
          </p:nvPr>
        </p:nvSpPr>
        <p:spPr>
          <a:xfrm>
            <a:off x="10729455" y="471161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28" name="Shape 128"/>
        <p:cNvGrpSpPr/>
        <p:nvPr/>
      </p:nvGrpSpPr>
      <p:grpSpPr>
        <a:xfrm>
          <a:off x="0" y="0"/>
          <a:ext cx="0" cy="0"/>
          <a:chOff x="0" y="0"/>
          <a:chExt cx="0" cy="0"/>
        </a:xfrm>
      </p:grpSpPr>
      <p:pic>
        <p:nvPicPr>
          <p:cNvPr descr="HD-ShadowLong.png" id="129" name="Google Shape;129;p13"/>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30" name="Google Shape;130;p13"/>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31" name="Google Shape;131;p13"/>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txBox="1"/>
          <p:nvPr>
            <p:ph type="title"/>
          </p:nvPr>
        </p:nvSpPr>
        <p:spPr>
          <a:xfrm>
            <a:off x="1127856" y="609598"/>
            <a:ext cx="8718877" cy="30360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4" name="Google Shape;134;p13"/>
          <p:cNvSpPr txBox="1"/>
          <p:nvPr>
            <p:ph idx="1" type="body"/>
          </p:nvPr>
        </p:nvSpPr>
        <p:spPr>
          <a:xfrm>
            <a:off x="1402288" y="3653379"/>
            <a:ext cx="815657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5" name="Google Shape;135;p13"/>
          <p:cNvSpPr txBox="1"/>
          <p:nvPr>
            <p:ph idx="2" type="body"/>
          </p:nvPr>
        </p:nvSpPr>
        <p:spPr>
          <a:xfrm>
            <a:off x="680322" y="4711615"/>
            <a:ext cx="9613859" cy="1090789"/>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36" name="Google Shape;136;p13"/>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3"/>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3"/>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
        <p:nvSpPr>
          <p:cNvPr id="139" name="Google Shape;139;p13"/>
          <p:cNvSpPr txBox="1"/>
          <p:nvPr/>
        </p:nvSpPr>
        <p:spPr>
          <a:xfrm>
            <a:off x="583572" y="74811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7200"/>
              <a:buFont typeface="Trebuchet MS"/>
              <a:buNone/>
            </a:pPr>
            <a:r>
              <a:rPr b="0" lang="en-US" sz="7200" cap="none">
                <a:solidFill>
                  <a:schemeClr val="lt1"/>
                </a:solidFill>
                <a:latin typeface="Trebuchet MS"/>
                <a:ea typeface="Trebuchet MS"/>
                <a:cs typeface="Trebuchet MS"/>
                <a:sym typeface="Trebuchet MS"/>
              </a:rPr>
              <a:t>“</a:t>
            </a:r>
            <a:endParaRPr/>
          </a:p>
        </p:txBody>
      </p:sp>
      <p:sp>
        <p:nvSpPr>
          <p:cNvPr id="140" name="Google Shape;140;p13"/>
          <p:cNvSpPr txBox="1"/>
          <p:nvPr/>
        </p:nvSpPr>
        <p:spPr>
          <a:xfrm>
            <a:off x="9662809" y="303352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7200"/>
              <a:buFont typeface="Trebuchet MS"/>
              <a:buNone/>
            </a:pPr>
            <a:r>
              <a:rPr b="0" lang="en-US" sz="7200" cap="none">
                <a:solidFill>
                  <a:schemeClr val="lt1"/>
                </a:solidFill>
                <a:latin typeface="Trebuchet MS"/>
                <a:ea typeface="Trebuchet MS"/>
                <a:cs typeface="Trebuchet MS"/>
                <a:sym typeface="Trebuchet MS"/>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41" name="Shape 141"/>
        <p:cNvGrpSpPr/>
        <p:nvPr/>
      </p:nvGrpSpPr>
      <p:grpSpPr>
        <a:xfrm>
          <a:off x="0" y="0"/>
          <a:ext cx="0" cy="0"/>
          <a:chOff x="0" y="0"/>
          <a:chExt cx="0" cy="0"/>
        </a:xfrm>
      </p:grpSpPr>
      <p:pic>
        <p:nvPicPr>
          <p:cNvPr descr="HD-ShadowLong.png" id="142" name="Google Shape;142;p14"/>
          <p:cNvPicPr preferRelativeResize="0"/>
          <p:nvPr/>
        </p:nvPicPr>
        <p:blipFill rotWithShape="1">
          <a:blip r:embed="rId2">
            <a:alphaModFix/>
          </a:blip>
          <a:srcRect b="0" l="0" r="0" t="0"/>
          <a:stretch/>
        </p:blipFill>
        <p:spPr>
          <a:xfrm>
            <a:off x="1" y="5928628"/>
            <a:ext cx="10437812" cy="321164"/>
          </a:xfrm>
          <a:prstGeom prst="rect">
            <a:avLst/>
          </a:prstGeom>
          <a:noFill/>
          <a:ln>
            <a:noFill/>
          </a:ln>
        </p:spPr>
      </p:pic>
      <p:pic>
        <p:nvPicPr>
          <p:cNvPr descr="HD-ShadowShort.png" id="143" name="Google Shape;143;p14"/>
          <p:cNvPicPr preferRelativeResize="0"/>
          <p:nvPr/>
        </p:nvPicPr>
        <p:blipFill rotWithShape="1">
          <a:blip r:embed="rId3">
            <a:alphaModFix/>
          </a:blip>
          <a:srcRect b="0" l="0" r="0" t="0"/>
          <a:stretch/>
        </p:blipFill>
        <p:spPr>
          <a:xfrm>
            <a:off x="10585826" y="5929622"/>
            <a:ext cx="1602997" cy="144270"/>
          </a:xfrm>
          <a:prstGeom prst="rect">
            <a:avLst/>
          </a:prstGeom>
          <a:noFill/>
          <a:ln>
            <a:noFill/>
          </a:ln>
        </p:spPr>
      </p:pic>
      <p:sp>
        <p:nvSpPr>
          <p:cNvPr id="144" name="Google Shape;144;p14"/>
          <p:cNvSpPr/>
          <p:nvPr/>
        </p:nvSpPr>
        <p:spPr>
          <a:xfrm>
            <a:off x="0" y="4567988"/>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10585827" y="456798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txBox="1"/>
          <p:nvPr>
            <p:ph type="title"/>
          </p:nvPr>
        </p:nvSpPr>
        <p:spPr>
          <a:xfrm>
            <a:off x="680319" y="4711615"/>
            <a:ext cx="9613862" cy="5885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Trebuchet M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14"/>
          <p:cNvSpPr txBox="1"/>
          <p:nvPr>
            <p:ph idx="1" type="body"/>
          </p:nvPr>
        </p:nvSpPr>
        <p:spPr>
          <a:xfrm>
            <a:off x="680320" y="5300149"/>
            <a:ext cx="9613862" cy="50225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48" name="Google Shape;148;p14"/>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4"/>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4"/>
          <p:cNvSpPr txBox="1"/>
          <p:nvPr>
            <p:ph idx="12" type="sldNum"/>
          </p:nvPr>
        </p:nvSpPr>
        <p:spPr>
          <a:xfrm>
            <a:off x="10729455" y="4709925"/>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51" name="Shape 151"/>
        <p:cNvGrpSpPr/>
        <p:nvPr/>
      </p:nvGrpSpPr>
      <p:grpSpPr>
        <a:xfrm>
          <a:off x="0" y="0"/>
          <a:ext cx="0" cy="0"/>
          <a:chOff x="0" y="0"/>
          <a:chExt cx="0" cy="0"/>
        </a:xfrm>
      </p:grpSpPr>
      <p:pic>
        <p:nvPicPr>
          <p:cNvPr descr="HD-ShadowLong.png" id="152" name="Google Shape;152;p15"/>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53" name="Google Shape;153;p15"/>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54" name="Google Shape;154;p15"/>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txBox="1"/>
          <p:nvPr>
            <p:ph type="title"/>
          </p:nvPr>
        </p:nvSpPr>
        <p:spPr>
          <a:xfrm>
            <a:off x="669222" y="753228"/>
            <a:ext cx="96249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15"/>
          <p:cNvSpPr txBox="1"/>
          <p:nvPr>
            <p:ph idx="1" type="body"/>
          </p:nvPr>
        </p:nvSpPr>
        <p:spPr>
          <a:xfrm>
            <a:off x="660946" y="2336873"/>
            <a:ext cx="3070034"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58" name="Google Shape;158;p15"/>
          <p:cNvSpPr txBox="1"/>
          <p:nvPr>
            <p:ph idx="2" type="body"/>
          </p:nvPr>
        </p:nvSpPr>
        <p:spPr>
          <a:xfrm>
            <a:off x="680322" y="3022673"/>
            <a:ext cx="3049702"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59" name="Google Shape;159;p15"/>
          <p:cNvSpPr txBox="1"/>
          <p:nvPr>
            <p:ph idx="3" type="body"/>
          </p:nvPr>
        </p:nvSpPr>
        <p:spPr>
          <a:xfrm>
            <a:off x="3956025" y="233687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0" name="Google Shape;160;p15"/>
          <p:cNvSpPr txBox="1"/>
          <p:nvPr>
            <p:ph idx="4" type="body"/>
          </p:nvPr>
        </p:nvSpPr>
        <p:spPr>
          <a:xfrm>
            <a:off x="3945470" y="3022673"/>
            <a:ext cx="3063240"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61" name="Google Shape;161;p15"/>
          <p:cNvSpPr txBox="1"/>
          <p:nvPr>
            <p:ph idx="5" type="body"/>
          </p:nvPr>
        </p:nvSpPr>
        <p:spPr>
          <a:xfrm>
            <a:off x="7224156" y="2336873"/>
            <a:ext cx="307002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62" name="Google Shape;162;p15"/>
          <p:cNvSpPr txBox="1"/>
          <p:nvPr>
            <p:ph idx="6" type="body"/>
          </p:nvPr>
        </p:nvSpPr>
        <p:spPr>
          <a:xfrm>
            <a:off x="7224156" y="3022673"/>
            <a:ext cx="3070025" cy="291351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63" name="Google Shape;163;p15"/>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5"/>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5"/>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66" name="Shape 166"/>
        <p:cNvGrpSpPr/>
        <p:nvPr/>
      </p:nvGrpSpPr>
      <p:grpSpPr>
        <a:xfrm>
          <a:off x="0" y="0"/>
          <a:ext cx="0" cy="0"/>
          <a:chOff x="0" y="0"/>
          <a:chExt cx="0" cy="0"/>
        </a:xfrm>
      </p:grpSpPr>
      <p:pic>
        <p:nvPicPr>
          <p:cNvPr descr="HD-ShadowLong.png" id="167" name="Google Shape;167;p16"/>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68" name="Google Shape;168;p16"/>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69" name="Google Shape;169;p16"/>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6"/>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6"/>
          <p:cNvSpPr txBox="1"/>
          <p:nvPr>
            <p:ph type="title"/>
          </p:nvPr>
        </p:nvSpPr>
        <p:spPr>
          <a:xfrm>
            <a:off x="680322" y="753228"/>
            <a:ext cx="9613860" cy="108093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16"/>
          <p:cNvSpPr txBox="1"/>
          <p:nvPr>
            <p:ph idx="1" type="body"/>
          </p:nvPr>
        </p:nvSpPr>
        <p:spPr>
          <a:xfrm>
            <a:off x="680318" y="4297503"/>
            <a:ext cx="30497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3" name="Google Shape;173;p16"/>
          <p:cNvSpPr/>
          <p:nvPr>
            <p:ph idx="2" type="pic"/>
          </p:nvPr>
        </p:nvSpPr>
        <p:spPr>
          <a:xfrm>
            <a:off x="680318" y="2336873"/>
            <a:ext cx="30497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4" name="Google Shape;174;p16"/>
          <p:cNvSpPr txBox="1"/>
          <p:nvPr>
            <p:ph idx="3" type="body"/>
          </p:nvPr>
        </p:nvSpPr>
        <p:spPr>
          <a:xfrm>
            <a:off x="680318" y="4873765"/>
            <a:ext cx="3049705"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5" name="Google Shape;175;p16"/>
          <p:cNvSpPr txBox="1"/>
          <p:nvPr>
            <p:ph idx="4" type="body"/>
          </p:nvPr>
        </p:nvSpPr>
        <p:spPr>
          <a:xfrm>
            <a:off x="3945471" y="4297503"/>
            <a:ext cx="3063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6" name="Google Shape;176;p16"/>
          <p:cNvSpPr/>
          <p:nvPr>
            <p:ph idx="5" type="pic"/>
          </p:nvPr>
        </p:nvSpPr>
        <p:spPr>
          <a:xfrm>
            <a:off x="3945470" y="2336873"/>
            <a:ext cx="3063240"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77" name="Google Shape;177;p16"/>
          <p:cNvSpPr txBox="1"/>
          <p:nvPr>
            <p:ph idx="6" type="body"/>
          </p:nvPr>
        </p:nvSpPr>
        <p:spPr>
          <a:xfrm>
            <a:off x="3944117" y="4873764"/>
            <a:ext cx="3067297"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78" name="Google Shape;178;p16"/>
          <p:cNvSpPr txBox="1"/>
          <p:nvPr>
            <p:ph idx="7" type="body"/>
          </p:nvPr>
        </p:nvSpPr>
        <p:spPr>
          <a:xfrm>
            <a:off x="7230678" y="4297503"/>
            <a:ext cx="3063505"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79" name="Google Shape;179;p16"/>
          <p:cNvSpPr/>
          <p:nvPr>
            <p:ph idx="8" type="pic"/>
          </p:nvPr>
        </p:nvSpPr>
        <p:spPr>
          <a:xfrm>
            <a:off x="7230677" y="2336873"/>
            <a:ext cx="3063505"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80" name="Google Shape;180;p16"/>
          <p:cNvSpPr txBox="1"/>
          <p:nvPr>
            <p:ph idx="9" type="body"/>
          </p:nvPr>
        </p:nvSpPr>
        <p:spPr>
          <a:xfrm>
            <a:off x="7230553" y="4873762"/>
            <a:ext cx="3067563" cy="106242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81" name="Google Shape;181;p16"/>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16"/>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6"/>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84" name="Shape 184"/>
        <p:cNvGrpSpPr/>
        <p:nvPr/>
      </p:nvGrpSpPr>
      <p:grpSpPr>
        <a:xfrm>
          <a:off x="0" y="0"/>
          <a:ext cx="0" cy="0"/>
          <a:chOff x="0" y="0"/>
          <a:chExt cx="0" cy="0"/>
        </a:xfrm>
      </p:grpSpPr>
      <p:pic>
        <p:nvPicPr>
          <p:cNvPr descr="HD-ShadowLong.png" id="185" name="Google Shape;185;p17"/>
          <p:cNvPicPr preferRelativeResize="0"/>
          <p:nvPr/>
        </p:nvPicPr>
        <p:blipFill rotWithShape="1">
          <a:blip r:embed="rId2">
            <a:alphaModFix/>
          </a:blip>
          <a:srcRect b="0" l="0" r="0" t="0"/>
          <a:stretch/>
        </p:blipFill>
        <p:spPr>
          <a:xfrm>
            <a:off x="1" y="1970240"/>
            <a:ext cx="10437812" cy="321164"/>
          </a:xfrm>
          <a:prstGeom prst="rect">
            <a:avLst/>
          </a:prstGeom>
          <a:noFill/>
          <a:ln>
            <a:noFill/>
          </a:ln>
        </p:spPr>
      </p:pic>
      <p:pic>
        <p:nvPicPr>
          <p:cNvPr descr="HD-ShadowShort.png" id="186" name="Google Shape;186;p17"/>
          <p:cNvPicPr preferRelativeResize="0"/>
          <p:nvPr/>
        </p:nvPicPr>
        <p:blipFill rotWithShape="1">
          <a:blip r:embed="rId3">
            <a:alphaModFix/>
          </a:blip>
          <a:srcRect b="0" l="0" r="0" t="0"/>
          <a:stretch/>
        </p:blipFill>
        <p:spPr>
          <a:xfrm>
            <a:off x="10585826" y="1971234"/>
            <a:ext cx="1602997" cy="144270"/>
          </a:xfrm>
          <a:prstGeom prst="rect">
            <a:avLst/>
          </a:prstGeom>
          <a:noFill/>
          <a:ln>
            <a:noFill/>
          </a:ln>
        </p:spPr>
      </p:pic>
      <p:sp>
        <p:nvSpPr>
          <p:cNvPr id="187" name="Google Shape;187;p1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7"/>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3600"/>
              <a:buFont typeface="Trebuchet M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17"/>
          <p:cNvSpPr txBox="1"/>
          <p:nvPr>
            <p:ph idx="1" type="body"/>
          </p:nvPr>
        </p:nvSpPr>
        <p:spPr>
          <a:xfrm rot="5400000">
            <a:off x="3687594" y="-670400"/>
            <a:ext cx="3599316" cy="961386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1" name="Google Shape;191;p17"/>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7"/>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17"/>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94" name="Shape 194"/>
        <p:cNvGrpSpPr/>
        <p:nvPr/>
      </p:nvGrpSpPr>
      <p:grpSpPr>
        <a:xfrm>
          <a:off x="0" y="0"/>
          <a:ext cx="0" cy="0"/>
          <a:chOff x="0" y="0"/>
          <a:chExt cx="0" cy="0"/>
        </a:xfrm>
      </p:grpSpPr>
      <p:sp>
        <p:nvSpPr>
          <p:cNvPr id="195" name="Google Shape;195;p18"/>
          <p:cNvSpPr/>
          <p:nvPr/>
        </p:nvSpPr>
        <p:spPr>
          <a:xfrm rot="5400000">
            <a:off x="8116207" y="1869395"/>
            <a:ext cx="5106988"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8"/>
          <p:cNvSpPr/>
          <p:nvPr/>
        </p:nvSpPr>
        <p:spPr>
          <a:xfrm rot="5400000">
            <a:off x="9868202" y="5372403"/>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8"/>
          <p:cNvSpPr txBox="1"/>
          <p:nvPr>
            <p:ph type="title"/>
          </p:nvPr>
        </p:nvSpPr>
        <p:spPr>
          <a:xfrm rot="5400000">
            <a:off x="8489252" y="2249576"/>
            <a:ext cx="4353760" cy="10738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18"/>
          <p:cNvSpPr txBox="1"/>
          <p:nvPr>
            <p:ph idx="1" type="body"/>
          </p:nvPr>
        </p:nvSpPr>
        <p:spPr>
          <a:xfrm rot="5400000">
            <a:off x="2452030" y="-1162110"/>
            <a:ext cx="5326589" cy="887000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9" name="Google Shape;199;p18"/>
          <p:cNvSpPr txBox="1"/>
          <p:nvPr>
            <p:ph idx="10" type="dt"/>
          </p:nvPr>
        </p:nvSpPr>
        <p:spPr>
          <a:xfrm>
            <a:off x="6807126" y="593618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18"/>
          <p:cNvSpPr txBox="1"/>
          <p:nvPr>
            <p:ph idx="11" type="ftr"/>
          </p:nvPr>
        </p:nvSpPr>
        <p:spPr>
          <a:xfrm>
            <a:off x="680321" y="5936188"/>
            <a:ext cx="612680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8"/>
          <p:cNvSpPr txBox="1"/>
          <p:nvPr>
            <p:ph idx="12" type="sldNum"/>
          </p:nvPr>
        </p:nvSpPr>
        <p:spPr>
          <a:xfrm>
            <a:off x="10097550" y="5398633"/>
            <a:ext cx="1154151" cy="1090789"/>
          </a:xfrm>
          <a:prstGeom prst="rect">
            <a:avLst/>
          </a:prstGeom>
          <a:noFill/>
          <a:ln>
            <a:noFill/>
          </a:ln>
        </p:spPr>
        <p:txBody>
          <a:bodyPr anchorCtr="0" anchor="t" bIns="45700" lIns="91425" spcFirstLastPara="1" rIns="91425" wrap="square" tIns="45700">
            <a:noAutofit/>
          </a:bodyPr>
          <a:lstStyle>
            <a:lvl1pPr indent="0" lvl="0" marL="0" algn="ctr">
              <a:spcBef>
                <a:spcPts val="0"/>
              </a:spcBef>
              <a:buNone/>
              <a:defRPr sz="3600">
                <a:solidFill>
                  <a:schemeClr val="lt1"/>
                </a:solidFill>
                <a:latin typeface="Trebuchet MS"/>
                <a:ea typeface="Trebuchet MS"/>
                <a:cs typeface="Trebuchet MS"/>
                <a:sym typeface="Trebuchet MS"/>
              </a:defRPr>
            </a:lvl1pPr>
            <a:lvl2pPr indent="0" lvl="1" marL="0" algn="ctr">
              <a:spcBef>
                <a:spcPts val="0"/>
              </a:spcBef>
              <a:buNone/>
              <a:defRPr sz="3600">
                <a:solidFill>
                  <a:schemeClr val="lt1"/>
                </a:solidFill>
                <a:latin typeface="Trebuchet MS"/>
                <a:ea typeface="Trebuchet MS"/>
                <a:cs typeface="Trebuchet MS"/>
                <a:sym typeface="Trebuchet MS"/>
              </a:defRPr>
            </a:lvl2pPr>
            <a:lvl3pPr indent="0" lvl="2" marL="0" algn="ctr">
              <a:spcBef>
                <a:spcPts val="0"/>
              </a:spcBef>
              <a:buNone/>
              <a:defRPr sz="3600">
                <a:solidFill>
                  <a:schemeClr val="lt1"/>
                </a:solidFill>
                <a:latin typeface="Trebuchet MS"/>
                <a:ea typeface="Trebuchet MS"/>
                <a:cs typeface="Trebuchet MS"/>
                <a:sym typeface="Trebuchet MS"/>
              </a:defRPr>
            </a:lvl3pPr>
            <a:lvl4pPr indent="0" lvl="3" marL="0" algn="ctr">
              <a:spcBef>
                <a:spcPts val="0"/>
              </a:spcBef>
              <a:buNone/>
              <a:defRPr sz="3600">
                <a:solidFill>
                  <a:schemeClr val="lt1"/>
                </a:solidFill>
                <a:latin typeface="Trebuchet MS"/>
                <a:ea typeface="Trebuchet MS"/>
                <a:cs typeface="Trebuchet MS"/>
                <a:sym typeface="Trebuchet MS"/>
              </a:defRPr>
            </a:lvl4pPr>
            <a:lvl5pPr indent="0" lvl="4" marL="0" algn="ctr">
              <a:spcBef>
                <a:spcPts val="0"/>
              </a:spcBef>
              <a:buNone/>
              <a:defRPr sz="3600">
                <a:solidFill>
                  <a:schemeClr val="lt1"/>
                </a:solidFill>
                <a:latin typeface="Trebuchet MS"/>
                <a:ea typeface="Trebuchet MS"/>
                <a:cs typeface="Trebuchet MS"/>
                <a:sym typeface="Trebuchet MS"/>
              </a:defRPr>
            </a:lvl5pPr>
            <a:lvl6pPr indent="0" lvl="5" marL="0" algn="ctr">
              <a:spcBef>
                <a:spcPts val="0"/>
              </a:spcBef>
              <a:buNone/>
              <a:defRPr sz="3600">
                <a:solidFill>
                  <a:schemeClr val="lt1"/>
                </a:solidFill>
                <a:latin typeface="Trebuchet MS"/>
                <a:ea typeface="Trebuchet MS"/>
                <a:cs typeface="Trebuchet MS"/>
                <a:sym typeface="Trebuchet MS"/>
              </a:defRPr>
            </a:lvl6pPr>
            <a:lvl7pPr indent="0" lvl="6" marL="0" algn="ctr">
              <a:spcBef>
                <a:spcPts val="0"/>
              </a:spcBef>
              <a:buNone/>
              <a:defRPr sz="3600">
                <a:solidFill>
                  <a:schemeClr val="lt1"/>
                </a:solidFill>
                <a:latin typeface="Trebuchet MS"/>
                <a:ea typeface="Trebuchet MS"/>
                <a:cs typeface="Trebuchet MS"/>
                <a:sym typeface="Trebuchet MS"/>
              </a:defRPr>
            </a:lvl7pPr>
            <a:lvl8pPr indent="0" lvl="7" marL="0" algn="ctr">
              <a:spcBef>
                <a:spcPts val="0"/>
              </a:spcBef>
              <a:buNone/>
              <a:defRPr sz="3600">
                <a:solidFill>
                  <a:schemeClr val="lt1"/>
                </a:solidFill>
                <a:latin typeface="Trebuchet MS"/>
                <a:ea typeface="Trebuchet MS"/>
                <a:cs typeface="Trebuchet MS"/>
                <a:sym typeface="Trebuchet MS"/>
              </a:defRPr>
            </a:lvl8pPr>
            <a:lvl9pPr indent="0" lvl="8" marL="0" algn="ctr">
              <a:spcBef>
                <a:spcPts val="0"/>
              </a:spcBef>
              <a:buNone/>
              <a:defRPr sz="3600">
                <a:solidFill>
                  <a:schemeClr val="lt1"/>
                </a:solidFill>
                <a:latin typeface="Trebuchet MS"/>
                <a:ea typeface="Trebuchet MS"/>
                <a:cs typeface="Trebuchet MS"/>
                <a:sym typeface="Trebuchet MS"/>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9" name="Shape 9"/>
        <p:cNvGrpSpPr/>
        <p:nvPr/>
      </p:nvGrpSpPr>
      <p:grpSpPr>
        <a:xfrm>
          <a:off x="0" y="0"/>
          <a:ext cx="0" cy="0"/>
          <a:chOff x="0" y="0"/>
          <a:chExt cx="0" cy="0"/>
        </a:xfrm>
      </p:grpSpPr>
      <p:pic>
        <p:nvPicPr>
          <p:cNvPr descr="hashOverlay-FullResolve.png" id="10" name="Google Shape;10;p1"/>
          <p:cNvPicPr preferRelativeResize="0"/>
          <p:nvPr/>
        </p:nvPicPr>
        <p:blipFill rotWithShape="1">
          <a:blip r:embed="rId1">
            <a:alphaModFix amt="10000"/>
          </a:blip>
          <a:srcRect b="0" l="0" r="0" t="0"/>
          <a:stretch/>
        </p:blipFill>
        <p:spPr>
          <a:xfrm>
            <a:off x="0" y="0"/>
            <a:ext cx="12192000" cy="6858000"/>
          </a:xfrm>
          <a:prstGeom prst="rect">
            <a:avLst/>
          </a:prstGeom>
          <a:noFill/>
          <a:ln>
            <a:noFill/>
          </a:ln>
        </p:spPr>
      </p:pic>
      <p:sp>
        <p:nvSpPr>
          <p:cNvPr id="11" name="Google Shape;11;p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3600"/>
              <a:buFont typeface="Trebuchet MS"/>
              <a:buNone/>
              <a:defRPr b="0" i="0" sz="3600" u="none" cap="none" strike="noStrike">
                <a:solidFill>
                  <a:schemeClr val="lt1"/>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680321" y="2336873"/>
            <a:ext cx="9613861" cy="3599316"/>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lt1"/>
              </a:buClr>
              <a:buSzPts val="2400"/>
              <a:buFont typeface="Arial"/>
              <a:buChar char="•"/>
              <a:defRPr b="0" i="0" sz="2400" u="none" cap="none" strike="noStrike">
                <a:solidFill>
                  <a:schemeClr val="lt1"/>
                </a:solidFill>
                <a:latin typeface="Trebuchet MS"/>
                <a:ea typeface="Trebuchet MS"/>
                <a:cs typeface="Trebuchet MS"/>
                <a:sym typeface="Trebuchet MS"/>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Trebuchet MS"/>
                <a:ea typeface="Trebuchet MS"/>
                <a:cs typeface="Trebuchet MS"/>
                <a:sym typeface="Trebuchet MS"/>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Trebuchet MS"/>
                <a:ea typeface="Trebuchet MS"/>
                <a:cs typeface="Trebuchet MS"/>
                <a:sym typeface="Trebuchet MS"/>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Trebuchet MS"/>
                <a:ea typeface="Trebuchet MS"/>
                <a:cs typeface="Trebuchet MS"/>
                <a:sym typeface="Trebuchet MS"/>
              </a:defRPr>
            </a:lvl5pPr>
            <a:lvl6pPr indent="-317500" lvl="5" marL="27432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6pPr>
            <a:lvl7pPr indent="-317500" lvl="6" marL="32004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7pPr>
            <a:lvl8pPr indent="-317500" lvl="7" marL="36576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8pPr>
            <a:lvl9pPr indent="-317500" lvl="8" marL="4114800" marR="0" rtl="0" algn="l">
              <a:lnSpc>
                <a:spcPct val="90000"/>
              </a:lnSpc>
              <a:spcBef>
                <a:spcPts val="500"/>
              </a:spcBef>
              <a:spcAft>
                <a:spcPts val="0"/>
              </a:spcAft>
              <a:buClr>
                <a:schemeClr val="lt1"/>
              </a:buClr>
              <a:buSzPts val="1400"/>
              <a:buFont typeface="Arial"/>
              <a:buChar char="•"/>
              <a:defRPr b="0" i="0" sz="1400" u="none" cap="none" strike="noStrike">
                <a:solidFill>
                  <a:schemeClr val="lt1"/>
                </a:solidFill>
                <a:latin typeface="Trebuchet MS"/>
                <a:ea typeface="Trebuchet MS"/>
                <a:cs typeface="Trebuchet MS"/>
                <a:sym typeface="Trebuchet MS"/>
              </a:defRPr>
            </a:lvl9pPr>
          </a:lstStyle>
          <a:p/>
        </p:txBody>
      </p:sp>
      <p:sp>
        <p:nvSpPr>
          <p:cNvPr id="13" name="Google Shape;13;p1"/>
          <p:cNvSpPr txBox="1"/>
          <p:nvPr>
            <p:ph idx="10" type="dt"/>
          </p:nvPr>
        </p:nvSpPr>
        <p:spPr>
          <a:xfrm>
            <a:off x="7550981" y="5936187"/>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4" name="Google Shape;14;p1"/>
          <p:cNvSpPr txBox="1"/>
          <p:nvPr>
            <p:ph idx="11" type="ftr"/>
          </p:nvPr>
        </p:nvSpPr>
        <p:spPr>
          <a:xfrm>
            <a:off x="680321" y="5936188"/>
            <a:ext cx="687066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lt1"/>
                </a:solidFill>
                <a:latin typeface="Trebuchet MS"/>
                <a:ea typeface="Trebuchet MS"/>
                <a:cs typeface="Trebuchet MS"/>
                <a:sym typeface="Trebuchet MS"/>
              </a:defRPr>
            </a:lvl9pPr>
          </a:lstStyle>
          <a:p/>
        </p:txBody>
      </p:sp>
      <p:sp>
        <p:nvSpPr>
          <p:cNvPr id="15" name="Google Shape;15;p1"/>
          <p:cNvSpPr txBox="1"/>
          <p:nvPr>
            <p:ph idx="12" type="sldNum"/>
          </p:nvPr>
        </p:nvSpPr>
        <p:spPr>
          <a:xfrm>
            <a:off x="10729455" y="753227"/>
            <a:ext cx="1154151" cy="1090789"/>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3600" u="none" cap="none" strike="noStrike">
                <a:solidFill>
                  <a:schemeClr val="lt1"/>
                </a:solidFill>
                <a:latin typeface="Trebuchet MS"/>
                <a:ea typeface="Trebuchet MS"/>
                <a:cs typeface="Trebuchet MS"/>
                <a:sym typeface="Trebuchet MS"/>
              </a:defRPr>
            </a:lvl1pPr>
            <a:lvl2pPr indent="0" lvl="1" marL="0" marR="0" rtl="0" algn="l">
              <a:spcBef>
                <a:spcPts val="0"/>
              </a:spcBef>
              <a:buNone/>
              <a:defRPr b="0" i="0" sz="3600" u="none" cap="none" strike="noStrike">
                <a:solidFill>
                  <a:schemeClr val="lt1"/>
                </a:solidFill>
                <a:latin typeface="Trebuchet MS"/>
                <a:ea typeface="Trebuchet MS"/>
                <a:cs typeface="Trebuchet MS"/>
                <a:sym typeface="Trebuchet MS"/>
              </a:defRPr>
            </a:lvl2pPr>
            <a:lvl3pPr indent="0" lvl="2" marL="0" marR="0" rtl="0" algn="l">
              <a:spcBef>
                <a:spcPts val="0"/>
              </a:spcBef>
              <a:buNone/>
              <a:defRPr b="0" i="0" sz="3600" u="none" cap="none" strike="noStrike">
                <a:solidFill>
                  <a:schemeClr val="lt1"/>
                </a:solidFill>
                <a:latin typeface="Trebuchet MS"/>
                <a:ea typeface="Trebuchet MS"/>
                <a:cs typeface="Trebuchet MS"/>
                <a:sym typeface="Trebuchet MS"/>
              </a:defRPr>
            </a:lvl3pPr>
            <a:lvl4pPr indent="0" lvl="3" marL="0" marR="0" rtl="0" algn="l">
              <a:spcBef>
                <a:spcPts val="0"/>
              </a:spcBef>
              <a:buNone/>
              <a:defRPr b="0" i="0" sz="3600" u="none" cap="none" strike="noStrike">
                <a:solidFill>
                  <a:schemeClr val="lt1"/>
                </a:solidFill>
                <a:latin typeface="Trebuchet MS"/>
                <a:ea typeface="Trebuchet MS"/>
                <a:cs typeface="Trebuchet MS"/>
                <a:sym typeface="Trebuchet MS"/>
              </a:defRPr>
            </a:lvl4pPr>
            <a:lvl5pPr indent="0" lvl="4" marL="0" marR="0" rtl="0" algn="l">
              <a:spcBef>
                <a:spcPts val="0"/>
              </a:spcBef>
              <a:buNone/>
              <a:defRPr b="0" i="0" sz="3600" u="none" cap="none" strike="noStrike">
                <a:solidFill>
                  <a:schemeClr val="lt1"/>
                </a:solidFill>
                <a:latin typeface="Trebuchet MS"/>
                <a:ea typeface="Trebuchet MS"/>
                <a:cs typeface="Trebuchet MS"/>
                <a:sym typeface="Trebuchet MS"/>
              </a:defRPr>
            </a:lvl5pPr>
            <a:lvl6pPr indent="0" lvl="5" marL="0" marR="0" rtl="0" algn="l">
              <a:spcBef>
                <a:spcPts val="0"/>
              </a:spcBef>
              <a:buNone/>
              <a:defRPr b="0" i="0" sz="3600" u="none" cap="none" strike="noStrike">
                <a:solidFill>
                  <a:schemeClr val="lt1"/>
                </a:solidFill>
                <a:latin typeface="Trebuchet MS"/>
                <a:ea typeface="Trebuchet MS"/>
                <a:cs typeface="Trebuchet MS"/>
                <a:sym typeface="Trebuchet MS"/>
              </a:defRPr>
            </a:lvl6pPr>
            <a:lvl7pPr indent="0" lvl="6" marL="0" marR="0" rtl="0" algn="l">
              <a:spcBef>
                <a:spcPts val="0"/>
              </a:spcBef>
              <a:buNone/>
              <a:defRPr b="0" i="0" sz="3600" u="none" cap="none" strike="noStrike">
                <a:solidFill>
                  <a:schemeClr val="lt1"/>
                </a:solidFill>
                <a:latin typeface="Trebuchet MS"/>
                <a:ea typeface="Trebuchet MS"/>
                <a:cs typeface="Trebuchet MS"/>
                <a:sym typeface="Trebuchet MS"/>
              </a:defRPr>
            </a:lvl7pPr>
            <a:lvl8pPr indent="0" lvl="7" marL="0" marR="0" rtl="0" algn="l">
              <a:spcBef>
                <a:spcPts val="0"/>
              </a:spcBef>
              <a:buNone/>
              <a:defRPr b="0" i="0" sz="3600" u="none" cap="none" strike="noStrike">
                <a:solidFill>
                  <a:schemeClr val="lt1"/>
                </a:solidFill>
                <a:latin typeface="Trebuchet MS"/>
                <a:ea typeface="Trebuchet MS"/>
                <a:cs typeface="Trebuchet MS"/>
                <a:sym typeface="Trebuchet MS"/>
              </a:defRPr>
            </a:lvl8pPr>
            <a:lvl9pPr indent="0" lvl="8" marL="0" marR="0" rtl="0" algn="l">
              <a:spcBef>
                <a:spcPts val="0"/>
              </a:spcBef>
              <a:buNone/>
              <a:defRPr b="0" i="0" sz="3600" u="none" cap="none" strike="noStrike">
                <a:solidFill>
                  <a:schemeClr val="lt1"/>
                </a:solidFill>
                <a:latin typeface="Trebuchet MS"/>
                <a:ea typeface="Trebuchet MS"/>
                <a:cs typeface="Trebuchet MS"/>
                <a:sym typeface="Trebuchet MS"/>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06" name="Shape 206"/>
        <p:cNvGrpSpPr/>
        <p:nvPr/>
      </p:nvGrpSpPr>
      <p:grpSpPr>
        <a:xfrm>
          <a:off x="0" y="0"/>
          <a:ext cx="0" cy="0"/>
          <a:chOff x="0" y="0"/>
          <a:chExt cx="0" cy="0"/>
        </a:xfrm>
      </p:grpSpPr>
      <p:sp>
        <p:nvSpPr>
          <p:cNvPr id="207" name="Google Shape;207;p19"/>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208" name="Google Shape;208;p19"/>
          <p:cNvSpPr/>
          <p:nvPr/>
        </p:nvSpPr>
        <p:spPr>
          <a:xfrm>
            <a:off x="8123046" y="0"/>
            <a:ext cx="4068954"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p:nvPr/>
        </p:nvSpPr>
        <p:spPr>
          <a:xfrm>
            <a:off x="0" y="0"/>
            <a:ext cx="8968085" cy="6858000"/>
          </a:xfrm>
          <a:prstGeom prst="rect">
            <a:avLst/>
          </a:pr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10" name="Google Shape;210;p19"/>
          <p:cNvSpPr txBox="1"/>
          <p:nvPr>
            <p:ph type="ctrTitle"/>
          </p:nvPr>
        </p:nvSpPr>
        <p:spPr>
          <a:xfrm>
            <a:off x="643467" y="1286929"/>
            <a:ext cx="7674983" cy="4284129"/>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Clr>
                <a:schemeClr val="lt1"/>
              </a:buClr>
              <a:buSzPct val="100000"/>
              <a:buFont typeface="Trebuchet MS"/>
              <a:buNone/>
            </a:pPr>
            <a:r>
              <a:rPr lang="en-US" sz="7400"/>
              <a:t>International Institutions and the Rise of European Nationalism</a:t>
            </a:r>
            <a:endParaRPr/>
          </a:p>
        </p:txBody>
      </p:sp>
      <p:sp>
        <p:nvSpPr>
          <p:cNvPr id="211" name="Google Shape;211;p19"/>
          <p:cNvSpPr txBox="1"/>
          <p:nvPr>
            <p:ph idx="1" type="subTitle"/>
          </p:nvPr>
        </p:nvSpPr>
        <p:spPr>
          <a:xfrm>
            <a:off x="9472027" y="2573871"/>
            <a:ext cx="2216031" cy="428412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chemeClr val="lt1"/>
              </a:buClr>
              <a:buSzPts val="2800"/>
              <a:buNone/>
            </a:pPr>
            <a:r>
              <a:t/>
            </a:r>
            <a:endParaRPr sz="2800">
              <a:solidFill>
                <a:srgbClr val="FFFFFF"/>
              </a:solidFill>
            </a:endParaRPr>
          </a:p>
          <a:p>
            <a:pPr indent="0" lvl="0" marL="0" rtl="0" algn="l">
              <a:lnSpc>
                <a:spcPct val="90000"/>
              </a:lnSpc>
              <a:spcBef>
                <a:spcPts val="1000"/>
              </a:spcBef>
              <a:spcAft>
                <a:spcPts val="0"/>
              </a:spcAft>
              <a:buClr>
                <a:srgbClr val="FFFFFF"/>
              </a:buClr>
              <a:buSzPts val="2800"/>
              <a:buNone/>
            </a:pPr>
            <a:r>
              <a:rPr lang="en-US" sz="2800">
                <a:solidFill>
                  <a:srgbClr val="FFFFFF"/>
                </a:solidFill>
              </a:rPr>
              <a:t>Austin Humphrey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15" name="Shape 215"/>
        <p:cNvGrpSpPr/>
        <p:nvPr/>
      </p:nvGrpSpPr>
      <p:grpSpPr>
        <a:xfrm>
          <a:off x="0" y="0"/>
          <a:ext cx="0" cy="0"/>
          <a:chOff x="0" y="0"/>
          <a:chExt cx="0" cy="0"/>
        </a:xfrm>
      </p:grpSpPr>
      <p:sp>
        <p:nvSpPr>
          <p:cNvPr id="216" name="Google Shape;216;p20"/>
          <p:cNvSpPr/>
          <p:nvPr/>
        </p:nvSpPr>
        <p:spPr>
          <a:xfrm>
            <a:off x="0" y="0"/>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17" name="Google Shape;217;p20"/>
          <p:cNvSpPr/>
          <p:nvPr/>
        </p:nvSpPr>
        <p:spPr>
          <a:xfrm>
            <a:off x="8785632" y="0"/>
            <a:ext cx="340636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 name="Google Shape;218;p20"/>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pic>
        <p:nvPicPr>
          <p:cNvPr id="219" name="Google Shape;219;p20"/>
          <p:cNvPicPr preferRelativeResize="0"/>
          <p:nvPr/>
        </p:nvPicPr>
        <p:blipFill rotWithShape="1">
          <a:blip r:embed="rId4">
            <a:alphaModFix/>
          </a:blip>
          <a:srcRect b="0" l="0" r="0" t="0"/>
          <a:stretch/>
        </p:blipFill>
        <p:spPr>
          <a:xfrm>
            <a:off x="2" y="1959089"/>
            <a:ext cx="9107362" cy="321164"/>
          </a:xfrm>
          <a:prstGeom prst="rect">
            <a:avLst/>
          </a:prstGeom>
          <a:noFill/>
          <a:ln>
            <a:noFill/>
          </a:ln>
        </p:spPr>
      </p:pic>
      <p:sp>
        <p:nvSpPr>
          <p:cNvPr id="220" name="Google Shape;220;p20"/>
          <p:cNvSpPr/>
          <p:nvPr/>
        </p:nvSpPr>
        <p:spPr>
          <a:xfrm>
            <a:off x="1" y="609600"/>
            <a:ext cx="9107363"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0"/>
          <p:cNvSpPr txBox="1"/>
          <p:nvPr>
            <p:ph type="title"/>
          </p:nvPr>
        </p:nvSpPr>
        <p:spPr>
          <a:xfrm>
            <a:off x="680321" y="753228"/>
            <a:ext cx="7461844"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Trebuchet MS"/>
              <a:buNone/>
            </a:pPr>
            <a:r>
              <a:rPr lang="en-US">
                <a:solidFill>
                  <a:srgbClr val="FFFFFF"/>
                </a:solidFill>
              </a:rPr>
              <a:t>Agenda</a:t>
            </a:r>
            <a:endParaRPr/>
          </a:p>
        </p:txBody>
      </p:sp>
      <p:sp>
        <p:nvSpPr>
          <p:cNvPr id="222" name="Google Shape;222;p20"/>
          <p:cNvSpPr txBox="1"/>
          <p:nvPr>
            <p:ph idx="1" type="body"/>
          </p:nvPr>
        </p:nvSpPr>
        <p:spPr>
          <a:xfrm>
            <a:off x="680321" y="2336873"/>
            <a:ext cx="7461844" cy="31420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Analyzing Brexit &amp; the Future of the EU</a:t>
            </a:r>
            <a:endParaRPr/>
          </a:p>
          <a:p>
            <a:pPr indent="-228600" lvl="1" marL="685800" rtl="0" algn="l">
              <a:lnSpc>
                <a:spcPct val="90000"/>
              </a:lnSpc>
              <a:spcBef>
                <a:spcPts val="500"/>
              </a:spcBef>
              <a:spcAft>
                <a:spcPts val="0"/>
              </a:spcAft>
              <a:buClr>
                <a:schemeClr val="lt1"/>
              </a:buClr>
              <a:buSzPts val="1800"/>
              <a:buChar char="•"/>
            </a:pPr>
            <a:r>
              <a:rPr lang="en-US" sz="1800"/>
              <a:t>Key Terms</a:t>
            </a:r>
            <a:endParaRPr/>
          </a:p>
          <a:p>
            <a:pPr indent="-228600" lvl="1" marL="685800" rtl="0" algn="l">
              <a:lnSpc>
                <a:spcPct val="90000"/>
              </a:lnSpc>
              <a:spcBef>
                <a:spcPts val="500"/>
              </a:spcBef>
              <a:spcAft>
                <a:spcPts val="0"/>
              </a:spcAft>
              <a:buClr>
                <a:schemeClr val="lt1"/>
              </a:buClr>
              <a:buSzPts val="1800"/>
              <a:buChar char="•"/>
            </a:pPr>
            <a:r>
              <a:rPr lang="en-US" sz="1800"/>
              <a:t>Research Questions</a:t>
            </a:r>
            <a:endParaRPr/>
          </a:p>
          <a:p>
            <a:pPr indent="-228600" lvl="1" marL="685800" rtl="0" algn="l">
              <a:lnSpc>
                <a:spcPct val="90000"/>
              </a:lnSpc>
              <a:spcBef>
                <a:spcPts val="500"/>
              </a:spcBef>
              <a:spcAft>
                <a:spcPts val="0"/>
              </a:spcAft>
              <a:buClr>
                <a:schemeClr val="lt1"/>
              </a:buClr>
              <a:buSzPts val="1800"/>
              <a:buChar char="•"/>
            </a:pPr>
            <a:r>
              <a:rPr lang="en-US" sz="1800"/>
              <a:t>What is Brexit?</a:t>
            </a:r>
            <a:endParaRPr/>
          </a:p>
          <a:p>
            <a:pPr indent="-228600" lvl="1" marL="685800" rtl="0" algn="l">
              <a:lnSpc>
                <a:spcPct val="90000"/>
              </a:lnSpc>
              <a:spcBef>
                <a:spcPts val="500"/>
              </a:spcBef>
              <a:spcAft>
                <a:spcPts val="0"/>
              </a:spcAft>
              <a:buClr>
                <a:schemeClr val="lt1"/>
              </a:buClr>
              <a:buSzPts val="1800"/>
              <a:buChar char="•"/>
            </a:pPr>
            <a:r>
              <a:rPr lang="en-US" sz="1800"/>
              <a:t>Leave vs. Remain: A Divided Kingdom</a:t>
            </a:r>
            <a:endParaRPr/>
          </a:p>
          <a:p>
            <a:pPr indent="-228600" lvl="1" marL="685800" rtl="0" algn="l">
              <a:lnSpc>
                <a:spcPct val="90000"/>
              </a:lnSpc>
              <a:spcBef>
                <a:spcPts val="500"/>
              </a:spcBef>
              <a:spcAft>
                <a:spcPts val="0"/>
              </a:spcAft>
              <a:buClr>
                <a:schemeClr val="lt1"/>
              </a:buClr>
              <a:buSzPts val="1800"/>
              <a:buChar char="•"/>
            </a:pPr>
            <a:r>
              <a:rPr lang="en-US" sz="1800"/>
              <a:t>International Institutions &amp; Trade Blocs</a:t>
            </a:r>
            <a:endParaRPr/>
          </a:p>
          <a:p>
            <a:pPr indent="-228600" lvl="1" marL="685800" rtl="0" algn="l">
              <a:lnSpc>
                <a:spcPct val="90000"/>
              </a:lnSpc>
              <a:spcBef>
                <a:spcPts val="500"/>
              </a:spcBef>
              <a:spcAft>
                <a:spcPts val="0"/>
              </a:spcAft>
              <a:buClr>
                <a:schemeClr val="lt1"/>
              </a:buClr>
              <a:buSzPts val="1800"/>
              <a:buChar char="•"/>
            </a:pPr>
            <a:r>
              <a:rPr lang="en-US" sz="1800"/>
              <a:t>Rise of the Far-Right</a:t>
            </a:r>
            <a:endParaRPr/>
          </a:p>
          <a:p>
            <a:pPr indent="-228600" lvl="1" marL="685800" rtl="0" algn="l">
              <a:lnSpc>
                <a:spcPct val="90000"/>
              </a:lnSpc>
              <a:spcBef>
                <a:spcPts val="500"/>
              </a:spcBef>
              <a:spcAft>
                <a:spcPts val="0"/>
              </a:spcAft>
              <a:buClr>
                <a:schemeClr val="lt1"/>
              </a:buClr>
              <a:buSzPts val="1800"/>
              <a:buChar char="•"/>
            </a:pPr>
            <a:r>
              <a:rPr lang="en-US" sz="1800"/>
              <a:t>Conclusion: Predicting the Future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26" name="Shape 226"/>
        <p:cNvGrpSpPr/>
        <p:nvPr/>
      </p:nvGrpSpPr>
      <p:grpSpPr>
        <a:xfrm>
          <a:off x="0" y="0"/>
          <a:ext cx="0" cy="0"/>
          <a:chOff x="0" y="0"/>
          <a:chExt cx="0" cy="0"/>
        </a:xfrm>
      </p:grpSpPr>
      <p:sp>
        <p:nvSpPr>
          <p:cNvPr id="227" name="Google Shape;227;p21"/>
          <p:cNvSpPr/>
          <p:nvPr/>
        </p:nvSpPr>
        <p:spPr>
          <a:xfrm>
            <a:off x="0" y="0"/>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28" name="Google Shape;228;p21"/>
          <p:cNvSpPr/>
          <p:nvPr/>
        </p:nvSpPr>
        <p:spPr>
          <a:xfrm>
            <a:off x="8785632" y="0"/>
            <a:ext cx="340636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9" name="Google Shape;229;p21"/>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pic>
        <p:nvPicPr>
          <p:cNvPr id="230" name="Google Shape;230;p21"/>
          <p:cNvPicPr preferRelativeResize="0"/>
          <p:nvPr/>
        </p:nvPicPr>
        <p:blipFill rotWithShape="1">
          <a:blip r:embed="rId4">
            <a:alphaModFix/>
          </a:blip>
          <a:srcRect b="0" l="0" r="0" t="0"/>
          <a:stretch/>
        </p:blipFill>
        <p:spPr>
          <a:xfrm>
            <a:off x="2" y="1959089"/>
            <a:ext cx="9107362" cy="321164"/>
          </a:xfrm>
          <a:prstGeom prst="rect">
            <a:avLst/>
          </a:prstGeom>
          <a:noFill/>
          <a:ln>
            <a:noFill/>
          </a:ln>
        </p:spPr>
      </p:pic>
      <p:sp>
        <p:nvSpPr>
          <p:cNvPr id="231" name="Google Shape;231;p21"/>
          <p:cNvSpPr/>
          <p:nvPr/>
        </p:nvSpPr>
        <p:spPr>
          <a:xfrm>
            <a:off x="1" y="609600"/>
            <a:ext cx="9107363"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1"/>
          <p:cNvSpPr txBox="1"/>
          <p:nvPr>
            <p:ph type="title"/>
          </p:nvPr>
        </p:nvSpPr>
        <p:spPr>
          <a:xfrm>
            <a:off x="680321" y="753228"/>
            <a:ext cx="7461844"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Trebuchet MS"/>
              <a:buNone/>
            </a:pPr>
            <a:r>
              <a:rPr lang="en-US">
                <a:solidFill>
                  <a:srgbClr val="FFFFFF"/>
                </a:solidFill>
              </a:rPr>
              <a:t>Key Terms</a:t>
            </a:r>
            <a:endParaRPr/>
          </a:p>
        </p:txBody>
      </p:sp>
      <p:sp>
        <p:nvSpPr>
          <p:cNvPr id="233" name="Google Shape;233;p21"/>
          <p:cNvSpPr txBox="1"/>
          <p:nvPr>
            <p:ph idx="1" type="body"/>
          </p:nvPr>
        </p:nvSpPr>
        <p:spPr>
          <a:xfrm>
            <a:off x="680321" y="2336873"/>
            <a:ext cx="7461844" cy="314207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u="sng"/>
              <a:t>Liberalism:</a:t>
            </a:r>
            <a:r>
              <a:rPr lang="en-US" sz="1800"/>
              <a:t> belief that states can work together to maximize prosperity and minimize conflict</a:t>
            </a:r>
            <a:endParaRPr/>
          </a:p>
          <a:p>
            <a:pPr indent="-228600" lvl="0" marL="228600" rtl="0" algn="l">
              <a:lnSpc>
                <a:spcPct val="90000"/>
              </a:lnSpc>
              <a:spcBef>
                <a:spcPts val="1000"/>
              </a:spcBef>
              <a:spcAft>
                <a:spcPts val="0"/>
              </a:spcAft>
              <a:buClr>
                <a:schemeClr val="lt1"/>
              </a:buClr>
              <a:buSzPts val="1800"/>
              <a:buChar char="•"/>
            </a:pPr>
            <a:r>
              <a:rPr lang="en-US" sz="1800" u="sng"/>
              <a:t>Trade Bloc:</a:t>
            </a:r>
            <a:r>
              <a:rPr lang="en-US" sz="1800"/>
              <a:t> intergovernmental agreement where trade barriers are reduced or eliminated among member states (often regional)</a:t>
            </a:r>
            <a:endParaRPr/>
          </a:p>
          <a:p>
            <a:pPr indent="-228600" lvl="0" marL="228600" rtl="0" algn="l">
              <a:lnSpc>
                <a:spcPct val="90000"/>
              </a:lnSpc>
              <a:spcBef>
                <a:spcPts val="1000"/>
              </a:spcBef>
              <a:spcAft>
                <a:spcPts val="0"/>
              </a:spcAft>
              <a:buClr>
                <a:schemeClr val="lt1"/>
              </a:buClr>
              <a:buSzPts val="1800"/>
              <a:buChar char="•"/>
            </a:pPr>
            <a:r>
              <a:rPr lang="en-US" sz="1800" u="sng"/>
              <a:t>Right-Wing Populism:</a:t>
            </a:r>
            <a:r>
              <a:rPr lang="en-US" sz="1800"/>
              <a:t> political ideology combining far-right politics and populist rhetoric/themes (anti-elitist, opposition to system, voice of the “common people”)</a:t>
            </a:r>
            <a:endParaRPr sz="1800" u="sng"/>
          </a:p>
          <a:p>
            <a:pPr indent="-228600" lvl="0" marL="228600" rtl="0" algn="l">
              <a:lnSpc>
                <a:spcPct val="90000"/>
              </a:lnSpc>
              <a:spcBef>
                <a:spcPts val="1000"/>
              </a:spcBef>
              <a:spcAft>
                <a:spcPts val="0"/>
              </a:spcAft>
              <a:buClr>
                <a:schemeClr val="lt1"/>
              </a:buClr>
              <a:buSzPts val="1800"/>
              <a:buChar char="•"/>
            </a:pPr>
            <a:r>
              <a:rPr lang="en-US" sz="1800" u="sng"/>
              <a:t>Xenophobia:</a:t>
            </a:r>
            <a:r>
              <a:rPr lang="en-US" sz="1800"/>
              <a:t> irrational dislike or fear of people from other countries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38" name="Shape 238"/>
        <p:cNvGrpSpPr/>
        <p:nvPr/>
      </p:nvGrpSpPr>
      <p:grpSpPr>
        <a:xfrm>
          <a:off x="0" y="0"/>
          <a:ext cx="0" cy="0"/>
          <a:chOff x="0" y="0"/>
          <a:chExt cx="0" cy="0"/>
        </a:xfrm>
      </p:grpSpPr>
      <p:pic>
        <p:nvPicPr>
          <p:cNvPr id="239" name="Google Shape;239;p22"/>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240" name="Google Shape;240;p22"/>
          <p:cNvPicPr preferRelativeResize="0"/>
          <p:nvPr/>
        </p:nvPicPr>
        <p:blipFill rotWithShape="1">
          <a:blip r:embed="rId4">
            <a:alphaModFix/>
          </a:blip>
          <a:srcRect b="0" l="0" r="0" t="0"/>
          <a:stretch/>
        </p:blipFill>
        <p:spPr>
          <a:xfrm>
            <a:off x="1" y="4242851"/>
            <a:ext cx="8968084" cy="275942"/>
          </a:xfrm>
          <a:prstGeom prst="rect">
            <a:avLst/>
          </a:prstGeom>
          <a:noFill/>
          <a:ln>
            <a:noFill/>
          </a:ln>
        </p:spPr>
      </p:pic>
      <p:pic>
        <p:nvPicPr>
          <p:cNvPr id="241" name="Google Shape;241;p22"/>
          <p:cNvPicPr preferRelativeResize="0"/>
          <p:nvPr/>
        </p:nvPicPr>
        <p:blipFill rotWithShape="1">
          <a:blip r:embed="rId5">
            <a:alphaModFix/>
          </a:blip>
          <a:srcRect b="0" l="0" r="0" t="0"/>
          <a:stretch/>
        </p:blipFill>
        <p:spPr>
          <a:xfrm>
            <a:off x="9111716" y="4243845"/>
            <a:ext cx="3077108" cy="276940"/>
          </a:xfrm>
          <a:prstGeom prst="rect">
            <a:avLst/>
          </a:prstGeom>
          <a:noFill/>
          <a:ln>
            <a:noFill/>
          </a:ln>
        </p:spPr>
      </p:pic>
      <p:sp>
        <p:nvSpPr>
          <p:cNvPr id="242" name="Google Shape;242;p22"/>
          <p:cNvSpPr/>
          <p:nvPr/>
        </p:nvSpPr>
        <p:spPr>
          <a:xfrm>
            <a:off x="0" y="2590078"/>
            <a:ext cx="8968085"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9111715" y="2590078"/>
            <a:ext cx="3077109" cy="166033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2"/>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245" name="Google Shape;245;p22"/>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246" name="Google Shape;246;p22"/>
          <p:cNvSpPr txBox="1"/>
          <p:nvPr>
            <p:ph type="title"/>
          </p:nvPr>
        </p:nvSpPr>
        <p:spPr>
          <a:xfrm>
            <a:off x="643467" y="643467"/>
            <a:ext cx="10905066" cy="3251878"/>
          </a:xfrm>
          <a:prstGeom prst="rect">
            <a:avLst/>
          </a:prstGeom>
          <a:noFill/>
          <a:ln>
            <a:noFill/>
          </a:ln>
          <a:effectLst>
            <a:outerShdw blurRad="88900" rotWithShape="0" algn="tl" dir="2700000" dist="38100">
              <a:srgbClr val="000000">
                <a:alpha val="29803"/>
              </a:srgbClr>
            </a:outerShdw>
          </a:effectLst>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7200"/>
              <a:buFont typeface="Trebuchet MS"/>
              <a:buNone/>
            </a:pPr>
            <a:r>
              <a:rPr lang="en-US" sz="7200"/>
              <a:t>Driving Question</a:t>
            </a:r>
            <a:endParaRPr/>
          </a:p>
        </p:txBody>
      </p:sp>
      <p:sp>
        <p:nvSpPr>
          <p:cNvPr id="247" name="Google Shape;247;p22"/>
          <p:cNvSpPr txBox="1"/>
          <p:nvPr>
            <p:ph idx="1" type="body"/>
          </p:nvPr>
        </p:nvSpPr>
        <p:spPr>
          <a:xfrm>
            <a:off x="2023933" y="4233672"/>
            <a:ext cx="8144134" cy="1145829"/>
          </a:xfrm>
          <a:prstGeom prst="rect">
            <a:avLst/>
          </a:prstGeom>
          <a:noFill/>
          <a:ln>
            <a:noFill/>
          </a:ln>
          <a:effectLst>
            <a:outerShdw blurRad="88900" rotWithShape="0" algn="tl" dir="2700000" dist="38100">
              <a:srgbClr val="000000">
                <a:alpha val="29803"/>
              </a:srgbClr>
            </a:outerShdw>
          </a:effectLst>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1600"/>
              <a:buNone/>
            </a:pPr>
            <a:r>
              <a:rPr lang="en-US" sz="1600"/>
              <a:t>What measures can be taken to ensure continued peace and promote economic prosperity worldwide?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51" name="Shape 251"/>
        <p:cNvGrpSpPr/>
        <p:nvPr/>
      </p:nvGrpSpPr>
      <p:grpSpPr>
        <a:xfrm>
          <a:off x="0" y="0"/>
          <a:ext cx="0" cy="0"/>
          <a:chOff x="0" y="0"/>
          <a:chExt cx="0" cy="0"/>
        </a:xfrm>
      </p:grpSpPr>
      <p:sp>
        <p:nvSpPr>
          <p:cNvPr id="252" name="Google Shape;252;p23"/>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Research Questions</a:t>
            </a:r>
            <a:endParaRPr/>
          </a:p>
        </p:txBody>
      </p:sp>
      <p:grpSp>
        <p:nvGrpSpPr>
          <p:cNvPr id="253" name="Google Shape;253;p23"/>
          <p:cNvGrpSpPr/>
          <p:nvPr/>
        </p:nvGrpSpPr>
        <p:grpSpPr>
          <a:xfrm>
            <a:off x="681037" y="2336800"/>
            <a:ext cx="10830640" cy="3598863"/>
            <a:chOff x="0" y="0"/>
            <a:chExt cx="10830640" cy="3598863"/>
          </a:xfrm>
        </p:grpSpPr>
        <p:sp>
          <p:nvSpPr>
            <p:cNvPr id="254" name="Google Shape;254;p23"/>
            <p:cNvSpPr/>
            <p:nvPr/>
          </p:nvSpPr>
          <p:spPr>
            <a:xfrm>
              <a:off x="0" y="0"/>
              <a:ext cx="3384575" cy="3598863"/>
            </a:xfrm>
            <a:prstGeom prst="rect">
              <a:avLst/>
            </a:prstGeom>
            <a:solidFill>
              <a:srgbClr val="D0E0E8">
                <a:alpha val="89803"/>
              </a:srgbClr>
            </a:solidFill>
            <a:ln cap="flat" cmpd="sng" w="9525">
              <a:solidFill>
                <a:srgbClr val="D0E0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3"/>
            <p:cNvSpPr txBox="1"/>
            <p:nvPr/>
          </p:nvSpPr>
          <p:spPr>
            <a:xfrm>
              <a:off x="0" y="1367567"/>
              <a:ext cx="3384575" cy="2159317"/>
            </a:xfrm>
            <a:prstGeom prst="rect">
              <a:avLst/>
            </a:prstGeom>
            <a:noFill/>
            <a:ln>
              <a:noFill/>
            </a:ln>
          </p:spPr>
          <p:txBody>
            <a:bodyPr anchorCtr="0" anchor="t" bIns="330200" lIns="263875" spcFirstLastPara="1" rIns="263875" wrap="square" tIns="330200">
              <a:noAutofit/>
            </a:bodyPr>
            <a:lstStyle/>
            <a:p>
              <a:pPr indent="0" lvl="0" marL="0" marR="0" rtl="0" algn="l">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Will Brexit influence other EU member nations’ viewpoint on the validity of international institutions/trade blocs if successful?</a:t>
              </a:r>
              <a:endParaRPr/>
            </a:p>
          </p:txBody>
        </p:sp>
        <p:sp>
          <p:nvSpPr>
            <p:cNvPr id="256" name="Google Shape;256;p23"/>
            <p:cNvSpPr/>
            <p:nvPr/>
          </p:nvSpPr>
          <p:spPr>
            <a:xfrm>
              <a:off x="1152458" y="359886"/>
              <a:ext cx="1079658" cy="1079658"/>
            </a:xfrm>
            <a:prstGeom prst="ellipse">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
            <p:cNvSpPr txBox="1"/>
            <p:nvPr/>
          </p:nvSpPr>
          <p:spPr>
            <a:xfrm>
              <a:off x="1310570" y="517998"/>
              <a:ext cx="763434" cy="763434"/>
            </a:xfrm>
            <a:prstGeom prst="rect">
              <a:avLst/>
            </a:prstGeom>
            <a:noFill/>
            <a:ln>
              <a:noFill/>
            </a:ln>
          </p:spPr>
          <p:txBody>
            <a:bodyPr anchorCtr="0" anchor="ctr" bIns="12700" lIns="84150" spcFirstLastPara="1" rIns="84150" wrap="square" tIns="12700">
              <a:noAutofit/>
            </a:bodyPr>
            <a:lstStyle/>
            <a:p>
              <a:pPr indent="0" lvl="0" marL="0" marR="0" rtl="0" algn="ctr">
                <a:lnSpc>
                  <a:spcPct val="90000"/>
                </a:lnSpc>
                <a:spcBef>
                  <a:spcPts val="0"/>
                </a:spcBef>
                <a:spcAft>
                  <a:spcPts val="0"/>
                </a:spcAft>
                <a:buClr>
                  <a:schemeClr val="lt1"/>
                </a:buClr>
                <a:buSzPts val="4800"/>
                <a:buFont typeface="Trebuchet MS"/>
                <a:buNone/>
              </a:pPr>
              <a:r>
                <a:rPr lang="en-US" sz="4800">
                  <a:solidFill>
                    <a:schemeClr val="lt1"/>
                  </a:solidFill>
                  <a:latin typeface="Trebuchet MS"/>
                  <a:ea typeface="Trebuchet MS"/>
                  <a:cs typeface="Trebuchet MS"/>
                  <a:sym typeface="Trebuchet MS"/>
                </a:rPr>
                <a:t>1</a:t>
              </a:r>
              <a:endParaRPr/>
            </a:p>
          </p:txBody>
        </p:sp>
        <p:sp>
          <p:nvSpPr>
            <p:cNvPr id="258" name="Google Shape;258;p23"/>
            <p:cNvSpPr/>
            <p:nvPr/>
          </p:nvSpPr>
          <p:spPr>
            <a:xfrm>
              <a:off x="0" y="3598791"/>
              <a:ext cx="3384575" cy="72"/>
            </a:xfrm>
            <a:prstGeom prst="rect">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3"/>
            <p:cNvSpPr/>
            <p:nvPr/>
          </p:nvSpPr>
          <p:spPr>
            <a:xfrm>
              <a:off x="3723032" y="0"/>
              <a:ext cx="3384575" cy="3598863"/>
            </a:xfrm>
            <a:prstGeom prst="rect">
              <a:avLst/>
            </a:prstGeom>
            <a:solidFill>
              <a:srgbClr val="D0E0E8">
                <a:alpha val="89803"/>
              </a:srgbClr>
            </a:solidFill>
            <a:ln cap="flat" cmpd="sng" w="9525">
              <a:solidFill>
                <a:srgbClr val="D0E0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3"/>
            <p:cNvSpPr txBox="1"/>
            <p:nvPr/>
          </p:nvSpPr>
          <p:spPr>
            <a:xfrm>
              <a:off x="3723032" y="1367567"/>
              <a:ext cx="3384575" cy="2159317"/>
            </a:xfrm>
            <a:prstGeom prst="rect">
              <a:avLst/>
            </a:prstGeom>
            <a:noFill/>
            <a:ln>
              <a:noFill/>
            </a:ln>
          </p:spPr>
          <p:txBody>
            <a:bodyPr anchorCtr="0" anchor="t" bIns="330200" lIns="263875" spcFirstLastPara="1" rIns="263875" wrap="square" tIns="330200">
              <a:noAutofit/>
            </a:bodyPr>
            <a:lstStyle/>
            <a:p>
              <a:pPr indent="0" lvl="0" marL="0" marR="0" rtl="0" algn="l">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Do the pros of globalization and regional free trade outweigh the cons?</a:t>
              </a:r>
              <a:endParaRPr/>
            </a:p>
          </p:txBody>
        </p:sp>
        <p:sp>
          <p:nvSpPr>
            <p:cNvPr id="261" name="Google Shape;261;p23"/>
            <p:cNvSpPr/>
            <p:nvPr/>
          </p:nvSpPr>
          <p:spPr>
            <a:xfrm>
              <a:off x="4875491" y="359886"/>
              <a:ext cx="1079658" cy="1079658"/>
            </a:xfrm>
            <a:prstGeom prst="ellipse">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txBox="1"/>
            <p:nvPr/>
          </p:nvSpPr>
          <p:spPr>
            <a:xfrm>
              <a:off x="5033603" y="517998"/>
              <a:ext cx="763434" cy="763434"/>
            </a:xfrm>
            <a:prstGeom prst="rect">
              <a:avLst/>
            </a:prstGeom>
            <a:noFill/>
            <a:ln>
              <a:noFill/>
            </a:ln>
          </p:spPr>
          <p:txBody>
            <a:bodyPr anchorCtr="0" anchor="ctr" bIns="12700" lIns="84150" spcFirstLastPara="1" rIns="84150" wrap="square" tIns="12700">
              <a:noAutofit/>
            </a:bodyPr>
            <a:lstStyle/>
            <a:p>
              <a:pPr indent="0" lvl="0" marL="0" marR="0" rtl="0" algn="ctr">
                <a:lnSpc>
                  <a:spcPct val="90000"/>
                </a:lnSpc>
                <a:spcBef>
                  <a:spcPts val="0"/>
                </a:spcBef>
                <a:spcAft>
                  <a:spcPts val="0"/>
                </a:spcAft>
                <a:buClr>
                  <a:schemeClr val="lt1"/>
                </a:buClr>
                <a:buSzPts val="4800"/>
                <a:buFont typeface="Trebuchet MS"/>
                <a:buNone/>
              </a:pPr>
              <a:r>
                <a:rPr lang="en-US" sz="4800">
                  <a:solidFill>
                    <a:schemeClr val="lt1"/>
                  </a:solidFill>
                  <a:latin typeface="Trebuchet MS"/>
                  <a:ea typeface="Trebuchet MS"/>
                  <a:cs typeface="Trebuchet MS"/>
                  <a:sym typeface="Trebuchet MS"/>
                </a:rPr>
                <a:t>2</a:t>
              </a:r>
              <a:endParaRPr/>
            </a:p>
          </p:txBody>
        </p:sp>
        <p:sp>
          <p:nvSpPr>
            <p:cNvPr id="263" name="Google Shape;263;p23"/>
            <p:cNvSpPr/>
            <p:nvPr/>
          </p:nvSpPr>
          <p:spPr>
            <a:xfrm>
              <a:off x="3723032" y="3598791"/>
              <a:ext cx="3384575" cy="72"/>
            </a:xfrm>
            <a:prstGeom prst="rect">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3"/>
            <p:cNvSpPr/>
            <p:nvPr/>
          </p:nvSpPr>
          <p:spPr>
            <a:xfrm>
              <a:off x="7446065" y="0"/>
              <a:ext cx="3384575" cy="3598863"/>
            </a:xfrm>
            <a:prstGeom prst="rect">
              <a:avLst/>
            </a:prstGeom>
            <a:solidFill>
              <a:srgbClr val="D0E0E8">
                <a:alpha val="89803"/>
              </a:srgbClr>
            </a:solidFill>
            <a:ln cap="flat" cmpd="sng" w="9525">
              <a:solidFill>
                <a:srgbClr val="D0E0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3"/>
            <p:cNvSpPr txBox="1"/>
            <p:nvPr/>
          </p:nvSpPr>
          <p:spPr>
            <a:xfrm>
              <a:off x="7446065" y="1367567"/>
              <a:ext cx="3384575" cy="2159317"/>
            </a:xfrm>
            <a:prstGeom prst="rect">
              <a:avLst/>
            </a:prstGeom>
            <a:noFill/>
            <a:ln>
              <a:noFill/>
            </a:ln>
          </p:spPr>
          <p:txBody>
            <a:bodyPr anchorCtr="0" anchor="t" bIns="330200" lIns="263875" spcFirstLastPara="1" rIns="263875" wrap="square" tIns="330200">
              <a:noAutofit/>
            </a:bodyPr>
            <a:lstStyle/>
            <a:p>
              <a:pPr indent="0" lvl="0" marL="0" marR="0" rtl="0" algn="l">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Will the UK be able to retain noteworthy international influence without an attachment to the EU?</a:t>
              </a:r>
              <a:endParaRPr/>
            </a:p>
          </p:txBody>
        </p:sp>
        <p:sp>
          <p:nvSpPr>
            <p:cNvPr id="266" name="Google Shape;266;p23"/>
            <p:cNvSpPr/>
            <p:nvPr/>
          </p:nvSpPr>
          <p:spPr>
            <a:xfrm>
              <a:off x="8598523" y="359886"/>
              <a:ext cx="1079658" cy="1079658"/>
            </a:xfrm>
            <a:prstGeom prst="ellipse">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3"/>
            <p:cNvSpPr txBox="1"/>
            <p:nvPr/>
          </p:nvSpPr>
          <p:spPr>
            <a:xfrm>
              <a:off x="8756635" y="517998"/>
              <a:ext cx="763434" cy="763434"/>
            </a:xfrm>
            <a:prstGeom prst="rect">
              <a:avLst/>
            </a:prstGeom>
            <a:noFill/>
            <a:ln>
              <a:noFill/>
            </a:ln>
          </p:spPr>
          <p:txBody>
            <a:bodyPr anchorCtr="0" anchor="ctr" bIns="12700" lIns="84150" spcFirstLastPara="1" rIns="84150" wrap="square" tIns="12700">
              <a:noAutofit/>
            </a:bodyPr>
            <a:lstStyle/>
            <a:p>
              <a:pPr indent="0" lvl="0" marL="0" marR="0" rtl="0" algn="ctr">
                <a:lnSpc>
                  <a:spcPct val="90000"/>
                </a:lnSpc>
                <a:spcBef>
                  <a:spcPts val="0"/>
                </a:spcBef>
                <a:spcAft>
                  <a:spcPts val="0"/>
                </a:spcAft>
                <a:buClr>
                  <a:schemeClr val="lt1"/>
                </a:buClr>
                <a:buSzPts val="4800"/>
                <a:buFont typeface="Trebuchet MS"/>
                <a:buNone/>
              </a:pPr>
              <a:r>
                <a:rPr lang="en-US" sz="4800">
                  <a:solidFill>
                    <a:schemeClr val="lt1"/>
                  </a:solidFill>
                  <a:latin typeface="Trebuchet MS"/>
                  <a:ea typeface="Trebuchet MS"/>
                  <a:cs typeface="Trebuchet MS"/>
                  <a:sym typeface="Trebuchet MS"/>
                </a:rPr>
                <a:t>3</a:t>
              </a:r>
              <a:endParaRPr/>
            </a:p>
          </p:txBody>
        </p:sp>
        <p:sp>
          <p:nvSpPr>
            <p:cNvPr id="268" name="Google Shape;268;p23"/>
            <p:cNvSpPr/>
            <p:nvPr/>
          </p:nvSpPr>
          <p:spPr>
            <a:xfrm>
              <a:off x="7446065" y="3598791"/>
              <a:ext cx="3384575" cy="72"/>
            </a:xfrm>
            <a:prstGeom prst="rect">
              <a:avLst/>
            </a:prstGeom>
            <a:gradFill>
              <a:gsLst>
                <a:gs pos="0">
                  <a:srgbClr val="6FAFC6"/>
                </a:gs>
                <a:gs pos="50000">
                  <a:srgbClr val="54A8C4"/>
                </a:gs>
                <a:gs pos="100000">
                  <a:srgbClr val="4596B2"/>
                </a:gs>
              </a:gsLst>
              <a:lin ang="5400000" scaled="0"/>
            </a:gra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72" name="Shape 272"/>
        <p:cNvGrpSpPr/>
        <p:nvPr/>
      </p:nvGrpSpPr>
      <p:grpSpPr>
        <a:xfrm>
          <a:off x="0" y="0"/>
          <a:ext cx="0" cy="0"/>
          <a:chOff x="0" y="0"/>
          <a:chExt cx="0" cy="0"/>
        </a:xfrm>
      </p:grpSpPr>
      <p:sp>
        <p:nvSpPr>
          <p:cNvPr id="273" name="Google Shape;273;p24"/>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274" name="Google Shape;274;p24"/>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sp>
        <p:nvSpPr>
          <p:cNvPr id="275" name="Google Shape;275;p24"/>
          <p:cNvSpPr/>
          <p:nvPr/>
        </p:nvSpPr>
        <p:spPr>
          <a:xfrm>
            <a:off x="4639056" y="0"/>
            <a:ext cx="7552944" cy="68580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76" name="Google Shape;276;p24"/>
          <p:cNvSpPr/>
          <p:nvPr/>
        </p:nvSpPr>
        <p:spPr>
          <a:xfrm>
            <a:off x="2" y="609600"/>
            <a:ext cx="4959094"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4"/>
          <p:cNvPicPr preferRelativeResize="0"/>
          <p:nvPr/>
        </p:nvPicPr>
        <p:blipFill rotWithShape="1">
          <a:blip r:embed="rId4">
            <a:alphaModFix/>
          </a:blip>
          <a:srcRect b="0" l="0" r="0" t="0"/>
          <a:stretch/>
        </p:blipFill>
        <p:spPr>
          <a:xfrm>
            <a:off x="2" y="1970241"/>
            <a:ext cx="4956048" cy="199787"/>
          </a:xfrm>
          <a:prstGeom prst="rect">
            <a:avLst/>
          </a:prstGeom>
          <a:noFill/>
          <a:ln>
            <a:noFill/>
          </a:ln>
        </p:spPr>
      </p:pic>
      <p:pic>
        <p:nvPicPr>
          <p:cNvPr id="278" name="Google Shape;278;p24"/>
          <p:cNvPicPr preferRelativeResize="0"/>
          <p:nvPr/>
        </p:nvPicPr>
        <p:blipFill rotWithShape="1">
          <a:blip r:embed="rId5">
            <a:alphaModFix/>
          </a:blip>
          <a:srcRect b="0" l="0" r="0" t="0"/>
          <a:stretch/>
        </p:blipFill>
        <p:spPr>
          <a:xfrm>
            <a:off x="5276090" y="1179824"/>
            <a:ext cx="6269479" cy="4498351"/>
          </a:xfrm>
          <a:prstGeom prst="rect">
            <a:avLst/>
          </a:prstGeom>
          <a:noFill/>
          <a:ln>
            <a:noFill/>
          </a:ln>
          <a:effectLst>
            <a:outerShdw blurRad="76200" rotWithShape="0" algn="tl" dir="5040000" dist="63500">
              <a:srgbClr val="000000">
                <a:alpha val="40784"/>
              </a:srgbClr>
            </a:outerShdw>
          </a:effectLst>
        </p:spPr>
      </p:pic>
      <p:sp>
        <p:nvSpPr>
          <p:cNvPr id="279" name="Google Shape;279;p24"/>
          <p:cNvSpPr txBox="1"/>
          <p:nvPr>
            <p:ph type="title"/>
          </p:nvPr>
        </p:nvSpPr>
        <p:spPr>
          <a:xfrm>
            <a:off x="680321" y="753228"/>
            <a:ext cx="4136123"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Trebuchet MS"/>
              <a:buNone/>
            </a:pPr>
            <a:r>
              <a:rPr lang="en-US" sz="2400"/>
              <a:t>What is Brexit?</a:t>
            </a:r>
            <a:endParaRPr/>
          </a:p>
        </p:txBody>
      </p:sp>
      <p:sp>
        <p:nvSpPr>
          <p:cNvPr id="280" name="Google Shape;280;p24"/>
          <p:cNvSpPr txBox="1"/>
          <p:nvPr>
            <p:ph idx="1" type="body"/>
          </p:nvPr>
        </p:nvSpPr>
        <p:spPr>
          <a:xfrm>
            <a:off x="680321" y="2336873"/>
            <a:ext cx="3656289"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The prospective withdrawal of the UK from the EU</a:t>
            </a:r>
            <a:endParaRPr/>
          </a:p>
          <a:p>
            <a:pPr indent="-228600" lvl="0" marL="228600" rtl="0" algn="l">
              <a:lnSpc>
                <a:spcPct val="90000"/>
              </a:lnSpc>
              <a:spcBef>
                <a:spcPts val="1000"/>
              </a:spcBef>
              <a:spcAft>
                <a:spcPts val="0"/>
              </a:spcAft>
              <a:buClr>
                <a:schemeClr val="lt1"/>
              </a:buClr>
              <a:buSzPts val="1800"/>
              <a:buChar char="•"/>
            </a:pPr>
            <a:r>
              <a:rPr lang="en-US" sz="1800"/>
              <a:t>2016 Referendum: (per BBC)</a:t>
            </a:r>
            <a:endParaRPr/>
          </a:p>
          <a:p>
            <a:pPr indent="-228600" lvl="1" marL="685800" rtl="0" algn="l">
              <a:lnSpc>
                <a:spcPct val="90000"/>
              </a:lnSpc>
              <a:spcBef>
                <a:spcPts val="500"/>
              </a:spcBef>
              <a:spcAft>
                <a:spcPts val="0"/>
              </a:spcAft>
              <a:buClr>
                <a:schemeClr val="lt1"/>
              </a:buClr>
              <a:buSzPts val="1400"/>
              <a:buChar char="•"/>
            </a:pPr>
            <a:r>
              <a:rPr lang="en-US" sz="1400"/>
              <a:t>72.2% turnout (46,501,241 total voters)</a:t>
            </a:r>
            <a:endParaRPr/>
          </a:p>
          <a:p>
            <a:pPr indent="-228600" lvl="1" marL="685800" rtl="0" algn="l">
              <a:lnSpc>
                <a:spcPct val="90000"/>
              </a:lnSpc>
              <a:spcBef>
                <a:spcPts val="500"/>
              </a:spcBef>
              <a:spcAft>
                <a:spcPts val="0"/>
              </a:spcAft>
              <a:buClr>
                <a:schemeClr val="lt1"/>
              </a:buClr>
              <a:buSzPts val="1400"/>
              <a:buChar char="•"/>
            </a:pPr>
            <a:r>
              <a:rPr lang="en-US" sz="1400"/>
              <a:t>51.9% voted “Leave”; 48.1% “Remain”</a:t>
            </a:r>
            <a:endParaRPr/>
          </a:p>
          <a:p>
            <a:pPr indent="-228600" lvl="0" marL="228600" rtl="0" algn="l">
              <a:lnSpc>
                <a:spcPct val="90000"/>
              </a:lnSpc>
              <a:spcBef>
                <a:spcPts val="1000"/>
              </a:spcBef>
              <a:spcAft>
                <a:spcPts val="0"/>
              </a:spcAft>
              <a:buClr>
                <a:schemeClr val="lt1"/>
              </a:buClr>
              <a:buSzPts val="1800"/>
              <a:buChar char="•"/>
            </a:pPr>
            <a:r>
              <a:rPr lang="en-US" sz="1800"/>
              <a:t>Extent of consequences hinge on “Hard” vs. “Soft” Brexit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5"/>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What is Brexit? </a:t>
            </a:r>
            <a:endParaRPr/>
          </a:p>
        </p:txBody>
      </p:sp>
      <p:pic>
        <p:nvPicPr>
          <p:cNvPr id="286" name="Google Shape;286;p25"/>
          <p:cNvPicPr preferRelativeResize="0"/>
          <p:nvPr>
            <p:ph idx="1" type="body"/>
          </p:nvPr>
        </p:nvPicPr>
        <p:blipFill rotWithShape="1">
          <a:blip r:embed="rId3">
            <a:alphaModFix/>
          </a:blip>
          <a:srcRect b="0" l="0" r="0" t="0"/>
          <a:stretch/>
        </p:blipFill>
        <p:spPr>
          <a:xfrm>
            <a:off x="680321" y="2242674"/>
            <a:ext cx="4684159" cy="3296908"/>
          </a:xfrm>
          <a:prstGeom prst="rect">
            <a:avLst/>
          </a:prstGeom>
          <a:noFill/>
          <a:ln>
            <a:noFill/>
          </a:ln>
        </p:spPr>
      </p:pic>
      <p:pic>
        <p:nvPicPr>
          <p:cNvPr id="287" name="Google Shape;287;p25"/>
          <p:cNvPicPr preferRelativeResize="0"/>
          <p:nvPr>
            <p:ph idx="2" type="body"/>
          </p:nvPr>
        </p:nvPicPr>
        <p:blipFill rotWithShape="1">
          <a:blip r:embed="rId4">
            <a:alphaModFix/>
          </a:blip>
          <a:srcRect b="0" l="0" r="0" t="0"/>
          <a:stretch/>
        </p:blipFill>
        <p:spPr>
          <a:xfrm>
            <a:off x="5730240" y="2242674"/>
            <a:ext cx="4678680" cy="32969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291" name="Shape 291"/>
        <p:cNvGrpSpPr/>
        <p:nvPr/>
      </p:nvGrpSpPr>
      <p:grpSpPr>
        <a:xfrm>
          <a:off x="0" y="0"/>
          <a:ext cx="0" cy="0"/>
          <a:chOff x="0" y="0"/>
          <a:chExt cx="0" cy="0"/>
        </a:xfrm>
      </p:grpSpPr>
      <p:sp>
        <p:nvSpPr>
          <p:cNvPr id="292" name="Google Shape;292;p26"/>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293" name="Google Shape;293;p26"/>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sp>
        <p:nvSpPr>
          <p:cNvPr id="294" name="Google Shape;294;p26"/>
          <p:cNvSpPr/>
          <p:nvPr/>
        </p:nvSpPr>
        <p:spPr>
          <a:xfrm>
            <a:off x="4639056" y="0"/>
            <a:ext cx="7552944" cy="68580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295" name="Google Shape;295;p26"/>
          <p:cNvSpPr/>
          <p:nvPr/>
        </p:nvSpPr>
        <p:spPr>
          <a:xfrm>
            <a:off x="2" y="609600"/>
            <a:ext cx="4959094"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 name="Google Shape;296;p26"/>
          <p:cNvPicPr preferRelativeResize="0"/>
          <p:nvPr/>
        </p:nvPicPr>
        <p:blipFill rotWithShape="1">
          <a:blip r:embed="rId4">
            <a:alphaModFix/>
          </a:blip>
          <a:srcRect b="0" l="0" r="0" t="0"/>
          <a:stretch/>
        </p:blipFill>
        <p:spPr>
          <a:xfrm>
            <a:off x="2" y="1970241"/>
            <a:ext cx="4956048" cy="199787"/>
          </a:xfrm>
          <a:prstGeom prst="rect">
            <a:avLst/>
          </a:prstGeom>
          <a:noFill/>
          <a:ln>
            <a:noFill/>
          </a:ln>
        </p:spPr>
      </p:pic>
      <p:pic>
        <p:nvPicPr>
          <p:cNvPr id="297" name="Google Shape;297;p26"/>
          <p:cNvPicPr preferRelativeResize="0"/>
          <p:nvPr/>
        </p:nvPicPr>
        <p:blipFill rotWithShape="1">
          <a:blip r:embed="rId5">
            <a:alphaModFix/>
          </a:blip>
          <a:srcRect b="0" l="0" r="0" t="0"/>
          <a:stretch/>
        </p:blipFill>
        <p:spPr>
          <a:xfrm>
            <a:off x="5831078" y="640080"/>
            <a:ext cx="5159502" cy="5577840"/>
          </a:xfrm>
          <a:prstGeom prst="rect">
            <a:avLst/>
          </a:prstGeom>
          <a:noFill/>
          <a:ln>
            <a:noFill/>
          </a:ln>
          <a:effectLst>
            <a:outerShdw blurRad="76200" rotWithShape="0" algn="tl" dir="5040000" dist="63500">
              <a:srgbClr val="000000">
                <a:alpha val="40784"/>
              </a:srgbClr>
            </a:outerShdw>
          </a:effectLst>
        </p:spPr>
      </p:pic>
      <p:sp>
        <p:nvSpPr>
          <p:cNvPr id="298" name="Google Shape;298;p26"/>
          <p:cNvSpPr txBox="1"/>
          <p:nvPr>
            <p:ph type="title"/>
          </p:nvPr>
        </p:nvSpPr>
        <p:spPr>
          <a:xfrm>
            <a:off x="680321" y="753228"/>
            <a:ext cx="4136123"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Trebuchet MS"/>
              <a:buNone/>
            </a:pPr>
            <a:r>
              <a:rPr lang="en-US" sz="2400"/>
              <a:t>Leave vs. Remain: A Divided Kingdom</a:t>
            </a:r>
            <a:endParaRPr/>
          </a:p>
        </p:txBody>
      </p:sp>
      <p:sp>
        <p:nvSpPr>
          <p:cNvPr id="299" name="Google Shape;299;p26"/>
          <p:cNvSpPr txBox="1"/>
          <p:nvPr>
            <p:ph idx="1" type="body"/>
          </p:nvPr>
        </p:nvSpPr>
        <p:spPr>
          <a:xfrm>
            <a:off x="680321" y="2336873"/>
            <a:ext cx="3656289" cy="359931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0"/>
              <a:buChar char="•"/>
            </a:pPr>
            <a:r>
              <a:rPr lang="en-US" sz="1800"/>
              <a:t>Key Issues:</a:t>
            </a:r>
            <a:endParaRPr/>
          </a:p>
          <a:p>
            <a:pPr indent="-342900" lvl="1" marL="800100" rtl="0" algn="l">
              <a:lnSpc>
                <a:spcPct val="90000"/>
              </a:lnSpc>
              <a:spcBef>
                <a:spcPts val="500"/>
              </a:spcBef>
              <a:spcAft>
                <a:spcPts val="0"/>
              </a:spcAft>
              <a:buClr>
                <a:schemeClr val="lt1"/>
              </a:buClr>
              <a:buSzPts val="1400"/>
              <a:buFont typeface="Trebuchet MS"/>
              <a:buAutoNum type="arabicPeriod"/>
            </a:pPr>
            <a:r>
              <a:rPr lang="en-US" sz="1400"/>
              <a:t>Immigration</a:t>
            </a:r>
            <a:endParaRPr/>
          </a:p>
          <a:p>
            <a:pPr indent="-342900" lvl="1" marL="800100" rtl="0" algn="l">
              <a:lnSpc>
                <a:spcPct val="90000"/>
              </a:lnSpc>
              <a:spcBef>
                <a:spcPts val="500"/>
              </a:spcBef>
              <a:spcAft>
                <a:spcPts val="0"/>
              </a:spcAft>
              <a:buClr>
                <a:schemeClr val="lt1"/>
              </a:buClr>
              <a:buSzPts val="1400"/>
              <a:buFont typeface="Trebuchet MS"/>
              <a:buAutoNum type="arabicPeriod"/>
            </a:pPr>
            <a:r>
              <a:rPr lang="en-US" sz="1400"/>
              <a:t>The Economy</a:t>
            </a:r>
            <a:endParaRPr/>
          </a:p>
          <a:p>
            <a:pPr indent="-342900" lvl="1" marL="800100" rtl="0" algn="l">
              <a:lnSpc>
                <a:spcPct val="90000"/>
              </a:lnSpc>
              <a:spcBef>
                <a:spcPts val="500"/>
              </a:spcBef>
              <a:spcAft>
                <a:spcPts val="0"/>
              </a:spcAft>
              <a:buClr>
                <a:schemeClr val="lt1"/>
              </a:buClr>
              <a:buSzPts val="1400"/>
              <a:buFont typeface="Trebuchet MS"/>
              <a:buAutoNum type="arabicPeriod"/>
            </a:pPr>
            <a:r>
              <a:rPr lang="en-US" sz="1400"/>
              <a:t>Sovereignty</a:t>
            </a:r>
            <a:endParaRPr/>
          </a:p>
          <a:p>
            <a:pPr indent="-228600" lvl="0" marL="228600" rtl="0" algn="l">
              <a:lnSpc>
                <a:spcPct val="90000"/>
              </a:lnSpc>
              <a:spcBef>
                <a:spcPts val="1000"/>
              </a:spcBef>
              <a:spcAft>
                <a:spcPts val="0"/>
              </a:spcAft>
              <a:buClr>
                <a:schemeClr val="lt1"/>
              </a:buClr>
              <a:buSzPts val="1800"/>
              <a:buChar char="•"/>
            </a:pPr>
            <a:r>
              <a:rPr lang="en-US" sz="1800"/>
              <a:t>“Remain” side claims “Leave” voters are uninformed</a:t>
            </a:r>
            <a:endParaRPr/>
          </a:p>
          <a:p>
            <a:pPr indent="-228600" lvl="0" marL="228600" rtl="0" algn="l">
              <a:lnSpc>
                <a:spcPct val="90000"/>
              </a:lnSpc>
              <a:spcBef>
                <a:spcPts val="1000"/>
              </a:spcBef>
              <a:spcAft>
                <a:spcPts val="0"/>
              </a:spcAft>
              <a:buClr>
                <a:schemeClr val="lt1"/>
              </a:buClr>
              <a:buSzPts val="1800"/>
              <a:buChar char="•"/>
            </a:pPr>
            <a:r>
              <a:rPr lang="en-US" sz="1800"/>
              <a:t>UK claims “hard-break” will be sought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03" name="Shape 303"/>
        <p:cNvGrpSpPr/>
        <p:nvPr/>
      </p:nvGrpSpPr>
      <p:grpSpPr>
        <a:xfrm>
          <a:off x="0" y="0"/>
          <a:ext cx="0" cy="0"/>
          <a:chOff x="0" y="0"/>
          <a:chExt cx="0" cy="0"/>
        </a:xfrm>
      </p:grpSpPr>
      <p:pic>
        <p:nvPicPr>
          <p:cNvPr id="304" name="Google Shape;304;p27"/>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305" name="Google Shape;305;p27"/>
          <p:cNvPicPr preferRelativeResize="0"/>
          <p:nvPr/>
        </p:nvPicPr>
        <p:blipFill rotWithShape="1">
          <a:blip r:embed="rId4">
            <a:alphaModFix/>
          </a:blip>
          <a:srcRect b="0" l="0" r="0" t="0"/>
          <a:stretch/>
        </p:blipFill>
        <p:spPr>
          <a:xfrm>
            <a:off x="1" y="1970240"/>
            <a:ext cx="10437812" cy="321164"/>
          </a:xfrm>
          <a:prstGeom prst="rect">
            <a:avLst/>
          </a:prstGeom>
          <a:noFill/>
          <a:ln>
            <a:noFill/>
          </a:ln>
        </p:spPr>
      </p:pic>
      <p:pic>
        <p:nvPicPr>
          <p:cNvPr id="306" name="Google Shape;306;p27"/>
          <p:cNvPicPr preferRelativeResize="0"/>
          <p:nvPr/>
        </p:nvPicPr>
        <p:blipFill rotWithShape="1">
          <a:blip r:embed="rId5">
            <a:alphaModFix/>
          </a:blip>
          <a:srcRect b="0" l="0" r="0" t="0"/>
          <a:stretch/>
        </p:blipFill>
        <p:spPr>
          <a:xfrm>
            <a:off x="10585826" y="1971234"/>
            <a:ext cx="1602997" cy="144270"/>
          </a:xfrm>
          <a:prstGeom prst="rect">
            <a:avLst/>
          </a:prstGeom>
          <a:noFill/>
          <a:ln>
            <a:noFill/>
          </a:ln>
        </p:spPr>
      </p:pic>
      <p:sp>
        <p:nvSpPr>
          <p:cNvPr id="307" name="Google Shape;307;p27"/>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10" name="Google Shape;310;p27"/>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311" name="Google Shape;311;p27"/>
          <p:cNvSpPr/>
          <p:nvPr/>
        </p:nvSpPr>
        <p:spPr>
          <a:xfrm>
            <a:off x="2" y="609600"/>
            <a:ext cx="4959094"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2" name="Google Shape;312;p27"/>
          <p:cNvPicPr preferRelativeResize="0"/>
          <p:nvPr/>
        </p:nvPicPr>
        <p:blipFill rotWithShape="1">
          <a:blip r:embed="rId4">
            <a:alphaModFix/>
          </a:blip>
          <a:srcRect b="0" l="0" r="0" t="0"/>
          <a:stretch/>
        </p:blipFill>
        <p:spPr>
          <a:xfrm>
            <a:off x="2" y="1970241"/>
            <a:ext cx="4956048" cy="199787"/>
          </a:xfrm>
          <a:prstGeom prst="rect">
            <a:avLst/>
          </a:prstGeom>
          <a:noFill/>
          <a:ln>
            <a:noFill/>
          </a:ln>
        </p:spPr>
      </p:pic>
      <p:pic>
        <p:nvPicPr>
          <p:cNvPr id="313" name="Google Shape;313;p27"/>
          <p:cNvPicPr preferRelativeResize="0"/>
          <p:nvPr>
            <p:ph idx="1" type="body"/>
          </p:nvPr>
        </p:nvPicPr>
        <p:blipFill rotWithShape="1">
          <a:blip r:embed="rId6">
            <a:alphaModFix/>
          </a:blip>
          <a:srcRect b="0" l="0" r="0" t="0"/>
          <a:stretch/>
        </p:blipFill>
        <p:spPr>
          <a:xfrm>
            <a:off x="6296495" y="609600"/>
            <a:ext cx="4262323" cy="5608320"/>
          </a:xfrm>
          <a:prstGeom prst="rect">
            <a:avLst/>
          </a:prstGeom>
          <a:noFill/>
          <a:ln>
            <a:noFill/>
          </a:ln>
          <a:effectLst>
            <a:outerShdw blurRad="76200" rotWithShape="0" algn="tl" dir="5040000" dist="63500">
              <a:srgbClr val="000000">
                <a:alpha val="40784"/>
              </a:srgbClr>
            </a:outerShdw>
          </a:effectLst>
        </p:spPr>
      </p:pic>
      <p:sp>
        <p:nvSpPr>
          <p:cNvPr id="314" name="Google Shape;314;p27"/>
          <p:cNvSpPr txBox="1"/>
          <p:nvPr>
            <p:ph type="title"/>
          </p:nvPr>
        </p:nvSpPr>
        <p:spPr>
          <a:xfrm>
            <a:off x="680321" y="753228"/>
            <a:ext cx="4136123"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Trebuchet MS"/>
              <a:buNone/>
            </a:pPr>
            <a:r>
              <a:rPr lang="en-US" sz="2400"/>
              <a:t>Leave vs. Remain: A Divided Kingdom</a:t>
            </a:r>
            <a:endParaRPr/>
          </a:p>
        </p:txBody>
      </p:sp>
      <p:sp>
        <p:nvSpPr>
          <p:cNvPr id="315" name="Google Shape;315;p27"/>
          <p:cNvSpPr txBox="1"/>
          <p:nvPr>
            <p:ph idx="2" type="body"/>
          </p:nvPr>
        </p:nvSpPr>
        <p:spPr>
          <a:xfrm>
            <a:off x="680321" y="2336873"/>
            <a:ext cx="4136123" cy="3599316"/>
          </a:xfrm>
          <a:prstGeom prst="rect">
            <a:avLst/>
          </a:prstGeom>
          <a:noFill/>
          <a:ln>
            <a:noFill/>
          </a:ln>
        </p:spPr>
        <p:txBody>
          <a:bodyPr anchorCtr="0" anchor="ctr" bIns="45700" lIns="91425" spcFirstLastPara="1" rIns="91425" wrap="square" tIns="45700">
            <a:normAutofit/>
          </a:bodyPr>
          <a:lstStyle/>
          <a:p>
            <a:pPr indent="-228600" lvl="0" marL="285750" rtl="0" algn="l">
              <a:lnSpc>
                <a:spcPct val="90000"/>
              </a:lnSpc>
              <a:spcBef>
                <a:spcPts val="0"/>
              </a:spcBef>
              <a:spcAft>
                <a:spcPts val="0"/>
              </a:spcAft>
              <a:buClr>
                <a:schemeClr val="lt1"/>
              </a:buClr>
              <a:buSzPts val="2400"/>
              <a:buFont typeface="Arial"/>
              <a:buChar char="•"/>
            </a:pPr>
            <a:r>
              <a:rPr lang="en-US" sz="2400"/>
              <a:t>Scotland, Northern Ireland voted “Remain”</a:t>
            </a:r>
            <a:endParaRPr/>
          </a:p>
          <a:p>
            <a:pPr indent="-228600" lvl="0" marL="285750" rtl="0" algn="l">
              <a:lnSpc>
                <a:spcPct val="90000"/>
              </a:lnSpc>
              <a:spcBef>
                <a:spcPts val="1000"/>
              </a:spcBef>
              <a:spcAft>
                <a:spcPts val="0"/>
              </a:spcAft>
              <a:buClr>
                <a:schemeClr val="lt1"/>
              </a:buClr>
              <a:buSzPts val="2400"/>
              <a:buFont typeface="Arial"/>
              <a:buChar char="•"/>
            </a:pPr>
            <a:r>
              <a:rPr lang="en-US" sz="2400"/>
              <a:t>England, Wales voted “Leave”</a:t>
            </a:r>
            <a:endParaRPr/>
          </a:p>
          <a:p>
            <a:pPr indent="-228600" lvl="0" marL="285750" rtl="0" algn="l">
              <a:lnSpc>
                <a:spcPct val="90000"/>
              </a:lnSpc>
              <a:spcBef>
                <a:spcPts val="1000"/>
              </a:spcBef>
              <a:spcAft>
                <a:spcPts val="0"/>
              </a:spcAft>
              <a:buClr>
                <a:schemeClr val="lt1"/>
              </a:buClr>
              <a:buSzPts val="2400"/>
              <a:buFont typeface="Arial"/>
              <a:buChar char="•"/>
            </a:pPr>
            <a:r>
              <a:rPr lang="en-US" sz="2400"/>
              <a:t>Urban areas largely support “Remain,” rural “Leave”</a:t>
            </a:r>
            <a:endParaRPr/>
          </a:p>
          <a:p>
            <a:pPr indent="-228600" lvl="1" marL="742950" rtl="0" algn="l">
              <a:lnSpc>
                <a:spcPct val="90000"/>
              </a:lnSpc>
              <a:spcBef>
                <a:spcPts val="500"/>
              </a:spcBef>
              <a:spcAft>
                <a:spcPts val="0"/>
              </a:spcAft>
              <a:buClr>
                <a:schemeClr val="lt1"/>
              </a:buClr>
              <a:buSzPts val="2000"/>
              <a:buFont typeface="Arial"/>
              <a:buChar char="•"/>
            </a:pPr>
            <a:r>
              <a:rPr lang="en-US" sz="2000"/>
              <a:t>Education/income gap?</a:t>
            </a:r>
            <a:endParaRPr/>
          </a:p>
          <a:p>
            <a:pPr indent="-114300" lvl="0" marL="285750" rtl="0" algn="l">
              <a:lnSpc>
                <a:spcPct val="90000"/>
              </a:lnSpc>
              <a:spcBef>
                <a:spcPts val="1000"/>
              </a:spcBef>
              <a:spcAft>
                <a:spcPts val="0"/>
              </a:spcAft>
              <a:buClr>
                <a:schemeClr val="lt1"/>
              </a:buClr>
              <a:buSzPts val="1800"/>
              <a:buFont typeface="Arial"/>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19" name="Shape 319"/>
        <p:cNvGrpSpPr/>
        <p:nvPr/>
      </p:nvGrpSpPr>
      <p:grpSpPr>
        <a:xfrm>
          <a:off x="0" y="0"/>
          <a:ext cx="0" cy="0"/>
          <a:chOff x="0" y="0"/>
          <a:chExt cx="0" cy="0"/>
        </a:xfrm>
      </p:grpSpPr>
      <p:sp>
        <p:nvSpPr>
          <p:cNvPr id="320" name="Google Shape;320;p28"/>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International Institutions &amp; Trade Blocs </a:t>
            </a:r>
            <a:endParaRPr/>
          </a:p>
        </p:txBody>
      </p:sp>
      <p:grpSp>
        <p:nvGrpSpPr>
          <p:cNvPr id="321" name="Google Shape;321;p28"/>
          <p:cNvGrpSpPr/>
          <p:nvPr/>
        </p:nvGrpSpPr>
        <p:grpSpPr>
          <a:xfrm>
            <a:off x="684421" y="2537323"/>
            <a:ext cx="10823871" cy="3197816"/>
            <a:chOff x="3384" y="200523"/>
            <a:chExt cx="10823871" cy="3197816"/>
          </a:xfrm>
        </p:grpSpPr>
        <p:sp>
          <p:nvSpPr>
            <p:cNvPr id="322" name="Google Shape;322;p28"/>
            <p:cNvSpPr/>
            <p:nvPr/>
          </p:nvSpPr>
          <p:spPr>
            <a:xfrm>
              <a:off x="3384" y="200523"/>
              <a:ext cx="3299960" cy="738897"/>
            </a:xfrm>
            <a:prstGeom prst="rect">
              <a:avLst/>
            </a:prstGeom>
            <a:gradFill>
              <a:gsLst>
                <a:gs pos="0">
                  <a:srgbClr val="B87C48"/>
                </a:gs>
                <a:gs pos="50000">
                  <a:srgbClr val="B76D02"/>
                </a:gs>
                <a:gs pos="100000">
                  <a:srgbClr val="A86100"/>
                </a:gs>
              </a:gsLst>
              <a:lin ang="5400000" scaled="0"/>
            </a:gradFill>
            <a:ln cap="flat" cmpd="sng" w="9525">
              <a:solidFill>
                <a:srgbClr val="AF6C0C"/>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8"/>
            <p:cNvSpPr txBox="1"/>
            <p:nvPr/>
          </p:nvSpPr>
          <p:spPr>
            <a:xfrm>
              <a:off x="3384" y="200523"/>
              <a:ext cx="3299960" cy="738897"/>
            </a:xfrm>
            <a:prstGeom prst="rect">
              <a:avLst/>
            </a:prstGeom>
            <a:noFill/>
            <a:ln>
              <a:noFill/>
            </a:ln>
          </p:spPr>
          <p:txBody>
            <a:bodyPr anchorCtr="0" anchor="ctr" bIns="85325" lIns="149350" spcFirstLastPara="1" rIns="149350" wrap="square" tIns="85325">
              <a:noAutofit/>
            </a:bodyPr>
            <a:lstStyle/>
            <a:p>
              <a:pPr indent="0" lvl="0" marL="0" marR="0" rtl="0" algn="ctr">
                <a:lnSpc>
                  <a:spcPct val="90000"/>
                </a:lnSpc>
                <a:spcBef>
                  <a:spcPts val="0"/>
                </a:spcBef>
                <a:spcAft>
                  <a:spcPts val="0"/>
                </a:spcAft>
                <a:buClr>
                  <a:schemeClr val="lt1"/>
                </a:buClr>
                <a:buSzPts val="2100"/>
                <a:buFont typeface="Trebuchet MS"/>
                <a:buNone/>
              </a:pPr>
              <a:r>
                <a:rPr lang="en-US" sz="2100">
                  <a:solidFill>
                    <a:schemeClr val="lt1"/>
                  </a:solidFill>
                  <a:latin typeface="Trebuchet MS"/>
                  <a:ea typeface="Trebuchet MS"/>
                  <a:cs typeface="Trebuchet MS"/>
                  <a:sym typeface="Trebuchet MS"/>
                </a:rPr>
                <a:t>International Institutions Facilitate Trade Blocs</a:t>
              </a:r>
              <a:endParaRPr/>
            </a:p>
          </p:txBody>
        </p:sp>
        <p:sp>
          <p:nvSpPr>
            <p:cNvPr id="324" name="Google Shape;324;p28"/>
            <p:cNvSpPr/>
            <p:nvPr/>
          </p:nvSpPr>
          <p:spPr>
            <a:xfrm>
              <a:off x="3384" y="939420"/>
              <a:ext cx="3299960" cy="2458919"/>
            </a:xfrm>
            <a:prstGeom prst="rect">
              <a:avLst/>
            </a:prstGeom>
            <a:solidFill>
              <a:srgbClr val="F7CDB2">
                <a:alpha val="89803"/>
              </a:srgbClr>
            </a:solidFill>
            <a:ln cap="flat" cmpd="sng" w="9525">
              <a:solidFill>
                <a:srgbClr val="F7CDB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8"/>
            <p:cNvSpPr txBox="1"/>
            <p:nvPr/>
          </p:nvSpPr>
          <p:spPr>
            <a:xfrm>
              <a:off x="3384" y="939420"/>
              <a:ext cx="3299960" cy="2458919"/>
            </a:xfrm>
            <a:prstGeom prst="rect">
              <a:avLst/>
            </a:prstGeom>
            <a:noFill/>
            <a:ln>
              <a:noFill/>
            </a:ln>
          </p:spPr>
          <p:txBody>
            <a:bodyPr anchorCtr="0" anchor="t" bIns="168000" lIns="112000" spcFirstLastPara="1" rIns="149350" wrap="square" tIns="112000">
              <a:noAutofit/>
            </a:bodyPr>
            <a:lstStyle/>
            <a:p>
              <a:pPr indent="-228600" lvl="1" marL="228600" marR="0" rtl="0" algn="l">
                <a:lnSpc>
                  <a:spcPct val="90000"/>
                </a:lnSpc>
                <a:spcBef>
                  <a:spcPts val="0"/>
                </a:spcBef>
                <a:spcAft>
                  <a:spcPts val="0"/>
                </a:spcAft>
                <a:buClr>
                  <a:schemeClr val="lt1"/>
                </a:buClr>
                <a:buSzPts val="2100"/>
                <a:buFont typeface="Trebuchet MS"/>
                <a:buChar char="•"/>
              </a:pPr>
              <a:r>
                <a:rPr b="0" i="0" lang="en-US" sz="2100" u="none" cap="none" strike="noStrike">
                  <a:solidFill>
                    <a:schemeClr val="lt1"/>
                  </a:solidFill>
                  <a:latin typeface="Trebuchet MS"/>
                  <a:ea typeface="Trebuchet MS"/>
                  <a:cs typeface="Trebuchet MS"/>
                  <a:sym typeface="Trebuchet MS"/>
                </a:rPr>
                <a:t>Trade Blocs = Greater Economic Prosperity</a:t>
              </a:r>
              <a:endParaRPr/>
            </a:p>
            <a:p>
              <a:pPr indent="-228600" lvl="1" marL="228600" marR="0" rtl="0" algn="l">
                <a:lnSpc>
                  <a:spcPct val="90000"/>
                </a:lnSpc>
                <a:spcBef>
                  <a:spcPts val="315"/>
                </a:spcBef>
                <a:spcAft>
                  <a:spcPts val="0"/>
                </a:spcAft>
                <a:buClr>
                  <a:schemeClr val="lt1"/>
                </a:buClr>
                <a:buSzPts val="2100"/>
                <a:buFont typeface="Trebuchet MS"/>
                <a:buChar char="•"/>
              </a:pPr>
              <a:r>
                <a:rPr b="0" i="0" lang="en-US" sz="2100" u="none" cap="none" strike="noStrike">
                  <a:solidFill>
                    <a:schemeClr val="lt1"/>
                  </a:solidFill>
                  <a:latin typeface="Trebuchet MS"/>
                  <a:ea typeface="Trebuchet MS"/>
                  <a:cs typeface="Trebuchet MS"/>
                  <a:sym typeface="Trebuchet MS"/>
                </a:rPr>
                <a:t>Regional Free Trade 🡪 Specialization (EU nations similar to states in US)</a:t>
              </a:r>
              <a:endParaRPr/>
            </a:p>
          </p:txBody>
        </p:sp>
        <p:sp>
          <p:nvSpPr>
            <p:cNvPr id="326" name="Google Shape;326;p28"/>
            <p:cNvSpPr/>
            <p:nvPr/>
          </p:nvSpPr>
          <p:spPr>
            <a:xfrm>
              <a:off x="3765340" y="200523"/>
              <a:ext cx="3299960" cy="738897"/>
            </a:xfrm>
            <a:prstGeom prst="rect">
              <a:avLst/>
            </a:prstGeom>
            <a:gradFill>
              <a:gsLst>
                <a:gs pos="0">
                  <a:srgbClr val="F1B07E"/>
                </a:gs>
                <a:gs pos="50000">
                  <a:srgbClr val="F5A463"/>
                </a:gs>
                <a:gs pos="100000">
                  <a:srgbClr val="DF9050"/>
                </a:gs>
              </a:gsLst>
              <a:lin ang="5400000" scaled="0"/>
            </a:gradFill>
            <a:ln cap="flat" cmpd="sng" w="9525">
              <a:solidFill>
                <a:srgbClr val="EFA66B"/>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8"/>
            <p:cNvSpPr txBox="1"/>
            <p:nvPr/>
          </p:nvSpPr>
          <p:spPr>
            <a:xfrm>
              <a:off x="3765340" y="200523"/>
              <a:ext cx="3299960" cy="738897"/>
            </a:xfrm>
            <a:prstGeom prst="rect">
              <a:avLst/>
            </a:prstGeom>
            <a:noFill/>
            <a:ln>
              <a:noFill/>
            </a:ln>
          </p:spPr>
          <p:txBody>
            <a:bodyPr anchorCtr="0" anchor="ctr" bIns="85325" lIns="149350" spcFirstLastPara="1" rIns="149350" wrap="square" tIns="85325">
              <a:noAutofit/>
            </a:bodyPr>
            <a:lstStyle/>
            <a:p>
              <a:pPr indent="0" lvl="0" marL="0" marR="0" rtl="0" algn="ctr">
                <a:lnSpc>
                  <a:spcPct val="90000"/>
                </a:lnSpc>
                <a:spcBef>
                  <a:spcPts val="0"/>
                </a:spcBef>
                <a:spcAft>
                  <a:spcPts val="0"/>
                </a:spcAft>
                <a:buClr>
                  <a:schemeClr val="lt1"/>
                </a:buClr>
                <a:buSzPts val="2100"/>
                <a:buFont typeface="Trebuchet MS"/>
                <a:buNone/>
              </a:pPr>
              <a:r>
                <a:rPr lang="en-US" sz="2100">
                  <a:solidFill>
                    <a:schemeClr val="lt1"/>
                  </a:solidFill>
                  <a:latin typeface="Trebuchet MS"/>
                  <a:ea typeface="Trebuchet MS"/>
                  <a:cs typeface="Trebuchet MS"/>
                  <a:sym typeface="Trebuchet MS"/>
                </a:rPr>
                <a:t>Single Market</a:t>
              </a:r>
              <a:endParaRPr/>
            </a:p>
          </p:txBody>
        </p:sp>
        <p:sp>
          <p:nvSpPr>
            <p:cNvPr id="328" name="Google Shape;328;p28"/>
            <p:cNvSpPr/>
            <p:nvPr/>
          </p:nvSpPr>
          <p:spPr>
            <a:xfrm>
              <a:off x="3765340" y="939420"/>
              <a:ext cx="3299960" cy="2458919"/>
            </a:xfrm>
            <a:prstGeom prst="rect">
              <a:avLst/>
            </a:prstGeom>
            <a:solidFill>
              <a:srgbClr val="F7CDB2">
                <a:alpha val="89803"/>
              </a:srgbClr>
            </a:solidFill>
            <a:ln cap="flat" cmpd="sng" w="9525">
              <a:solidFill>
                <a:srgbClr val="F7CDB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8"/>
            <p:cNvSpPr txBox="1"/>
            <p:nvPr/>
          </p:nvSpPr>
          <p:spPr>
            <a:xfrm>
              <a:off x="3765340" y="939420"/>
              <a:ext cx="3299960" cy="2458919"/>
            </a:xfrm>
            <a:prstGeom prst="rect">
              <a:avLst/>
            </a:prstGeom>
            <a:noFill/>
            <a:ln>
              <a:noFill/>
            </a:ln>
          </p:spPr>
          <p:txBody>
            <a:bodyPr anchorCtr="0" anchor="t" bIns="168000" lIns="112000" spcFirstLastPara="1" rIns="149350" wrap="square" tIns="112000">
              <a:noAutofit/>
            </a:bodyPr>
            <a:lstStyle/>
            <a:p>
              <a:pPr indent="-228600" lvl="1" marL="228600" marR="0" rtl="0" algn="l">
                <a:lnSpc>
                  <a:spcPct val="90000"/>
                </a:lnSpc>
                <a:spcBef>
                  <a:spcPts val="0"/>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Job opportunities</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Production costs</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Consumer prices</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Labor quality</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Competition and trade</a:t>
              </a:r>
              <a:endParaRPr/>
            </a:p>
          </p:txBody>
        </p:sp>
        <p:sp>
          <p:nvSpPr>
            <p:cNvPr id="330" name="Google Shape;330;p28"/>
            <p:cNvSpPr/>
            <p:nvPr/>
          </p:nvSpPr>
          <p:spPr>
            <a:xfrm>
              <a:off x="7527295" y="200523"/>
              <a:ext cx="3299960" cy="738897"/>
            </a:xfrm>
            <a:prstGeom prst="rect">
              <a:avLst/>
            </a:prstGeom>
            <a:gradFill>
              <a:gsLst>
                <a:gs pos="0">
                  <a:srgbClr val="F1B07E"/>
                </a:gs>
                <a:gs pos="50000">
                  <a:srgbClr val="F5A463"/>
                </a:gs>
                <a:gs pos="100000">
                  <a:srgbClr val="DF9050"/>
                </a:gs>
              </a:gsLst>
              <a:lin ang="5400000" scaled="0"/>
            </a:gradFill>
            <a:ln cap="flat" cmpd="sng" w="9525">
              <a:solidFill>
                <a:srgbClr val="EFA66B"/>
              </a:solidFill>
              <a:prstDash val="solid"/>
              <a:round/>
              <a:headEnd len="sm" w="sm" type="none"/>
              <a:tailEnd len="sm" w="sm" type="none"/>
            </a:ln>
            <a:effectLst>
              <a:outerShdw blurRad="57150" rotWithShape="0" algn="ctr" dir="5400000" dist="19050">
                <a:srgbClr val="000000">
                  <a:alpha val="6274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8"/>
            <p:cNvSpPr txBox="1"/>
            <p:nvPr/>
          </p:nvSpPr>
          <p:spPr>
            <a:xfrm>
              <a:off x="7527295" y="200523"/>
              <a:ext cx="3299960" cy="738897"/>
            </a:xfrm>
            <a:prstGeom prst="rect">
              <a:avLst/>
            </a:prstGeom>
            <a:noFill/>
            <a:ln>
              <a:noFill/>
            </a:ln>
          </p:spPr>
          <p:txBody>
            <a:bodyPr anchorCtr="0" anchor="ctr" bIns="85325" lIns="149350" spcFirstLastPara="1" rIns="149350" wrap="square" tIns="85325">
              <a:noAutofit/>
            </a:bodyPr>
            <a:lstStyle/>
            <a:p>
              <a:pPr indent="0" lvl="0" marL="0" marR="0" rtl="0" algn="ctr">
                <a:lnSpc>
                  <a:spcPct val="90000"/>
                </a:lnSpc>
                <a:spcBef>
                  <a:spcPts val="0"/>
                </a:spcBef>
                <a:spcAft>
                  <a:spcPts val="0"/>
                </a:spcAft>
                <a:buClr>
                  <a:schemeClr val="lt1"/>
                </a:buClr>
                <a:buSzPts val="2100"/>
                <a:buFont typeface="Trebuchet MS"/>
                <a:buNone/>
              </a:pPr>
              <a:r>
                <a:rPr lang="en-US" sz="2100">
                  <a:solidFill>
                    <a:schemeClr val="lt1"/>
                  </a:solidFill>
                  <a:latin typeface="Trebuchet MS"/>
                  <a:ea typeface="Trebuchet MS"/>
                  <a:cs typeface="Trebuchet MS"/>
                  <a:sym typeface="Trebuchet MS"/>
                </a:rPr>
                <a:t>Advantages of Trade Blocs</a:t>
              </a:r>
              <a:endParaRPr/>
            </a:p>
          </p:txBody>
        </p:sp>
        <p:sp>
          <p:nvSpPr>
            <p:cNvPr id="332" name="Google Shape;332;p28"/>
            <p:cNvSpPr/>
            <p:nvPr/>
          </p:nvSpPr>
          <p:spPr>
            <a:xfrm>
              <a:off x="7527295" y="939420"/>
              <a:ext cx="3299960" cy="2458919"/>
            </a:xfrm>
            <a:prstGeom prst="rect">
              <a:avLst/>
            </a:prstGeom>
            <a:solidFill>
              <a:srgbClr val="F7CDB2">
                <a:alpha val="89803"/>
              </a:srgbClr>
            </a:solidFill>
            <a:ln cap="flat" cmpd="sng" w="9525">
              <a:solidFill>
                <a:srgbClr val="F7CDB2">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8"/>
            <p:cNvSpPr txBox="1"/>
            <p:nvPr/>
          </p:nvSpPr>
          <p:spPr>
            <a:xfrm>
              <a:off x="7527295" y="939420"/>
              <a:ext cx="3299960" cy="2458919"/>
            </a:xfrm>
            <a:prstGeom prst="rect">
              <a:avLst/>
            </a:prstGeom>
            <a:noFill/>
            <a:ln>
              <a:noFill/>
            </a:ln>
          </p:spPr>
          <p:txBody>
            <a:bodyPr anchorCtr="0" anchor="t" bIns="168000" lIns="112000" spcFirstLastPara="1" rIns="149350" wrap="square" tIns="112000">
              <a:noAutofit/>
            </a:bodyPr>
            <a:lstStyle/>
            <a:p>
              <a:pPr indent="-228600" lvl="1" marL="228600" marR="0" rtl="0" algn="l">
                <a:lnSpc>
                  <a:spcPct val="90000"/>
                </a:lnSpc>
                <a:spcBef>
                  <a:spcPts val="0"/>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Competition</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Economies of scale</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Foreign direct investment (FDI)</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Market efficiency</a:t>
              </a:r>
              <a:endParaRPr/>
            </a:p>
            <a:p>
              <a:pPr indent="-228600" lvl="1" marL="228600" marR="0" rtl="0" algn="l">
                <a:lnSpc>
                  <a:spcPct val="90000"/>
                </a:lnSpc>
                <a:spcBef>
                  <a:spcPts val="315"/>
                </a:spcBef>
                <a:spcAft>
                  <a:spcPts val="0"/>
                </a:spcAft>
                <a:buClr>
                  <a:schemeClr val="lt1"/>
                </a:buClr>
                <a:buSzPts val="2100"/>
                <a:buFont typeface="Trebuchet MS"/>
                <a:buAutoNum type="arabicPeriod"/>
              </a:pPr>
              <a:r>
                <a:rPr b="0" i="0" lang="en-US" sz="2100" u="none" cap="none" strike="noStrike">
                  <a:solidFill>
                    <a:schemeClr val="lt1"/>
                  </a:solidFill>
                  <a:latin typeface="Trebuchet MS"/>
                  <a:ea typeface="Trebuchet MS"/>
                  <a:cs typeface="Trebuchet MS"/>
                  <a:sym typeface="Trebuchet MS"/>
                </a:rPr>
                <a:t>Trade effects (no tariffs)</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37" name="Shape 337"/>
        <p:cNvGrpSpPr/>
        <p:nvPr/>
      </p:nvGrpSpPr>
      <p:grpSpPr>
        <a:xfrm>
          <a:off x="0" y="0"/>
          <a:ext cx="0" cy="0"/>
          <a:chOff x="0" y="0"/>
          <a:chExt cx="0" cy="0"/>
        </a:xfrm>
      </p:grpSpPr>
      <p:pic>
        <p:nvPicPr>
          <p:cNvPr id="338" name="Google Shape;338;p29"/>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339" name="Google Shape;339;p29"/>
          <p:cNvPicPr preferRelativeResize="0"/>
          <p:nvPr/>
        </p:nvPicPr>
        <p:blipFill rotWithShape="1">
          <a:blip r:embed="rId4">
            <a:alphaModFix/>
          </a:blip>
          <a:srcRect b="0" l="0" r="0" t="0"/>
          <a:stretch/>
        </p:blipFill>
        <p:spPr>
          <a:xfrm>
            <a:off x="1" y="1970240"/>
            <a:ext cx="10437812" cy="321164"/>
          </a:xfrm>
          <a:prstGeom prst="rect">
            <a:avLst/>
          </a:prstGeom>
          <a:noFill/>
          <a:ln>
            <a:noFill/>
          </a:ln>
        </p:spPr>
      </p:pic>
      <p:pic>
        <p:nvPicPr>
          <p:cNvPr id="340" name="Google Shape;340;p29"/>
          <p:cNvPicPr preferRelativeResize="0"/>
          <p:nvPr/>
        </p:nvPicPr>
        <p:blipFill rotWithShape="1">
          <a:blip r:embed="rId5">
            <a:alphaModFix/>
          </a:blip>
          <a:srcRect b="0" l="0" r="0" t="0"/>
          <a:stretch/>
        </p:blipFill>
        <p:spPr>
          <a:xfrm>
            <a:off x="10585826" y="1971234"/>
            <a:ext cx="1602997" cy="144270"/>
          </a:xfrm>
          <a:prstGeom prst="rect">
            <a:avLst/>
          </a:prstGeom>
          <a:noFill/>
          <a:ln>
            <a:noFill/>
          </a:ln>
        </p:spPr>
      </p:pic>
      <p:sp>
        <p:nvSpPr>
          <p:cNvPr id="341" name="Google Shape;341;p29"/>
          <p:cNvSpPr/>
          <p:nvPr/>
        </p:nvSpPr>
        <p:spPr>
          <a:xfrm>
            <a:off x="0" y="609600"/>
            <a:ext cx="10437812"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9"/>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9"/>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44" name="Google Shape;344;p29"/>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sp>
        <p:nvSpPr>
          <p:cNvPr id="345" name="Google Shape;345;p29"/>
          <p:cNvSpPr/>
          <p:nvPr/>
        </p:nvSpPr>
        <p:spPr>
          <a:xfrm>
            <a:off x="7598325" y="0"/>
            <a:ext cx="4636008" cy="685800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46" name="Google Shape;346;p29"/>
          <p:cNvSpPr/>
          <p:nvPr/>
        </p:nvSpPr>
        <p:spPr>
          <a:xfrm>
            <a:off x="2" y="609600"/>
            <a:ext cx="7876030"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 name="Google Shape;347;p29"/>
          <p:cNvPicPr preferRelativeResize="0"/>
          <p:nvPr/>
        </p:nvPicPr>
        <p:blipFill rotWithShape="1">
          <a:blip r:embed="rId4">
            <a:alphaModFix/>
          </a:blip>
          <a:srcRect b="0" l="0" r="0" t="0"/>
          <a:stretch/>
        </p:blipFill>
        <p:spPr>
          <a:xfrm>
            <a:off x="2" y="1970240"/>
            <a:ext cx="7967048" cy="321164"/>
          </a:xfrm>
          <a:prstGeom prst="rect">
            <a:avLst/>
          </a:prstGeom>
          <a:noFill/>
          <a:ln>
            <a:noFill/>
          </a:ln>
        </p:spPr>
      </p:pic>
      <p:sp>
        <p:nvSpPr>
          <p:cNvPr id="348" name="Google Shape;348;p29"/>
          <p:cNvSpPr/>
          <p:nvPr/>
        </p:nvSpPr>
        <p:spPr>
          <a:xfrm>
            <a:off x="8246423" y="642795"/>
            <a:ext cx="3347830" cy="5575125"/>
          </a:xfrm>
          <a:prstGeom prst="rect">
            <a:avLst/>
          </a:prstGeom>
          <a:solidFill>
            <a:schemeClr val="lt1"/>
          </a:solidFill>
          <a:ln>
            <a:noFill/>
          </a:ln>
          <a:effectLst>
            <a:outerShdw blurRad="76200" rotWithShape="0" algn="t" dir="5040000" dist="63500">
              <a:srgbClr val="000000">
                <a:alpha val="4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49" name="Google Shape;349;p29"/>
          <p:cNvPicPr preferRelativeResize="0"/>
          <p:nvPr>
            <p:ph idx="2" type="body"/>
          </p:nvPr>
        </p:nvPicPr>
        <p:blipFill rotWithShape="1">
          <a:blip r:embed="rId6">
            <a:alphaModFix/>
          </a:blip>
          <a:srcRect b="0" l="0" r="0" t="0"/>
          <a:stretch/>
        </p:blipFill>
        <p:spPr>
          <a:xfrm>
            <a:off x="8568156" y="3591224"/>
            <a:ext cx="2704363" cy="1920097"/>
          </a:xfrm>
          <a:prstGeom prst="rect">
            <a:avLst/>
          </a:prstGeom>
          <a:noFill/>
          <a:ln>
            <a:noFill/>
          </a:ln>
        </p:spPr>
      </p:pic>
      <p:sp>
        <p:nvSpPr>
          <p:cNvPr id="350" name="Google Shape;350;p29"/>
          <p:cNvSpPr txBox="1"/>
          <p:nvPr>
            <p:ph type="title"/>
          </p:nvPr>
        </p:nvSpPr>
        <p:spPr>
          <a:xfrm>
            <a:off x="680321" y="753228"/>
            <a:ext cx="7087552"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Rise of the Far-Right</a:t>
            </a:r>
            <a:endParaRPr/>
          </a:p>
        </p:txBody>
      </p:sp>
      <p:sp>
        <p:nvSpPr>
          <p:cNvPr id="351" name="Google Shape;351;p29"/>
          <p:cNvSpPr txBox="1"/>
          <p:nvPr>
            <p:ph idx="1" type="body"/>
          </p:nvPr>
        </p:nvSpPr>
        <p:spPr>
          <a:xfrm>
            <a:off x="680321" y="2336873"/>
            <a:ext cx="6423211" cy="3599316"/>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lang="en-US" sz="2000"/>
              <a:t>Causes for Trend: (via Bloomberg)</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Corrupt elites</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Fading manufacturing sector</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Increasing income inequality</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National sovereignty</a:t>
            </a:r>
            <a:endParaRPr/>
          </a:p>
          <a:p>
            <a:pPr indent="-342900" lvl="1" marL="800100" rtl="0" algn="l">
              <a:lnSpc>
                <a:spcPct val="90000"/>
              </a:lnSpc>
              <a:spcBef>
                <a:spcPts val="500"/>
              </a:spcBef>
              <a:spcAft>
                <a:spcPts val="0"/>
              </a:spcAft>
              <a:buClr>
                <a:schemeClr val="lt1"/>
              </a:buClr>
              <a:buSzPts val="1600"/>
              <a:buFont typeface="Trebuchet MS"/>
              <a:buAutoNum type="arabicPeriod"/>
            </a:pPr>
            <a:r>
              <a:rPr lang="en-US" sz="1600"/>
              <a:t>Uncontrolled immigration</a:t>
            </a:r>
            <a:endParaRPr/>
          </a:p>
          <a:p>
            <a:pPr indent="-228600" lvl="0" marL="228600" rtl="0" algn="l">
              <a:lnSpc>
                <a:spcPct val="90000"/>
              </a:lnSpc>
              <a:spcBef>
                <a:spcPts val="1000"/>
              </a:spcBef>
              <a:spcAft>
                <a:spcPts val="0"/>
              </a:spcAft>
              <a:buClr>
                <a:schemeClr val="lt1"/>
              </a:buClr>
              <a:buSzPts val="2000"/>
              <a:buChar char="•"/>
            </a:pPr>
            <a:r>
              <a:rPr lang="en-US" sz="2000"/>
              <a:t>Xenophobia Key Driver</a:t>
            </a:r>
            <a:endParaRPr/>
          </a:p>
          <a:p>
            <a:pPr indent="-228600" lvl="1" marL="685800" rtl="0" algn="l">
              <a:lnSpc>
                <a:spcPct val="90000"/>
              </a:lnSpc>
              <a:spcBef>
                <a:spcPts val="500"/>
              </a:spcBef>
              <a:spcAft>
                <a:spcPts val="0"/>
              </a:spcAft>
              <a:buClr>
                <a:schemeClr val="lt1"/>
              </a:buClr>
              <a:buSzPts val="1600"/>
              <a:buChar char="•"/>
            </a:pPr>
            <a:r>
              <a:rPr lang="en-US" sz="1600"/>
              <a:t>Poll: 73% Brexit “Leave” voters cite immigration as main reason (Independent)</a:t>
            </a:r>
            <a:endParaRPr/>
          </a:p>
          <a:p>
            <a:pPr indent="-228600" lvl="0" marL="228600" rtl="0" algn="l">
              <a:lnSpc>
                <a:spcPct val="90000"/>
              </a:lnSpc>
              <a:spcBef>
                <a:spcPts val="1000"/>
              </a:spcBef>
              <a:spcAft>
                <a:spcPts val="0"/>
              </a:spcAft>
              <a:buClr>
                <a:schemeClr val="lt1"/>
              </a:buClr>
              <a:buSzPts val="2000"/>
              <a:buChar char="•"/>
            </a:pPr>
            <a:r>
              <a:rPr lang="en-US" sz="2000"/>
              <a:t>Larger # of Immigrants = Greater % of Population RW Populist</a:t>
            </a:r>
            <a:endParaRPr/>
          </a:p>
        </p:txBody>
      </p:sp>
      <p:sp>
        <p:nvSpPr>
          <p:cNvPr id="352" name="Google Shape;352;p29"/>
          <p:cNvSpPr txBox="1"/>
          <p:nvPr/>
        </p:nvSpPr>
        <p:spPr>
          <a:xfrm>
            <a:off x="8679933" y="5511321"/>
            <a:ext cx="259258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RW = Right-Wing</a:t>
            </a:r>
            <a:endParaRPr/>
          </a:p>
        </p:txBody>
      </p:sp>
      <p:pic>
        <p:nvPicPr>
          <p:cNvPr id="353" name="Google Shape;353;p29"/>
          <p:cNvPicPr preferRelativeResize="0"/>
          <p:nvPr/>
        </p:nvPicPr>
        <p:blipFill rotWithShape="1">
          <a:blip r:embed="rId7">
            <a:alphaModFix/>
          </a:blip>
          <a:srcRect b="0" l="0" r="0" t="0"/>
          <a:stretch/>
        </p:blipFill>
        <p:spPr>
          <a:xfrm>
            <a:off x="8568156" y="1293891"/>
            <a:ext cx="2706302" cy="19755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57" name="Shape 357"/>
        <p:cNvGrpSpPr/>
        <p:nvPr/>
      </p:nvGrpSpPr>
      <p:grpSpPr>
        <a:xfrm>
          <a:off x="0" y="0"/>
          <a:ext cx="0" cy="0"/>
          <a:chOff x="0" y="0"/>
          <a:chExt cx="0" cy="0"/>
        </a:xfrm>
      </p:grpSpPr>
      <p:sp>
        <p:nvSpPr>
          <p:cNvPr id="358" name="Google Shape;358;p30"/>
          <p:cNvSpPr/>
          <p:nvPr/>
        </p:nvSpPr>
        <p:spPr>
          <a:xfrm>
            <a:off x="0" y="-1"/>
            <a:ext cx="12188824" cy="6858001"/>
          </a:xfrm>
          <a:prstGeom prst="rect">
            <a:avLst/>
          </a:prstGeom>
          <a:gradFill>
            <a:gsLst>
              <a:gs pos="0">
                <a:srgbClr val="F78121"/>
              </a:gs>
              <a:gs pos="50000">
                <a:srgbClr val="D54006"/>
              </a:gs>
              <a:gs pos="100000">
                <a:srgbClr val="8C0000"/>
              </a:gs>
            </a:gsLst>
            <a:lin ang="2520000" scaled="0"/>
          </a:gradFill>
          <a:ln cap="flat" cmpd="sng" w="12700">
            <a:solidFill>
              <a:srgbClr val="AF6C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359" name="Google Shape;359;p30"/>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360" name="Google Shape;360;p30"/>
          <p:cNvSpPr/>
          <p:nvPr/>
        </p:nvSpPr>
        <p:spPr>
          <a:xfrm>
            <a:off x="0" y="2116667"/>
            <a:ext cx="10439400" cy="3793206"/>
          </a:xfrm>
          <a:prstGeom prst="rect">
            <a:avLst/>
          </a:prstGeom>
          <a:solidFill>
            <a:srgbClr val="0C0C0C">
              <a:alpha val="8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0"/>
          <p:cNvSpPr/>
          <p:nvPr/>
        </p:nvSpPr>
        <p:spPr>
          <a:xfrm>
            <a:off x="0" y="609600"/>
            <a:ext cx="10437812" cy="1368198"/>
          </a:xfrm>
          <a:prstGeom prst="rect">
            <a:avLst/>
          </a:prstGeom>
          <a:solidFill>
            <a:srgbClr val="0C0C0C">
              <a:alpha val="8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0"/>
          <p:cNvSpPr/>
          <p:nvPr/>
        </p:nvSpPr>
        <p:spPr>
          <a:xfrm>
            <a:off x="10585827" y="609600"/>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3" name="Google Shape;363;p30"/>
          <p:cNvPicPr preferRelativeResize="0"/>
          <p:nvPr/>
        </p:nvPicPr>
        <p:blipFill rotWithShape="1">
          <a:blip r:embed="rId4">
            <a:alphaModFix/>
          </a:blip>
          <a:srcRect b="0" l="0" r="0" t="0"/>
          <a:stretch/>
        </p:blipFill>
        <p:spPr>
          <a:xfrm>
            <a:off x="1" y="1970240"/>
            <a:ext cx="10437812" cy="321164"/>
          </a:xfrm>
          <a:prstGeom prst="rect">
            <a:avLst/>
          </a:prstGeom>
          <a:noFill/>
          <a:ln>
            <a:noFill/>
          </a:ln>
        </p:spPr>
      </p:pic>
      <p:pic>
        <p:nvPicPr>
          <p:cNvPr id="364" name="Google Shape;364;p30"/>
          <p:cNvPicPr preferRelativeResize="0"/>
          <p:nvPr/>
        </p:nvPicPr>
        <p:blipFill rotWithShape="1">
          <a:blip r:embed="rId5">
            <a:alphaModFix/>
          </a:blip>
          <a:srcRect b="0" l="0" r="0" t="0"/>
          <a:stretch/>
        </p:blipFill>
        <p:spPr>
          <a:xfrm>
            <a:off x="10585826" y="1971234"/>
            <a:ext cx="1602997" cy="144270"/>
          </a:xfrm>
          <a:prstGeom prst="rect">
            <a:avLst/>
          </a:prstGeom>
          <a:noFill/>
          <a:ln>
            <a:noFill/>
          </a:ln>
        </p:spPr>
      </p:pic>
      <p:sp>
        <p:nvSpPr>
          <p:cNvPr id="365" name="Google Shape;365;p30"/>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Rise of the Far-Right</a:t>
            </a:r>
            <a:endParaRPr/>
          </a:p>
        </p:txBody>
      </p:sp>
      <p:grpSp>
        <p:nvGrpSpPr>
          <p:cNvPr id="366" name="Google Shape;366;p30"/>
          <p:cNvGrpSpPr/>
          <p:nvPr/>
        </p:nvGrpSpPr>
        <p:grpSpPr>
          <a:xfrm>
            <a:off x="2237926" y="2427889"/>
            <a:ext cx="6319676" cy="3159837"/>
            <a:chOff x="1556888" y="411"/>
            <a:chExt cx="6319676" cy="3159837"/>
          </a:xfrm>
        </p:grpSpPr>
        <p:sp>
          <p:nvSpPr>
            <p:cNvPr id="367" name="Google Shape;367;p30"/>
            <p:cNvSpPr/>
            <p:nvPr/>
          </p:nvSpPr>
          <p:spPr>
            <a:xfrm>
              <a:off x="1556888" y="411"/>
              <a:ext cx="1805621" cy="902810"/>
            </a:xfrm>
            <a:prstGeom prst="roundRect">
              <a:avLst>
                <a:gd fmla="val 10000" name="adj"/>
              </a:avLst>
            </a:prstGeom>
            <a:solidFill>
              <a:schemeClr val="accent3"/>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0"/>
            <p:cNvSpPr txBox="1"/>
            <p:nvPr/>
          </p:nvSpPr>
          <p:spPr>
            <a:xfrm>
              <a:off x="1583330" y="26853"/>
              <a:ext cx="1752737" cy="849926"/>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Most prevalent in:</a:t>
              </a:r>
              <a:endParaRPr/>
            </a:p>
          </p:txBody>
        </p:sp>
        <p:sp>
          <p:nvSpPr>
            <p:cNvPr id="369" name="Google Shape;369;p30"/>
            <p:cNvSpPr/>
            <p:nvPr/>
          </p:nvSpPr>
          <p:spPr>
            <a:xfrm>
              <a:off x="1737450" y="903222"/>
              <a:ext cx="180562" cy="677108"/>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70" name="Google Shape;370;p30"/>
            <p:cNvSpPr/>
            <p:nvPr/>
          </p:nvSpPr>
          <p:spPr>
            <a:xfrm>
              <a:off x="1918012" y="1128925"/>
              <a:ext cx="1444497" cy="902810"/>
            </a:xfrm>
            <a:prstGeom prst="roundRect">
              <a:avLst>
                <a:gd fmla="val 10000" name="adj"/>
              </a:avLst>
            </a:prstGeom>
            <a:solidFill>
              <a:schemeClr val="lt1">
                <a:alpha val="89803"/>
              </a:schemeClr>
            </a:solidFill>
            <a:ln cap="flat" cmpd="sng" w="127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0"/>
            <p:cNvSpPr txBox="1"/>
            <p:nvPr/>
          </p:nvSpPr>
          <p:spPr>
            <a:xfrm>
              <a:off x="1944454" y="1155367"/>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 Eastern Europe</a:t>
              </a:r>
              <a:endParaRPr/>
            </a:p>
          </p:txBody>
        </p:sp>
        <p:sp>
          <p:nvSpPr>
            <p:cNvPr id="372" name="Google Shape;372;p30"/>
            <p:cNvSpPr/>
            <p:nvPr/>
          </p:nvSpPr>
          <p:spPr>
            <a:xfrm>
              <a:off x="1737450" y="903222"/>
              <a:ext cx="180562" cy="1805621"/>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73" name="Google Shape;373;p30"/>
            <p:cNvSpPr/>
            <p:nvPr/>
          </p:nvSpPr>
          <p:spPr>
            <a:xfrm>
              <a:off x="1918012" y="2257438"/>
              <a:ext cx="1444497" cy="902810"/>
            </a:xfrm>
            <a:prstGeom prst="roundRect">
              <a:avLst>
                <a:gd fmla="val 10000" name="adj"/>
              </a:avLst>
            </a:prstGeom>
            <a:solidFill>
              <a:schemeClr val="lt1">
                <a:alpha val="89803"/>
              </a:schemeClr>
            </a:solidFill>
            <a:ln cap="flat" cmpd="sng" w="12700">
              <a:solidFill>
                <a:srgbClr val="4EB5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0"/>
            <p:cNvSpPr txBox="1"/>
            <p:nvPr/>
          </p:nvSpPr>
          <p:spPr>
            <a:xfrm>
              <a:off x="1944454" y="2283880"/>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Scandinavia</a:t>
              </a:r>
              <a:endParaRPr/>
            </a:p>
          </p:txBody>
        </p:sp>
        <p:sp>
          <p:nvSpPr>
            <p:cNvPr id="375" name="Google Shape;375;p30"/>
            <p:cNvSpPr/>
            <p:nvPr/>
          </p:nvSpPr>
          <p:spPr>
            <a:xfrm>
              <a:off x="3813915" y="411"/>
              <a:ext cx="1805621" cy="902810"/>
            </a:xfrm>
            <a:prstGeom prst="roundRect">
              <a:avLst>
                <a:gd fmla="val 10000" name="adj"/>
              </a:avLst>
            </a:prstGeom>
            <a:solidFill>
              <a:srgbClr val="50B8A5"/>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0"/>
            <p:cNvSpPr txBox="1"/>
            <p:nvPr/>
          </p:nvSpPr>
          <p:spPr>
            <a:xfrm>
              <a:off x="3840357" y="26853"/>
              <a:ext cx="1752737" cy="849926"/>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~10% of popular vote in most Western states</a:t>
              </a:r>
              <a:endParaRPr/>
            </a:p>
          </p:txBody>
        </p:sp>
        <p:sp>
          <p:nvSpPr>
            <p:cNvPr id="377" name="Google Shape;377;p30"/>
            <p:cNvSpPr/>
            <p:nvPr/>
          </p:nvSpPr>
          <p:spPr>
            <a:xfrm>
              <a:off x="3994477" y="903222"/>
              <a:ext cx="180562" cy="677108"/>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78" name="Google Shape;378;p30"/>
            <p:cNvSpPr/>
            <p:nvPr/>
          </p:nvSpPr>
          <p:spPr>
            <a:xfrm>
              <a:off x="4175039" y="1128925"/>
              <a:ext cx="1444497" cy="902810"/>
            </a:xfrm>
            <a:prstGeom prst="roundRect">
              <a:avLst>
                <a:gd fmla="val 10000" name="adj"/>
              </a:avLst>
            </a:prstGeom>
            <a:solidFill>
              <a:schemeClr val="lt1">
                <a:alpha val="89803"/>
              </a:schemeClr>
            </a:solidFill>
            <a:ln cap="flat" cmpd="sng" w="12700">
              <a:solidFill>
                <a:srgbClr val="53BA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0"/>
            <p:cNvSpPr txBox="1"/>
            <p:nvPr/>
          </p:nvSpPr>
          <p:spPr>
            <a:xfrm>
              <a:off x="4201481" y="1155367"/>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Excluding Belgium, western France/Germany</a:t>
              </a:r>
              <a:endParaRPr/>
            </a:p>
          </p:txBody>
        </p:sp>
        <p:sp>
          <p:nvSpPr>
            <p:cNvPr id="380" name="Google Shape;380;p30"/>
            <p:cNvSpPr/>
            <p:nvPr/>
          </p:nvSpPr>
          <p:spPr>
            <a:xfrm>
              <a:off x="6070942" y="411"/>
              <a:ext cx="1805621" cy="902810"/>
            </a:xfrm>
            <a:prstGeom prst="roundRect">
              <a:avLst>
                <a:gd fmla="val 10000" name="adj"/>
              </a:avLst>
            </a:prstGeom>
            <a:solidFill>
              <a:srgbClr val="59A4BF"/>
            </a:solidFill>
            <a:ln cap="flat" cmpd="sng" w="127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0"/>
            <p:cNvSpPr txBox="1"/>
            <p:nvPr/>
          </p:nvSpPr>
          <p:spPr>
            <a:xfrm>
              <a:off x="6097384" y="26853"/>
              <a:ext cx="1752737" cy="849926"/>
            </a:xfrm>
            <a:prstGeom prst="rect">
              <a:avLst/>
            </a:prstGeom>
            <a:noFill/>
            <a:ln>
              <a:noFill/>
            </a:ln>
          </p:spPr>
          <p:txBody>
            <a:bodyPr anchorCtr="0" anchor="ctr" bIns="22850" lIns="34275" spcFirstLastPara="1" rIns="34275" wrap="square" tIns="22850">
              <a:noAutofit/>
            </a:bodyPr>
            <a:lstStyle/>
            <a:p>
              <a:pPr indent="0" lvl="0" marL="0" marR="0" rtl="0" algn="ctr">
                <a:lnSpc>
                  <a:spcPct val="90000"/>
                </a:lnSpc>
                <a:spcBef>
                  <a:spcPts val="0"/>
                </a:spcBef>
                <a:spcAft>
                  <a:spcPts val="0"/>
                </a:spcAft>
                <a:buClr>
                  <a:schemeClr val="lt1"/>
                </a:buClr>
                <a:buSzPts val="1800"/>
                <a:buFont typeface="Trebuchet MS"/>
                <a:buNone/>
              </a:pPr>
              <a:r>
                <a:rPr lang="en-US" sz="1800">
                  <a:solidFill>
                    <a:schemeClr val="lt1"/>
                  </a:solidFill>
                  <a:latin typeface="Trebuchet MS"/>
                  <a:ea typeface="Trebuchet MS"/>
                  <a:cs typeface="Trebuchet MS"/>
                  <a:sym typeface="Trebuchet MS"/>
                </a:rPr>
                <a:t>Surprisingly, UK seen recent dip in popularity</a:t>
              </a:r>
              <a:endParaRPr/>
            </a:p>
          </p:txBody>
        </p:sp>
        <p:sp>
          <p:nvSpPr>
            <p:cNvPr id="382" name="Google Shape;382;p30"/>
            <p:cNvSpPr/>
            <p:nvPr/>
          </p:nvSpPr>
          <p:spPr>
            <a:xfrm>
              <a:off x="6251505" y="903222"/>
              <a:ext cx="180562" cy="677108"/>
            </a:xfrm>
            <a:custGeom>
              <a:rect b="b" l="l" r="r" t="t"/>
              <a:pathLst>
                <a:path extrusionOk="0" h="120000" w="120000">
                  <a:moveTo>
                    <a:pt x="0" y="0"/>
                  </a:moveTo>
                  <a:lnTo>
                    <a:pt x="0" y="120000"/>
                  </a:lnTo>
                  <a:lnTo>
                    <a:pt x="120000" y="120000"/>
                  </a:lnTo>
                </a:path>
              </a:pathLst>
            </a:custGeom>
            <a:noFill/>
            <a:ln cap="flat" cmpd="sng" w="12700">
              <a:solidFill>
                <a:schemeClr val="accent4"/>
              </a:solidFill>
              <a:prstDash val="solid"/>
              <a:round/>
              <a:headEnd len="sm" w="sm" type="none"/>
              <a:tailEnd len="sm" w="sm" type="none"/>
            </a:ln>
          </p:spPr>
        </p:sp>
        <p:sp>
          <p:nvSpPr>
            <p:cNvPr id="383" name="Google Shape;383;p30"/>
            <p:cNvSpPr/>
            <p:nvPr/>
          </p:nvSpPr>
          <p:spPr>
            <a:xfrm>
              <a:off x="6432067" y="1128925"/>
              <a:ext cx="1444497" cy="902810"/>
            </a:xfrm>
            <a:prstGeom prst="roundRect">
              <a:avLst>
                <a:gd fmla="val 10000" name="adj"/>
              </a:avLst>
            </a:prstGeom>
            <a:solidFill>
              <a:schemeClr val="lt1">
                <a:alpha val="89803"/>
              </a:schemeClr>
            </a:solidFill>
            <a:ln cap="flat" cmpd="sng" w="12700">
              <a:solidFill>
                <a:srgbClr val="59A4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0"/>
            <p:cNvSpPr txBox="1"/>
            <p:nvPr/>
          </p:nvSpPr>
          <p:spPr>
            <a:xfrm>
              <a:off x="6458509" y="1155367"/>
              <a:ext cx="1391613" cy="849926"/>
            </a:xfrm>
            <a:prstGeom prst="rect">
              <a:avLst/>
            </a:prstGeom>
            <a:noFill/>
            <a:ln>
              <a:noFill/>
            </a:ln>
          </p:spPr>
          <p:txBody>
            <a:bodyPr anchorCtr="0" anchor="ctr" bIns="16500" lIns="24750" spcFirstLastPara="1" rIns="24750" wrap="square" tIns="16500">
              <a:noAutofit/>
            </a:bodyPr>
            <a:lstStyle/>
            <a:p>
              <a:pPr indent="0" lvl="0" marL="0" marR="0" rtl="0" algn="ctr">
                <a:lnSpc>
                  <a:spcPct val="90000"/>
                </a:lnSpc>
                <a:spcBef>
                  <a:spcPts val="0"/>
                </a:spcBef>
                <a:spcAft>
                  <a:spcPts val="0"/>
                </a:spcAft>
                <a:buClr>
                  <a:schemeClr val="lt1"/>
                </a:buClr>
                <a:buSzPts val="1300"/>
                <a:buFont typeface="Trebuchet MS"/>
                <a:buNone/>
              </a:pPr>
              <a:r>
                <a:rPr lang="en-US" sz="1300">
                  <a:solidFill>
                    <a:schemeClr val="lt1"/>
                  </a:solidFill>
                  <a:latin typeface="Trebuchet MS"/>
                  <a:ea typeface="Trebuchet MS"/>
                  <a:cs typeface="Trebuchet MS"/>
                  <a:sym typeface="Trebuchet MS"/>
                </a:rPr>
                <a:t>2015: 12.6%🡪 2017: &lt; 2%</a:t>
              </a:r>
              <a:endParaRPr sz="1300">
                <a:solidFill>
                  <a:schemeClr val="lt1"/>
                </a:solidFill>
                <a:latin typeface="Trebuchet MS"/>
                <a:ea typeface="Trebuchet MS"/>
                <a:cs typeface="Trebuchet MS"/>
                <a:sym typeface="Trebuchet M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1"/>
          <p:cNvSpPr txBox="1"/>
          <p:nvPr>
            <p:ph type="title"/>
          </p:nvPr>
        </p:nvSpPr>
        <p:spPr>
          <a:xfrm>
            <a:off x="680321" y="753228"/>
            <a:ext cx="9613861"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Rise of the Far-Right</a:t>
            </a:r>
            <a:endParaRPr/>
          </a:p>
        </p:txBody>
      </p:sp>
      <p:pic>
        <p:nvPicPr>
          <p:cNvPr id="390" name="Google Shape;390;p31"/>
          <p:cNvPicPr preferRelativeResize="0"/>
          <p:nvPr>
            <p:ph idx="1" type="body"/>
          </p:nvPr>
        </p:nvPicPr>
        <p:blipFill rotWithShape="1">
          <a:blip r:embed="rId3">
            <a:alphaModFix/>
          </a:blip>
          <a:srcRect b="0" l="0" r="0" t="0"/>
          <a:stretch/>
        </p:blipFill>
        <p:spPr>
          <a:xfrm>
            <a:off x="680321" y="2336800"/>
            <a:ext cx="4608342" cy="3598863"/>
          </a:xfrm>
          <a:prstGeom prst="rect">
            <a:avLst/>
          </a:prstGeom>
          <a:noFill/>
          <a:ln>
            <a:noFill/>
          </a:ln>
          <a:effectLst>
            <a:outerShdw blurRad="76200" rotWithShape="0" algn="tl" dir="5040000" dist="63500">
              <a:srgbClr val="000000">
                <a:alpha val="40784"/>
              </a:srgbClr>
            </a:outerShdw>
          </a:effectLst>
        </p:spPr>
      </p:pic>
      <p:pic>
        <p:nvPicPr>
          <p:cNvPr id="391" name="Google Shape;391;p31"/>
          <p:cNvPicPr preferRelativeResize="0"/>
          <p:nvPr>
            <p:ph idx="2" type="body"/>
          </p:nvPr>
        </p:nvPicPr>
        <p:blipFill rotWithShape="1">
          <a:blip r:embed="rId4">
            <a:alphaModFix/>
          </a:blip>
          <a:srcRect b="0" l="0" r="0" t="0"/>
          <a:stretch/>
        </p:blipFill>
        <p:spPr>
          <a:xfrm>
            <a:off x="5845307" y="2336800"/>
            <a:ext cx="4563613" cy="3598863"/>
          </a:xfrm>
          <a:prstGeom prst="rect">
            <a:avLst/>
          </a:prstGeom>
          <a:noFill/>
          <a:ln>
            <a:noFill/>
          </a:ln>
          <a:effectLst>
            <a:outerShdw blurRad="76200" rotWithShape="0" algn="tl" dir="5040000" dist="63500">
              <a:srgbClr val="000000">
                <a:alpha val="40784"/>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395" name="Shape 395"/>
        <p:cNvGrpSpPr/>
        <p:nvPr/>
      </p:nvGrpSpPr>
      <p:grpSpPr>
        <a:xfrm>
          <a:off x="0" y="0"/>
          <a:ext cx="0" cy="0"/>
          <a:chOff x="0" y="0"/>
          <a:chExt cx="0" cy="0"/>
        </a:xfrm>
      </p:grpSpPr>
      <p:sp>
        <p:nvSpPr>
          <p:cNvPr id="396" name="Google Shape;396;p32"/>
          <p:cNvSpPr/>
          <p:nvPr/>
        </p:nvSpPr>
        <p:spPr>
          <a:xfrm>
            <a:off x="0" y="0"/>
            <a:ext cx="12188824" cy="6858001"/>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397" name="Google Shape;397;p32"/>
          <p:cNvSpPr/>
          <p:nvPr/>
        </p:nvSpPr>
        <p:spPr>
          <a:xfrm>
            <a:off x="8785632" y="0"/>
            <a:ext cx="340636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8" name="Google Shape;398;p32"/>
          <p:cNvPicPr preferRelativeResize="0"/>
          <p:nvPr/>
        </p:nvPicPr>
        <p:blipFill rotWithShape="1">
          <a:blip r:embed="rId3">
            <a:alphaModFix amt="10000"/>
          </a:blip>
          <a:srcRect b="0" l="0" r="0" t="0"/>
          <a:stretch/>
        </p:blipFill>
        <p:spPr>
          <a:xfrm>
            <a:off x="-3176" y="0"/>
            <a:ext cx="12192000" cy="6858000"/>
          </a:xfrm>
          <a:prstGeom prst="rect">
            <a:avLst/>
          </a:prstGeom>
          <a:noFill/>
          <a:ln>
            <a:noFill/>
          </a:ln>
        </p:spPr>
      </p:pic>
      <p:pic>
        <p:nvPicPr>
          <p:cNvPr id="399" name="Google Shape;399;p32"/>
          <p:cNvPicPr preferRelativeResize="0"/>
          <p:nvPr/>
        </p:nvPicPr>
        <p:blipFill rotWithShape="1">
          <a:blip r:embed="rId4">
            <a:alphaModFix/>
          </a:blip>
          <a:srcRect b="0" l="0" r="0" t="0"/>
          <a:stretch/>
        </p:blipFill>
        <p:spPr>
          <a:xfrm>
            <a:off x="2" y="1959089"/>
            <a:ext cx="9107362" cy="321164"/>
          </a:xfrm>
          <a:prstGeom prst="rect">
            <a:avLst/>
          </a:prstGeom>
          <a:noFill/>
          <a:ln>
            <a:noFill/>
          </a:ln>
        </p:spPr>
      </p:pic>
      <p:sp>
        <p:nvSpPr>
          <p:cNvPr id="400" name="Google Shape;400;p32"/>
          <p:cNvSpPr/>
          <p:nvPr/>
        </p:nvSpPr>
        <p:spPr>
          <a:xfrm>
            <a:off x="1" y="609600"/>
            <a:ext cx="9107363" cy="1368198"/>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2"/>
          <p:cNvSpPr txBox="1"/>
          <p:nvPr>
            <p:ph type="title"/>
          </p:nvPr>
        </p:nvSpPr>
        <p:spPr>
          <a:xfrm>
            <a:off x="680321" y="753228"/>
            <a:ext cx="7461844" cy="10809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Trebuchet MS"/>
              <a:buNone/>
            </a:pPr>
            <a:r>
              <a:rPr lang="en-US">
                <a:solidFill>
                  <a:srgbClr val="FFFFFF"/>
                </a:solidFill>
              </a:rPr>
              <a:t>Conclusion: Predicting the Future</a:t>
            </a:r>
            <a:endParaRPr/>
          </a:p>
        </p:txBody>
      </p:sp>
      <p:sp>
        <p:nvSpPr>
          <p:cNvPr id="402" name="Google Shape;402;p32"/>
          <p:cNvSpPr txBox="1"/>
          <p:nvPr>
            <p:ph idx="1" type="body"/>
          </p:nvPr>
        </p:nvSpPr>
        <p:spPr>
          <a:xfrm>
            <a:off x="680321" y="2336873"/>
            <a:ext cx="7461844" cy="314207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1800"/>
              <a:buNone/>
            </a:pPr>
            <a:r>
              <a:rPr lang="en-US" sz="1800"/>
              <a:t>What’s in store for the UK and EU will only unravel with time.  First off, this is because the two sides don’t finish hashing out the finals details of the break until the transition period ends in 2020.  After an agreement is reached, the true test for both will come.  If the UK succeeds independent of the EU, other member nations will likely gain confidence that they too can survive alone.  This would lead to a reexamination of the very utility of international institutions and trade blocs, meaning not only the end of the EU, but also the years of progress made towards globalization and free trade.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406" name="Shape 406"/>
        <p:cNvGrpSpPr/>
        <p:nvPr/>
      </p:nvGrpSpPr>
      <p:grpSpPr>
        <a:xfrm>
          <a:off x="0" y="0"/>
          <a:ext cx="0" cy="0"/>
          <a:chOff x="0" y="0"/>
          <a:chExt cx="0" cy="0"/>
        </a:xfrm>
      </p:grpSpPr>
      <p:sp>
        <p:nvSpPr>
          <p:cNvPr id="407" name="Google Shape;407;p33"/>
          <p:cNvSpPr/>
          <p:nvPr/>
        </p:nvSpPr>
        <p:spPr>
          <a:xfrm>
            <a:off x="0" y="0"/>
            <a:ext cx="12192000" cy="6858000"/>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408" name="Google Shape;408;p33"/>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sp>
        <p:nvSpPr>
          <p:cNvPr id="409" name="Google Shape;409;p33"/>
          <p:cNvSpPr/>
          <p:nvPr/>
        </p:nvSpPr>
        <p:spPr>
          <a:xfrm>
            <a:off x="8788808" y="0"/>
            <a:ext cx="3403192"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 name="Google Shape;410;p33"/>
          <p:cNvPicPr preferRelativeResize="0"/>
          <p:nvPr/>
        </p:nvPicPr>
        <p:blipFill rotWithShape="1">
          <a:blip r:embed="rId4">
            <a:alphaModFix/>
          </a:blip>
          <a:srcRect b="0" l="0" r="0" t="0"/>
          <a:stretch/>
        </p:blipFill>
        <p:spPr>
          <a:xfrm>
            <a:off x="0" y="4242852"/>
            <a:ext cx="9110541" cy="246557"/>
          </a:xfrm>
          <a:prstGeom prst="rect">
            <a:avLst/>
          </a:prstGeom>
          <a:noFill/>
          <a:ln>
            <a:noFill/>
          </a:ln>
        </p:spPr>
      </p:pic>
      <p:sp>
        <p:nvSpPr>
          <p:cNvPr id="411" name="Google Shape;411;p33"/>
          <p:cNvSpPr/>
          <p:nvPr/>
        </p:nvSpPr>
        <p:spPr>
          <a:xfrm>
            <a:off x="-1" y="2590078"/>
            <a:ext cx="9110542" cy="1660332"/>
          </a:xfrm>
          <a:prstGeom prst="rect">
            <a:avLst/>
          </a:prstGeom>
          <a:solidFill>
            <a:srgbClr val="2626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3"/>
          <p:cNvSpPr txBox="1"/>
          <p:nvPr>
            <p:ph type="ctrTitle"/>
          </p:nvPr>
        </p:nvSpPr>
        <p:spPr>
          <a:xfrm>
            <a:off x="840510" y="2733709"/>
            <a:ext cx="7657792" cy="1373070"/>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5400"/>
              <a:buFont typeface="Trebuchet MS"/>
              <a:buNone/>
            </a:pPr>
            <a:r>
              <a:rPr lang="en-US">
                <a:solidFill>
                  <a:srgbClr val="FFFFFF"/>
                </a:solidFill>
              </a:rPr>
              <a:t>Questions?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417" name="Shape 417"/>
        <p:cNvGrpSpPr/>
        <p:nvPr/>
      </p:nvGrpSpPr>
      <p:grpSpPr>
        <a:xfrm>
          <a:off x="0" y="0"/>
          <a:ext cx="0" cy="0"/>
          <a:chOff x="0" y="0"/>
          <a:chExt cx="0" cy="0"/>
        </a:xfrm>
      </p:grpSpPr>
      <p:sp>
        <p:nvSpPr>
          <p:cNvPr id="418" name="Google Shape;418;p34"/>
          <p:cNvSpPr/>
          <p:nvPr/>
        </p:nvSpPr>
        <p:spPr>
          <a:xfrm>
            <a:off x="0" y="1"/>
            <a:ext cx="12197471" cy="6857999"/>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419" name="Google Shape;419;p34"/>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420" name="Google Shape;420;p34"/>
          <p:cNvPicPr preferRelativeResize="0"/>
          <p:nvPr/>
        </p:nvPicPr>
        <p:blipFill rotWithShape="1">
          <a:blip r:embed="rId4">
            <a:alphaModFix/>
          </a:blip>
          <a:srcRect b="0" l="0" r="0" t="0"/>
          <a:stretch/>
        </p:blipFill>
        <p:spPr>
          <a:xfrm>
            <a:off x="10585826" y="2846786"/>
            <a:ext cx="1602997" cy="144270"/>
          </a:xfrm>
          <a:prstGeom prst="rect">
            <a:avLst/>
          </a:prstGeom>
          <a:noFill/>
          <a:ln>
            <a:noFill/>
          </a:ln>
        </p:spPr>
      </p:pic>
      <p:pic>
        <p:nvPicPr>
          <p:cNvPr id="421" name="Google Shape;421;p34"/>
          <p:cNvPicPr preferRelativeResize="0"/>
          <p:nvPr/>
        </p:nvPicPr>
        <p:blipFill rotWithShape="1">
          <a:blip r:embed="rId5">
            <a:alphaModFix/>
          </a:blip>
          <a:srcRect b="0" l="0" r="0" t="0"/>
          <a:stretch/>
        </p:blipFill>
        <p:spPr>
          <a:xfrm>
            <a:off x="1" y="5851041"/>
            <a:ext cx="9936886" cy="321164"/>
          </a:xfrm>
          <a:prstGeom prst="rect">
            <a:avLst/>
          </a:prstGeom>
          <a:noFill/>
          <a:ln>
            <a:noFill/>
          </a:ln>
        </p:spPr>
      </p:pic>
      <p:sp>
        <p:nvSpPr>
          <p:cNvPr id="422" name="Google Shape;422;p34"/>
          <p:cNvSpPr/>
          <p:nvPr/>
        </p:nvSpPr>
        <p:spPr>
          <a:xfrm>
            <a:off x="0" y="1489448"/>
            <a:ext cx="9936887" cy="4381221"/>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3" name="Google Shape;423;p34"/>
          <p:cNvSpPr/>
          <p:nvPr/>
        </p:nvSpPr>
        <p:spPr>
          <a:xfrm>
            <a:off x="10589003" y="148944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4"/>
          <p:cNvSpPr txBox="1"/>
          <p:nvPr>
            <p:ph type="title"/>
          </p:nvPr>
        </p:nvSpPr>
        <p:spPr>
          <a:xfrm>
            <a:off x="680322" y="321733"/>
            <a:ext cx="9256566" cy="845983"/>
          </a:xfrm>
          <a:prstGeom prst="rect">
            <a:avLst/>
          </a:prstGeom>
          <a:noFill/>
          <a:ln>
            <a:noFill/>
          </a:ln>
          <a:effectLst>
            <a:outerShdw blurRad="88900" rotWithShape="0" algn="tl" dir="2700000" dist="38100">
              <a:srgbClr val="000000">
                <a:alpha val="29803"/>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Bibliography</a:t>
            </a:r>
            <a:endParaRPr/>
          </a:p>
        </p:txBody>
      </p:sp>
      <p:sp>
        <p:nvSpPr>
          <p:cNvPr id="425" name="Google Shape;425;p34"/>
          <p:cNvSpPr txBox="1"/>
          <p:nvPr>
            <p:ph idx="1" type="body"/>
          </p:nvPr>
        </p:nvSpPr>
        <p:spPr>
          <a:xfrm>
            <a:off x="680321" y="1960966"/>
            <a:ext cx="8601055" cy="34186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1400"/>
              <a:buNone/>
            </a:pPr>
            <a:r>
              <a:rPr lang="en-US" sz="1400">
                <a:solidFill>
                  <a:srgbClr val="FFFFFF"/>
                </a:solidFill>
              </a:rPr>
              <a:t>Hanson, Dan. </a:t>
            </a:r>
            <a:r>
              <a:rPr i="1" lang="en-US" sz="1400">
                <a:solidFill>
                  <a:srgbClr val="FFFFFF"/>
                </a:solidFill>
              </a:rPr>
              <a:t>YouTube / A Quick Guide to the Economic Arguments of the Brexit Debate</a:t>
            </a:r>
            <a:r>
              <a:rPr lang="en-US" sz="1400">
                <a:solidFill>
                  <a:srgbClr val="FFFFFF"/>
                </a:solidFill>
              </a:rPr>
              <a:t>, Bloomberg / 	YouTube, 21 June 2016, www.youtube.com/watch?v=ACGD30AS1V8.</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“EU Referendum Results.” </a:t>
            </a:r>
            <a:r>
              <a:rPr i="1" lang="en-US" sz="1400">
                <a:solidFill>
                  <a:srgbClr val="FFFFFF"/>
                </a:solidFill>
              </a:rPr>
              <a:t>BBC News</a:t>
            </a:r>
            <a:r>
              <a:rPr lang="en-US" sz="1400">
                <a:solidFill>
                  <a:srgbClr val="FFFFFF"/>
                </a:solidFill>
              </a:rPr>
              <a:t>, BBC, www.bbc.com/news/politics/eu_referendum/results.</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“Mapping the Brexit vote.” University of Oxford, University of Oxford, 7 Mar. 2017, www.ox.ac.uk/news-	and-events/oxford-and-brexit/brexit-analysis/mapping-	brexit-vote.</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Podobnik, Boris, et al. “Predicting the Rise of EU Right-Wing Populism in Response to Unbalanced 	Immigration.” Complexity, Edited by Fabio Caccioli, vol. 2017, 7 Aug. 2017. Complexity, 	Portico, doi:https://doi.org/10.1155/2017/1580526.</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Bulman, May. “Brexit: People Voted to Leave EU Because They Feared Immigration, Major Survey 	Finds.” The Independent, Independent Digital News and Media, 28 June 2017, 	www.independent.co.uk/news/uk/home-news/brexit-latest-news-leave-eu-immigration-	main-reason-european-union-survey-a7811651.html.</a:t>
            </a:r>
            <a:endParaRPr/>
          </a:p>
          <a:p>
            <a:pPr indent="0" lvl="0" marL="0" rtl="0" algn="l">
              <a:lnSpc>
                <a:spcPct val="90000"/>
              </a:lnSpc>
              <a:spcBef>
                <a:spcPts val="1000"/>
              </a:spcBef>
              <a:spcAft>
                <a:spcPts val="0"/>
              </a:spcAft>
              <a:buClr>
                <a:schemeClr val="lt1"/>
              </a:buClr>
              <a:buSzPts val="1400"/>
              <a:buNone/>
            </a:pPr>
            <a:r>
              <a:t/>
            </a:r>
            <a:endParaRPr sz="1400">
              <a:solidFill>
                <a:srgbClr val="FFFFFF"/>
              </a:solidFill>
            </a:endParaRPr>
          </a:p>
          <a:p>
            <a:pPr indent="0" lvl="0" marL="0" rtl="0" algn="l">
              <a:lnSpc>
                <a:spcPct val="90000"/>
              </a:lnSpc>
              <a:spcBef>
                <a:spcPts val="1000"/>
              </a:spcBef>
              <a:spcAft>
                <a:spcPts val="0"/>
              </a:spcAft>
              <a:buClr>
                <a:schemeClr val="lt1"/>
              </a:buClr>
              <a:buSzPts val="1400"/>
              <a:buNone/>
            </a:pPr>
            <a:r>
              <a:t/>
            </a:r>
            <a:endParaRPr sz="1400">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78121"/>
            </a:gs>
            <a:gs pos="50000">
              <a:srgbClr val="D54006"/>
            </a:gs>
            <a:gs pos="100000">
              <a:srgbClr val="8C0000"/>
            </a:gs>
          </a:gsLst>
          <a:lin ang="2520000" scaled="0"/>
        </a:gradFill>
      </p:bgPr>
    </p:bg>
    <p:spTree>
      <p:nvGrpSpPr>
        <p:cNvPr id="429" name="Shape 429"/>
        <p:cNvGrpSpPr/>
        <p:nvPr/>
      </p:nvGrpSpPr>
      <p:grpSpPr>
        <a:xfrm>
          <a:off x="0" y="0"/>
          <a:ext cx="0" cy="0"/>
          <a:chOff x="0" y="0"/>
          <a:chExt cx="0" cy="0"/>
        </a:xfrm>
      </p:grpSpPr>
      <p:sp>
        <p:nvSpPr>
          <p:cNvPr id="430" name="Google Shape;430;p35"/>
          <p:cNvSpPr/>
          <p:nvPr/>
        </p:nvSpPr>
        <p:spPr>
          <a:xfrm>
            <a:off x="0" y="1"/>
            <a:ext cx="12197471" cy="6857999"/>
          </a:xfrm>
          <a:prstGeom prst="rect">
            <a:avLst/>
          </a:prstGeom>
          <a:gradFill>
            <a:gsLst>
              <a:gs pos="0">
                <a:srgbClr val="F78121"/>
              </a:gs>
              <a:gs pos="50000">
                <a:srgbClr val="D54006"/>
              </a:gs>
              <a:gs pos="100000">
                <a:srgbClr val="8C0000"/>
              </a:gs>
            </a:gsLst>
            <a:lin ang="252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pic>
        <p:nvPicPr>
          <p:cNvPr id="431" name="Google Shape;431;p35"/>
          <p:cNvPicPr preferRelativeResize="0"/>
          <p:nvPr/>
        </p:nvPicPr>
        <p:blipFill rotWithShape="1">
          <a:blip r:embed="rId3">
            <a:alphaModFix amt="10000"/>
          </a:blip>
          <a:srcRect b="0" l="0" r="0" t="0"/>
          <a:stretch/>
        </p:blipFill>
        <p:spPr>
          <a:xfrm>
            <a:off x="0" y="0"/>
            <a:ext cx="12192000" cy="6858000"/>
          </a:xfrm>
          <a:prstGeom prst="rect">
            <a:avLst/>
          </a:prstGeom>
          <a:noFill/>
          <a:ln>
            <a:noFill/>
          </a:ln>
        </p:spPr>
      </p:pic>
      <p:pic>
        <p:nvPicPr>
          <p:cNvPr id="432" name="Google Shape;432;p35"/>
          <p:cNvPicPr preferRelativeResize="0"/>
          <p:nvPr/>
        </p:nvPicPr>
        <p:blipFill rotWithShape="1">
          <a:blip r:embed="rId4">
            <a:alphaModFix/>
          </a:blip>
          <a:srcRect b="0" l="0" r="0" t="0"/>
          <a:stretch/>
        </p:blipFill>
        <p:spPr>
          <a:xfrm>
            <a:off x="10585826" y="2846786"/>
            <a:ext cx="1602997" cy="144270"/>
          </a:xfrm>
          <a:prstGeom prst="rect">
            <a:avLst/>
          </a:prstGeom>
          <a:noFill/>
          <a:ln>
            <a:noFill/>
          </a:ln>
        </p:spPr>
      </p:pic>
      <p:pic>
        <p:nvPicPr>
          <p:cNvPr id="433" name="Google Shape;433;p35"/>
          <p:cNvPicPr preferRelativeResize="0"/>
          <p:nvPr/>
        </p:nvPicPr>
        <p:blipFill rotWithShape="1">
          <a:blip r:embed="rId5">
            <a:alphaModFix/>
          </a:blip>
          <a:srcRect b="0" l="0" r="0" t="0"/>
          <a:stretch/>
        </p:blipFill>
        <p:spPr>
          <a:xfrm>
            <a:off x="1" y="5851041"/>
            <a:ext cx="9936886" cy="321164"/>
          </a:xfrm>
          <a:prstGeom prst="rect">
            <a:avLst/>
          </a:prstGeom>
          <a:noFill/>
          <a:ln>
            <a:noFill/>
          </a:ln>
        </p:spPr>
      </p:pic>
      <p:sp>
        <p:nvSpPr>
          <p:cNvPr id="434" name="Google Shape;434;p35"/>
          <p:cNvSpPr/>
          <p:nvPr/>
        </p:nvSpPr>
        <p:spPr>
          <a:xfrm>
            <a:off x="0" y="1489448"/>
            <a:ext cx="9936887" cy="4381221"/>
          </a:xfrm>
          <a:prstGeom prst="rect">
            <a:avLst/>
          </a:prstGeom>
          <a:solidFill>
            <a:srgbClr val="0D0D0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35" name="Google Shape;435;p35"/>
          <p:cNvSpPr/>
          <p:nvPr/>
        </p:nvSpPr>
        <p:spPr>
          <a:xfrm>
            <a:off x="10589003" y="1489448"/>
            <a:ext cx="1602997" cy="13681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680322" y="321733"/>
            <a:ext cx="9256566" cy="845983"/>
          </a:xfrm>
          <a:prstGeom prst="rect">
            <a:avLst/>
          </a:prstGeom>
          <a:noFill/>
          <a:ln>
            <a:noFill/>
          </a:ln>
          <a:effectLst>
            <a:outerShdw blurRad="88900" rotWithShape="0" algn="tl" dir="2700000" dist="38100">
              <a:srgbClr val="000000">
                <a:alpha val="29803"/>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Trebuchet MS"/>
              <a:buNone/>
            </a:pPr>
            <a:r>
              <a:rPr lang="en-US"/>
              <a:t>Bibliography (Cont.)</a:t>
            </a:r>
            <a:endParaRPr/>
          </a:p>
        </p:txBody>
      </p:sp>
      <p:sp>
        <p:nvSpPr>
          <p:cNvPr id="437" name="Google Shape;437;p35"/>
          <p:cNvSpPr txBox="1"/>
          <p:nvPr>
            <p:ph idx="1" type="body"/>
          </p:nvPr>
        </p:nvSpPr>
        <p:spPr>
          <a:xfrm>
            <a:off x="680321" y="1960966"/>
            <a:ext cx="8601055" cy="341862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1400"/>
              <a:buNone/>
            </a:pPr>
            <a:r>
              <a:rPr lang="en-US" sz="1400">
                <a:solidFill>
                  <a:srgbClr val="FFFFFF"/>
                </a:solidFill>
              </a:rPr>
              <a:t>Dryden, Alex. “Life after Brexit: ‘Soft Brexit’ or a ‘Hard Brexit’?” The UK Edge, Centaur Media (Fund 	Strategy and Money Marketing) and J.P. Morgan Asset Management, 12 Apr. 2017, uk-	edge.centaur.jpmorgan.com/users/15606-alex-dryden/posts/10479-life-after-brexit-soft-	brexit-or-a-hard-brexit.</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Barbari, Matthew. “UK Referendum: Could Britain Leave the EU?” Foreign Policy Blogs, Foreign Policy 	Association, 25 Mar. 2016, foreignpolicyblogs.com/2016/03/25/uk-referendum-	britain-leave-	eu/.</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Tartar, Andre. “How the Populist Right Is Redrawing the Map of Europe.” Bloomberg.com, Bloomberg, 11 	Dec. 2017, www.bloomberg.com/graphics/2017-europe-populist-right/.</a:t>
            </a:r>
            <a:endParaRPr/>
          </a:p>
          <a:p>
            <a:pPr indent="0" lvl="0" marL="0" rtl="0" algn="l">
              <a:lnSpc>
                <a:spcPct val="90000"/>
              </a:lnSpc>
              <a:spcBef>
                <a:spcPts val="1000"/>
              </a:spcBef>
              <a:spcAft>
                <a:spcPts val="0"/>
              </a:spcAft>
              <a:buClr>
                <a:srgbClr val="FFFFFF"/>
              </a:buClr>
              <a:buSzPts val="1400"/>
              <a:buNone/>
            </a:pPr>
            <a:r>
              <a:rPr lang="en-US" sz="1400">
                <a:solidFill>
                  <a:srgbClr val="FFFFFF"/>
                </a:solidFill>
              </a:rPr>
              <a:t>“Trade Agreements.” RoCETA, The College at Brockport, roceta.org/trade-agreements.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erlin">
  <a:themeElements>
    <a:clrScheme name="Berlin">
      <a:dk1>
        <a:srgbClr val="000000"/>
      </a:dk1>
      <a:lt1>
        <a:srgbClr val="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