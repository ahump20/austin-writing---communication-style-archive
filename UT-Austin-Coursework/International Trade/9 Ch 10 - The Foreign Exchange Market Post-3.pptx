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Lst>
  <p:sldSz cy="6858000" cx="12192000"/>
  <p:notesSz cx="6858000" cy="9144000"/>
  <p:embeddedFontLst>
    <p:embeddedFont>
      <p:font typeface="Corsiva"/>
      <p:regular r:id="rId74"/>
      <p:bold r:id="rId75"/>
      <p:italic r:id="rId76"/>
      <p:boldItalic r:id="rId77"/>
    </p:embeddedFont>
    <p:embeddedFont>
      <p:font typeface="Arimo"/>
      <p:regular r:id="rId78"/>
      <p:bold r:id="rId79"/>
      <p:italic r:id="rId80"/>
      <p:boldItalic r:id="rId81"/>
    </p:embeddedFont>
    <p:embeddedFont>
      <p:font typeface="Book Antiqua"/>
      <p:regular r:id="rId82"/>
      <p:bold r:id="rId83"/>
      <p:italic r:id="rId84"/>
      <p:boldItalic r:id="rId85"/>
    </p:embeddedFont>
    <p:embeddedFont>
      <p:font typeface="Helvetica Neue"/>
      <p:regular r:id="rId86"/>
      <p:bold r:id="rId87"/>
      <p:italic r:id="rId88"/>
      <p:boldItalic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7CC9C6-97F8-4375-91D3-5A93729F15AD}">
  <a:tblStyle styleId="{927CC9C6-97F8-4375-91D3-5A93729F15A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BookAntiqua-italic.fntdata"/><Relationship Id="rId83" Type="http://schemas.openxmlformats.org/officeDocument/2006/relationships/font" Target="fonts/BookAntiqua-bold.fntdata"/><Relationship Id="rId42" Type="http://schemas.openxmlformats.org/officeDocument/2006/relationships/slide" Target="slides/slide36.xml"/><Relationship Id="rId86" Type="http://schemas.openxmlformats.org/officeDocument/2006/relationships/font" Target="fonts/HelveticaNeue-regular.fntdata"/><Relationship Id="rId41" Type="http://schemas.openxmlformats.org/officeDocument/2006/relationships/slide" Target="slides/slide35.xml"/><Relationship Id="rId85" Type="http://schemas.openxmlformats.org/officeDocument/2006/relationships/font" Target="fonts/BookAntiqua-boldItalic.fntdata"/><Relationship Id="rId44" Type="http://schemas.openxmlformats.org/officeDocument/2006/relationships/slide" Target="slides/slide38.xml"/><Relationship Id="rId88" Type="http://schemas.openxmlformats.org/officeDocument/2006/relationships/font" Target="fonts/HelveticaNeue-italic.fntdata"/><Relationship Id="rId43" Type="http://schemas.openxmlformats.org/officeDocument/2006/relationships/slide" Target="slides/slide37.xml"/><Relationship Id="rId87" Type="http://schemas.openxmlformats.org/officeDocument/2006/relationships/font" Target="fonts/HelveticaNeue-bold.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HelveticaNeue-boldItalic.fntdata"/><Relationship Id="rId80" Type="http://schemas.openxmlformats.org/officeDocument/2006/relationships/font" Target="fonts/Arimo-italic.fntdata"/><Relationship Id="rId82" Type="http://schemas.openxmlformats.org/officeDocument/2006/relationships/font" Target="fonts/BookAntiqua-regular.fntdata"/><Relationship Id="rId81" Type="http://schemas.openxmlformats.org/officeDocument/2006/relationships/font" Target="fonts/Arim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font" Target="fonts/Corsiva-bold.fntdata"/><Relationship Id="rId30" Type="http://schemas.openxmlformats.org/officeDocument/2006/relationships/slide" Target="slides/slide24.xml"/><Relationship Id="rId74" Type="http://schemas.openxmlformats.org/officeDocument/2006/relationships/font" Target="fonts/Corsiva-regular.fntdata"/><Relationship Id="rId33" Type="http://schemas.openxmlformats.org/officeDocument/2006/relationships/slide" Target="slides/slide27.xml"/><Relationship Id="rId77" Type="http://schemas.openxmlformats.org/officeDocument/2006/relationships/font" Target="fonts/Corsiva-boldItalic.fntdata"/><Relationship Id="rId32" Type="http://schemas.openxmlformats.org/officeDocument/2006/relationships/slide" Target="slides/slide26.xml"/><Relationship Id="rId76" Type="http://schemas.openxmlformats.org/officeDocument/2006/relationships/font" Target="fonts/Corsiva-italic.fntdata"/><Relationship Id="rId35" Type="http://schemas.openxmlformats.org/officeDocument/2006/relationships/slide" Target="slides/slide29.xml"/><Relationship Id="rId79" Type="http://schemas.openxmlformats.org/officeDocument/2006/relationships/font" Target="fonts/Arimo-bold.fntdata"/><Relationship Id="rId34" Type="http://schemas.openxmlformats.org/officeDocument/2006/relationships/slide" Target="slides/slide28.xml"/><Relationship Id="rId78" Type="http://schemas.openxmlformats.org/officeDocument/2006/relationships/font" Target="fonts/Arimo-regular.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en.wikipedia.org/wiki/Foreign_exchange_spot_trading" TargetMode="External"/><Relationship Id="rId3" Type="http://schemas.openxmlformats.org/officeDocument/2006/relationships/hyperlink" Target="http://en.wikipedia.org/wiki/Forward_contract" TargetMode="External"/><Relationship Id="rId4" Type="http://schemas.openxmlformats.org/officeDocument/2006/relationships/hyperlink" Target="http://en.wikipedia.org/wiki/Forex_swap"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60" name="Google Shape;160;p1: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2: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3: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Central banks in each country (Federal Reserve)</a:t>
            </a:r>
            <a:endParaRPr/>
          </a:p>
          <a:p>
            <a:pPr indent="-171450" lvl="0" marL="171450" rtl="0" algn="l">
              <a:spcBef>
                <a:spcPts val="0"/>
              </a:spcBef>
              <a:spcAft>
                <a:spcPts val="0"/>
              </a:spcAft>
              <a:buClr>
                <a:schemeClr val="dk1"/>
              </a:buClr>
              <a:buSzPts val="1200"/>
              <a:buFont typeface="Arial"/>
              <a:buChar char="•"/>
            </a:pPr>
            <a:r>
              <a:rPr lang="en-US"/>
              <a:t>Large banks around world managing exchange rates</a:t>
            </a:r>
            <a:endParaRPr/>
          </a:p>
        </p:txBody>
      </p:sp>
      <p:sp>
        <p:nvSpPr>
          <p:cNvPr id="181" name="Google Shape;181;p3: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4: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171450" lvl="0" marL="171450" rtl="0" algn="l">
              <a:spcBef>
                <a:spcPts val="0"/>
              </a:spcBef>
              <a:spcAft>
                <a:spcPts val="0"/>
              </a:spcAft>
              <a:buClr>
                <a:schemeClr val="dk1"/>
              </a:buClr>
              <a:buSzPts val="1200"/>
              <a:buFont typeface="Arial"/>
              <a:buChar char="•"/>
            </a:pPr>
            <a:r>
              <a:rPr lang="en-US"/>
              <a:t>Must purchase currency of seller in order to make purchase</a:t>
            </a:r>
            <a:endParaRPr/>
          </a:p>
          <a:p>
            <a:pPr indent="-95250" lvl="0" marL="171450" rtl="0" algn="l">
              <a:spcBef>
                <a:spcPts val="0"/>
              </a:spcBef>
              <a:spcAft>
                <a:spcPts val="0"/>
              </a:spcAft>
              <a:buClr>
                <a:schemeClr val="dk1"/>
              </a:buClr>
              <a:buSzPts val="1200"/>
              <a:buFont typeface="Arial"/>
              <a:buNone/>
            </a:pPr>
            <a:r>
              <a:t/>
            </a:r>
            <a:endParaRPr/>
          </a:p>
        </p:txBody>
      </p:sp>
      <p:sp>
        <p:nvSpPr>
          <p:cNvPr id="189" name="Google Shape;189;p4: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5: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This is from the BIS 2013 survey – which is done only every 3 years. </a:t>
            </a:r>
            <a:endParaRPr/>
          </a:p>
          <a:p>
            <a:pPr indent="0" lvl="0" marL="0" rtl="0" algn="l">
              <a:spcBef>
                <a:spcPts val="0"/>
              </a:spcBef>
              <a:spcAft>
                <a:spcPts val="0"/>
              </a:spcAft>
              <a:buNone/>
            </a:pPr>
            <a:r>
              <a:rPr lang="en-US"/>
              <a:t>FT reports slump at end of 2013 – attributed to trading scandals http://www.ft.com/cms/s/0/f20f4284-77a3-11e3-afc5-00144feabdc0.html#axzz2yCMXoDf3 (23% drop from Dec 2012).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was up from $4 trillion in 2010 and $3.3 tril`lion in 2007. The US dollar was the dominant currency: 87% of deals contained the dollar on one side. The euro, the second-most-traded currency, was involved in 33% of deals, down from 39% in April 2010. The third-most-traded currency, featuring in 23% of all trades, was the Japanese yen; its market share has risen by four percentage points since the previous survey. Several emerging-market currencies rose sharply in global importance. The Mexican peso and Chinese renminbi made it into the top ten for the first time.</a:t>
            </a:r>
            <a:br>
              <a:rPr lang="en-US"/>
            </a:br>
            <a:endParaRPr/>
          </a:p>
          <a:p>
            <a:pPr indent="0" lvl="0" marL="0" rtl="0" algn="l">
              <a:spcBef>
                <a:spcPts val="0"/>
              </a:spcBef>
              <a:spcAft>
                <a:spcPts val="0"/>
              </a:spcAft>
              <a:buNone/>
            </a:pPr>
            <a:r>
              <a:rPr lang="en-US"/>
              <a:t>Note that Forex decreased in post 2001 period due to 9/11 contraction and Euro:   SOME SAY LEVEL IS $1900 BILLION now!!!    </a:t>
            </a:r>
            <a:endParaRPr/>
          </a:p>
          <a:p>
            <a:pPr indent="0" lvl="0" marL="0" rtl="0" algn="l">
              <a:spcBef>
                <a:spcPts val="0"/>
              </a:spcBef>
              <a:spcAft>
                <a:spcPts val="0"/>
              </a:spcAft>
              <a:buNone/>
            </a:pPr>
            <a:r>
              <a:rPr b="1" lang="en-US"/>
              <a:t>Whys are:   “deregulation”, growth of trade/FDI, more floating currencies, more volatility, more speculation/arbitrage due to knowledge and technology.  </a:t>
            </a:r>
            <a:endParaRPr/>
          </a:p>
          <a:p>
            <a:pPr indent="0" lvl="0" marL="0" rtl="0" algn="l">
              <a:spcBef>
                <a:spcPts val="0"/>
              </a:spcBef>
              <a:spcAft>
                <a:spcPts val="0"/>
              </a:spcAft>
              <a:buNone/>
            </a:pPr>
            <a:r>
              <a:t/>
            </a:r>
            <a:endParaRPr b="1"/>
          </a:p>
        </p:txBody>
      </p:sp>
      <p:sp>
        <p:nvSpPr>
          <p:cNvPr id="197" name="Google Shape;197;p5: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6: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 these numbers may be exaggerated.   Details are: </a:t>
            </a:r>
            <a:endParaRPr/>
          </a:p>
          <a:p>
            <a:pPr indent="0" lvl="0" marL="0" rtl="0" algn="l">
              <a:spcBef>
                <a:spcPts val="0"/>
              </a:spcBef>
              <a:spcAft>
                <a:spcPts val="0"/>
              </a:spcAft>
              <a:buNone/>
            </a:pPr>
            <a:r>
              <a:rPr lang="en-US"/>
              <a:t>This $3.21 trillion in global foreign exchange market "traditional" turnover was broken down as follows:</a:t>
            </a:r>
            <a:endParaRPr/>
          </a:p>
          <a:p>
            <a:pPr indent="0" lvl="3" marL="1371600" rtl="0" algn="l">
              <a:spcBef>
                <a:spcPts val="0"/>
              </a:spcBef>
              <a:spcAft>
                <a:spcPts val="0"/>
              </a:spcAft>
              <a:buNone/>
            </a:pPr>
            <a:r>
              <a:rPr lang="en-US"/>
              <a:t>$1,005 billion in </a:t>
            </a:r>
            <a:r>
              <a:rPr lang="en-US" u="sng">
                <a:solidFill>
                  <a:schemeClr val="hlink"/>
                </a:solidFill>
                <a:hlinkClick r:id="rId2"/>
              </a:rPr>
              <a:t>spot</a:t>
            </a:r>
            <a:r>
              <a:rPr lang="en-US"/>
              <a:t> transactions </a:t>
            </a:r>
            <a:endParaRPr/>
          </a:p>
          <a:p>
            <a:pPr indent="0" lvl="3" marL="1371600" rtl="0" algn="l">
              <a:spcBef>
                <a:spcPts val="0"/>
              </a:spcBef>
              <a:spcAft>
                <a:spcPts val="0"/>
              </a:spcAft>
              <a:buNone/>
            </a:pPr>
            <a:r>
              <a:rPr lang="en-US"/>
              <a:t>$362 billion in </a:t>
            </a:r>
            <a:r>
              <a:rPr lang="en-US" u="sng">
                <a:solidFill>
                  <a:schemeClr val="hlink"/>
                </a:solidFill>
                <a:hlinkClick r:id="rId3"/>
              </a:rPr>
              <a:t>outright forwards</a:t>
            </a:r>
            <a:r>
              <a:rPr lang="en-US"/>
              <a:t> </a:t>
            </a:r>
            <a:endParaRPr/>
          </a:p>
          <a:p>
            <a:pPr indent="0" lvl="3" marL="1371600" rtl="0" algn="l">
              <a:spcBef>
                <a:spcPts val="0"/>
              </a:spcBef>
              <a:spcAft>
                <a:spcPts val="0"/>
              </a:spcAft>
              <a:buNone/>
            </a:pPr>
            <a:r>
              <a:rPr lang="en-US"/>
              <a:t>$1,714 billion in </a:t>
            </a:r>
            <a:r>
              <a:rPr lang="en-US" u="sng">
                <a:solidFill>
                  <a:schemeClr val="hlink"/>
                </a:solidFill>
                <a:hlinkClick r:id="rId4"/>
              </a:rPr>
              <a:t>forex swaps</a:t>
            </a:r>
            <a:r>
              <a:rPr lang="en-US"/>
              <a:t> </a:t>
            </a:r>
            <a:endParaRPr/>
          </a:p>
          <a:p>
            <a:pPr indent="0" lvl="3" marL="1371600" rtl="0" algn="l">
              <a:spcBef>
                <a:spcPts val="0"/>
              </a:spcBef>
              <a:spcAft>
                <a:spcPts val="0"/>
              </a:spcAft>
              <a:buNone/>
            </a:pPr>
            <a:r>
              <a:rPr lang="en-US"/>
              <a:t>$129 billion estimated gaps in reporting </a:t>
            </a:r>
            <a:endParaRPr/>
          </a:p>
          <a:p>
            <a:pPr indent="0" lvl="0" marL="0" rtl="0" algn="l">
              <a:spcBef>
                <a:spcPts val="0"/>
              </a:spcBef>
              <a:spcAft>
                <a:spcPts val="0"/>
              </a:spcAft>
              <a:buNone/>
            </a:pPr>
            <a:r>
              <a:t/>
            </a:r>
            <a:endParaRPr/>
          </a:p>
        </p:txBody>
      </p:sp>
      <p:sp>
        <p:nvSpPr>
          <p:cNvPr id="207" name="Google Shape;207;p6: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7: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 name="Google Shape;21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that reserve currency status makes prediction of dollar value doubly difficult and makes it difficult for US policy to impact trade deficit – pool of currency at large is so large… also most nations/banks/investors have a stake in what happens to the $ (it’s their OWN asset pool!).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Note use of countertrade with non-convertible currencies</a:t>
            </a:r>
            <a:endParaRPr/>
          </a:p>
          <a:p>
            <a:pPr indent="0" lvl="0" marL="0" rtl="0" algn="l">
              <a:spcBef>
                <a:spcPts val="0"/>
              </a:spcBef>
              <a:spcAft>
                <a:spcPts val="0"/>
              </a:spcAft>
              <a:buNone/>
            </a:pPr>
            <a:r>
              <a:t/>
            </a:r>
            <a:endParaRPr/>
          </a:p>
        </p:txBody>
      </p:sp>
      <p:sp>
        <p:nvSpPr>
          <p:cNvPr id="217" name="Google Shape;217;p7: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8" name="Google Shape;22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8: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9: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9: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0: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1: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11:notes"/>
          <p:cNvSpPr txBox="1"/>
          <p:nvPr>
            <p:ph idx="1" type="body"/>
          </p:nvPr>
        </p:nvSpPr>
        <p:spPr>
          <a:xfrm>
            <a:off x="914400" y="4412915"/>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Forex swaps will be explained later:  used to create a hedge or with interest rate arbitrate and/or speculation</a:t>
            </a:r>
            <a:endParaRPr/>
          </a:p>
          <a:p>
            <a:pPr indent="0" lvl="0" marL="0" rtl="0" algn="l">
              <a:spcBef>
                <a:spcPts val="0"/>
              </a:spcBef>
              <a:spcAft>
                <a:spcPts val="0"/>
              </a:spcAft>
              <a:buNone/>
            </a:pPr>
            <a:r>
              <a:t/>
            </a:r>
            <a:endParaRPr/>
          </a:p>
        </p:txBody>
      </p:sp>
      <p:sp>
        <p:nvSpPr>
          <p:cNvPr id="286" name="Google Shape;286;p11: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12: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3: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NOTE:    Capital market example is at end… cut due to lack of time.  Note terminology… revalue vs appreciate</a:t>
            </a:r>
            <a:endParaRPr/>
          </a:p>
          <a:p>
            <a:pPr indent="0" lvl="0" marL="0" rtl="0" algn="l">
              <a:spcBef>
                <a:spcPts val="0"/>
              </a:spcBef>
              <a:spcAft>
                <a:spcPts val="0"/>
              </a:spcAft>
              <a:buNone/>
            </a:pPr>
            <a:r>
              <a:t/>
            </a:r>
            <a:endParaRPr/>
          </a:p>
        </p:txBody>
      </p:sp>
      <p:sp>
        <p:nvSpPr>
          <p:cNvPr id="305" name="Google Shape;305;p13: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4: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4: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5: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6: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6: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7: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http://www.fxstreet.com/rates-charts/forward-rates/</a:t>
            </a:r>
            <a:endParaRPr/>
          </a:p>
          <a:p>
            <a:pPr indent="0" lvl="0" marL="0" rtl="0" algn="l">
              <a:spcBef>
                <a:spcPts val="0"/>
              </a:spcBef>
              <a:spcAft>
                <a:spcPts val="0"/>
              </a:spcAft>
              <a:buNone/>
            </a:pPr>
            <a:r>
              <a:rPr b="1" lang="en-US"/>
              <a:t>Currency option is a financial instrument that gives the holder the right (but not the obligation):</a:t>
            </a:r>
            <a:endParaRPr/>
          </a:p>
          <a:p>
            <a:pPr indent="0" lvl="0" marL="0" rtl="0" algn="l">
              <a:spcBef>
                <a:spcPts val="0"/>
              </a:spcBef>
              <a:spcAft>
                <a:spcPts val="0"/>
              </a:spcAft>
              <a:buNone/>
            </a:pPr>
            <a:r>
              <a:rPr lang="en-US"/>
              <a:t>* To sell which is known the put option or</a:t>
            </a:r>
            <a:endParaRPr/>
          </a:p>
          <a:p>
            <a:pPr indent="0" lvl="0" marL="0" rtl="0" algn="l">
              <a:spcBef>
                <a:spcPts val="0"/>
              </a:spcBef>
              <a:spcAft>
                <a:spcPts val="0"/>
              </a:spcAft>
              <a:buNone/>
            </a:pPr>
            <a:r>
              <a:rPr lang="en-US"/>
              <a:t>* To buy which is known as the call option</a:t>
            </a:r>
            <a:endParaRPr/>
          </a:p>
          <a:p>
            <a:pPr indent="0" lvl="0" marL="0" rtl="0" algn="l">
              <a:spcBef>
                <a:spcPts val="0"/>
              </a:spcBef>
              <a:spcAft>
                <a:spcPts val="0"/>
              </a:spcAft>
              <a:buNone/>
            </a:pPr>
            <a:r>
              <a:rPr lang="en-US"/>
              <a:t>* A specified quantity of a contracted currency,</a:t>
            </a:r>
            <a:endParaRPr/>
          </a:p>
          <a:p>
            <a:pPr indent="0" lvl="0" marL="0" rtl="0" algn="l">
              <a:spcBef>
                <a:spcPts val="0"/>
              </a:spcBef>
              <a:spcAft>
                <a:spcPts val="0"/>
              </a:spcAft>
              <a:buNone/>
            </a:pPr>
            <a:r>
              <a:rPr lang="en-US"/>
              <a:t>* At a set price (called the strike price) and expiration date</a:t>
            </a:r>
            <a:endParaRPr/>
          </a:p>
          <a:p>
            <a:pPr indent="0" lvl="0" marL="0" rtl="0" algn="l">
              <a:spcBef>
                <a:spcPts val="0"/>
              </a:spcBef>
              <a:spcAft>
                <a:spcPts val="0"/>
              </a:spcAft>
              <a:buNone/>
            </a:pPr>
            <a:r>
              <a:rPr lang="en-US"/>
              <a:t>The privilege so derived by the buyer of the option is offset by a consideration paid to the seller. This consideration is called the option premium.</a:t>
            </a:r>
            <a:endParaRPr/>
          </a:p>
          <a:p>
            <a:pPr indent="0" lvl="0" marL="0" rtl="0" algn="l">
              <a:spcBef>
                <a:spcPts val="0"/>
              </a:spcBef>
              <a:spcAft>
                <a:spcPts val="0"/>
              </a:spcAft>
              <a:buNone/>
            </a:pPr>
            <a:r>
              <a:rPr lang="en-US"/>
              <a:t>The booming growth in the financial instruments market resulted in the introduction of currency futures options. These instruments permit purchases and sales of put and call options of futures contracts in a currency.</a:t>
            </a:r>
            <a:endParaRPr/>
          </a:p>
          <a:p>
            <a:pPr indent="0" lvl="0" marL="0" rtl="0" algn="l">
              <a:spcBef>
                <a:spcPts val="0"/>
              </a:spcBef>
              <a:spcAft>
                <a:spcPts val="0"/>
              </a:spcAft>
              <a:buNone/>
            </a:pPr>
            <a:r>
              <a:t/>
            </a:r>
            <a:endParaRPr/>
          </a:p>
        </p:txBody>
      </p:sp>
      <p:sp>
        <p:nvSpPr>
          <p:cNvPr id="337" name="Google Shape;337;p17: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8: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8: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9: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19: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20: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Eurocurrency: a currency that is held in a bank that is not in the country of that currency</a:t>
            </a:r>
            <a:endParaRPr/>
          </a:p>
        </p:txBody>
      </p:sp>
      <p:sp>
        <p:nvSpPr>
          <p:cNvPr id="371" name="Google Shape;371;p20: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1: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DON’T FORGET N (Periods in year)</a:t>
            </a:r>
            <a:endParaRPr/>
          </a:p>
        </p:txBody>
      </p:sp>
      <p:sp>
        <p:nvSpPr>
          <p:cNvPr id="378" name="Google Shape;378;p21: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22: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7" name="Google Shape;38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22: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3: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9" name="Google Shape;39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23:notes"/>
          <p:cNvSpPr txBox="1"/>
          <p:nvPr/>
        </p:nvSpPr>
        <p:spPr>
          <a:xfrm>
            <a:off x="0" y="0"/>
            <a:ext cx="3810000" cy="127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4: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5: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6: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7: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8: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dollar price and the price in the local currency is used to determine the PPP exchange rate.   Difference between PPP forex and actual forex is divided by actual rate to get over or under value (EXCEPT FOR GREAT BRITIAN AND EURO WHERE PPP IS USED TO DIVIDE B/C REFERENCE POINT IS REVERSED)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9: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0: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31: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2: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1" name="Google Shape;471;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33: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4: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5: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6: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7: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37: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8: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8: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9: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39: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0: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40:notes"/>
          <p:cNvSpPr txBox="1"/>
          <p:nvPr>
            <p:ph idx="1" type="body"/>
          </p:nvPr>
        </p:nvSpPr>
        <p:spPr>
          <a:xfrm>
            <a:off x="914400" y="4374510"/>
            <a:ext cx="5029200" cy="411480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rPr i="1" lang="en-US"/>
              <a:t>Blue “note” at bottom has been added and next slide from the original set is not here</a:t>
            </a:r>
            <a:endParaRPr/>
          </a:p>
          <a:p>
            <a:pPr indent="0" lvl="0" marL="0" rtl="0" algn="l">
              <a:spcBef>
                <a:spcPts val="0"/>
              </a:spcBef>
              <a:spcAft>
                <a:spcPts val="0"/>
              </a:spcAft>
              <a:buNone/>
            </a:pPr>
            <a:r>
              <a:t/>
            </a:r>
            <a:endParaRPr i="1"/>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41: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41: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2: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42: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rPr lang="en-US"/>
              <a:t>Note – normal arbitrage is to exploit via borrowing… SO borrow money in NY first – but then exchange rate must compensate for interest rate to be paid.</a:t>
            </a:r>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43: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9" name="Google Shape;559;p43: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44: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6" name="Google Shape;566;p44: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rPr lang="en-US"/>
              <a:t>Note – typically arbitrage is to done by exploiting interest rates via borrowing in low rate country and investing in higher interest rate country – so “personal”/”corporate” funds are not tied up.  In this case, money would be borrowed in NY and invested in London – but this requires that the difference between spot and forward exchange rates, along with the higher interest rates on invested funds must compensate for interest rate to be paid on the borrowed funds.  (Obviously you have to have access to a LOT of funds and be able to move them quickly to make money this way – which is why it is typically the international banks who do most of the arbitrage).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5: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4" name="Google Shape;57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47: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7" name="Google Shape;587;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8: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4" name="Google Shape;594;p48: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9: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p49: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0: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p50: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1: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p51: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52: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7" name="Google Shape;667;p52: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53: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53: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p54: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4" name="Google Shape;704;p54: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55: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7" name="Google Shape;727;p55: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56: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0" name="Google Shape;750;p56: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57: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57: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58: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4" name="Google Shape;764;p58: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59:notes"/>
          <p:cNvSpPr/>
          <p:nvPr>
            <p:ph idx="2" type="sldImg"/>
          </p:nvPr>
        </p:nvSpPr>
        <p:spPr>
          <a:xfrm>
            <a:off x="393700" y="692150"/>
            <a:ext cx="6072188"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1" name="Google Shape;771;p59:notes"/>
          <p:cNvSpPr txBox="1"/>
          <p:nvPr>
            <p:ph idx="1" type="body"/>
          </p:nvPr>
        </p:nvSpPr>
        <p:spPr>
          <a:xfrm>
            <a:off x="685800" y="4400550"/>
            <a:ext cx="5486400" cy="3600450"/>
          </a:xfrm>
          <a:prstGeom prst="rect">
            <a:avLst/>
          </a:prstGeom>
          <a:noFill/>
          <a:ln>
            <a:noFill/>
          </a:ln>
        </p:spPr>
        <p:txBody>
          <a:bodyPr anchorCtr="0" anchor="t" bIns="44425" lIns="90475" spcFirstLastPara="1" rIns="90475" wrap="square" tIns="44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60: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8" name="Google Shape;778;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61: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62: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63: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Put after Big mac if used.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p64: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8" name="Google Shape;808;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65: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5" name="Google Shape;815;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66: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3" name="Google Shape;823;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67:notes"/>
          <p:cNvSpPr/>
          <p:nvPr>
            <p:ph idx="2" type="sldImg"/>
          </p:nvPr>
        </p:nvSpPr>
        <p:spPr>
          <a:xfrm>
            <a:off x="393700" y="692150"/>
            <a:ext cx="6070600" cy="34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idx="1" type="subTitle"/>
          </p:nvPr>
        </p:nvSpPr>
        <p:spPr>
          <a:xfrm>
            <a:off x="1682062" y="4282124"/>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0" name="Google Shape;20;p2"/>
          <p:cNvPicPr preferRelativeResize="0"/>
          <p:nvPr/>
        </p:nvPicPr>
        <p:blipFill rotWithShape="1">
          <a:blip r:embed="rId2">
            <a:alphaModFix/>
          </a:blip>
          <a:srcRect b="0" l="0" r="0" t="0"/>
          <a:stretch/>
        </p:blipFill>
        <p:spPr>
          <a:xfrm>
            <a:off x="1105872" y="3055462"/>
            <a:ext cx="1557814" cy="1578772"/>
          </a:xfrm>
          <a:prstGeom prst="rect">
            <a:avLst/>
          </a:prstGeom>
          <a:noFill/>
          <a:ln>
            <a:noFill/>
          </a:ln>
        </p:spPr>
      </p:pic>
      <p:sp>
        <p:nvSpPr>
          <p:cNvPr id="21" name="Google Shape;21;p2"/>
          <p:cNvSpPr/>
          <p:nvPr/>
        </p:nvSpPr>
        <p:spPr>
          <a:xfrm>
            <a:off x="0" y="0"/>
            <a:ext cx="12192000" cy="1828800"/>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cap="flat" cmpd="sng" w="12700">
            <a:solidFill>
              <a:srgbClr val="FCA30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 name="Google Shape;22;p2"/>
          <p:cNvSpPr/>
          <p:nvPr/>
        </p:nvSpPr>
        <p:spPr>
          <a:xfrm>
            <a:off x="10323443" y="0"/>
            <a:ext cx="1868557" cy="914400"/>
          </a:xfrm>
          <a:prstGeom prst="rect">
            <a:avLst/>
          </a:prstGeom>
          <a:solidFill>
            <a:srgbClr val="012C73"/>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 name="Google Shape;23;p2"/>
          <p:cNvSpPr/>
          <p:nvPr/>
        </p:nvSpPr>
        <p:spPr>
          <a:xfrm>
            <a:off x="11283012" y="0"/>
            <a:ext cx="908988" cy="914400"/>
          </a:xfrm>
          <a:prstGeom prst="rect">
            <a:avLst/>
          </a:prstGeom>
          <a:solidFill>
            <a:srgbClr val="63894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4" name="Google Shape;24;p2"/>
          <p:cNvSpPr/>
          <p:nvPr/>
        </p:nvSpPr>
        <p:spPr>
          <a:xfrm>
            <a:off x="11283012" y="915909"/>
            <a:ext cx="914400" cy="914400"/>
          </a:xfrm>
          <a:prstGeom prst="rect">
            <a:avLst/>
          </a:prstGeom>
          <a:solidFill>
            <a:srgbClr val="CE450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5" name="Google Shape;25;p2"/>
          <p:cNvSpPr txBox="1"/>
          <p:nvPr>
            <p:ph type="ctrTitle"/>
          </p:nvPr>
        </p:nvSpPr>
        <p:spPr>
          <a:xfrm>
            <a:off x="1656662" y="1861662"/>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grpSp>
        <p:nvGrpSpPr>
          <p:cNvPr id="27" name="Google Shape;27;p3"/>
          <p:cNvGrpSpPr/>
          <p:nvPr/>
        </p:nvGrpSpPr>
        <p:grpSpPr>
          <a:xfrm>
            <a:off x="38427" y="-6627"/>
            <a:ext cx="12153573" cy="1131339"/>
            <a:chOff x="256801" y="-2053"/>
            <a:chExt cx="11931503" cy="1159085"/>
          </a:xfrm>
        </p:grpSpPr>
        <p:sp>
          <p:nvSpPr>
            <p:cNvPr id="28" name="Google Shape;28;p3"/>
            <p:cNvSpPr/>
            <p:nvPr/>
          </p:nvSpPr>
          <p:spPr>
            <a:xfrm>
              <a:off x="83820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 name="Google Shape;29;p3"/>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 name="Google Shape;30;p3"/>
            <p:cNvSpPr/>
            <p:nvPr/>
          </p:nvSpPr>
          <p:spPr>
            <a:xfrm>
              <a:off x="11639664" y="-2053"/>
              <a:ext cx="548640" cy="584025"/>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 name="Google Shape;31;p3"/>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 name="Google Shape;32;p3"/>
            <p:cNvSpPr/>
            <p:nvPr/>
          </p:nvSpPr>
          <p:spPr>
            <a:xfrm>
              <a:off x="283337" y="26073"/>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3" name="Google Shape;33;p3"/>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
        <p:nvSpPr>
          <p:cNvPr id="34" name="Google Shape;34;p3"/>
          <p:cNvSpPr txBox="1"/>
          <p:nvPr>
            <p:ph type="title"/>
          </p:nvPr>
        </p:nvSpPr>
        <p:spPr>
          <a:xfrm>
            <a:off x="1560918" y="94666"/>
            <a:ext cx="9792881"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grpSp>
        <p:nvGrpSpPr>
          <p:cNvPr id="40" name="Google Shape;40;p4"/>
          <p:cNvGrpSpPr/>
          <p:nvPr/>
        </p:nvGrpSpPr>
        <p:grpSpPr>
          <a:xfrm>
            <a:off x="38427" y="-4076"/>
            <a:ext cx="12153573" cy="1124712"/>
            <a:chOff x="256801" y="4737"/>
            <a:chExt cx="11931503" cy="1152295"/>
          </a:xfrm>
        </p:grpSpPr>
        <p:sp>
          <p:nvSpPr>
            <p:cNvPr id="41" name="Google Shape;41;p4"/>
            <p:cNvSpPr/>
            <p:nvPr/>
          </p:nvSpPr>
          <p:spPr>
            <a:xfrm>
              <a:off x="83820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 name="Google Shape;42;p4"/>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 name="Google Shape;43;p4"/>
            <p:cNvSpPr/>
            <p:nvPr/>
          </p:nvSpPr>
          <p:spPr>
            <a:xfrm>
              <a:off x="11639664" y="11142"/>
              <a:ext cx="548640" cy="562096"/>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 name="Google Shape;44;p4"/>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 name="Google Shape;45;p4"/>
            <p:cNvSpPr/>
            <p:nvPr/>
          </p:nvSpPr>
          <p:spPr>
            <a:xfrm>
              <a:off x="283337" y="26073"/>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6" name="Google Shape;46;p4"/>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
        <p:nvSpPr>
          <p:cNvPr id="47" name="Google Shape;47;p4"/>
          <p:cNvSpPr txBox="1"/>
          <p:nvPr>
            <p:ph type="title"/>
          </p:nvPr>
        </p:nvSpPr>
        <p:spPr>
          <a:xfrm>
            <a:off x="1488584" y="-1"/>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grpSp>
        <p:nvGrpSpPr>
          <p:cNvPr id="52" name="Google Shape;52;p5"/>
          <p:cNvGrpSpPr/>
          <p:nvPr/>
        </p:nvGrpSpPr>
        <p:grpSpPr>
          <a:xfrm>
            <a:off x="38427" y="-4076"/>
            <a:ext cx="12153573" cy="1124712"/>
            <a:chOff x="256801" y="4737"/>
            <a:chExt cx="11931503" cy="1152295"/>
          </a:xfrm>
        </p:grpSpPr>
        <p:sp>
          <p:nvSpPr>
            <p:cNvPr id="53" name="Google Shape;53;p5"/>
            <p:cNvSpPr/>
            <p:nvPr/>
          </p:nvSpPr>
          <p:spPr>
            <a:xfrm>
              <a:off x="83820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 name="Google Shape;54;p5"/>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5"/>
            <p:cNvSpPr/>
            <p:nvPr/>
          </p:nvSpPr>
          <p:spPr>
            <a:xfrm>
              <a:off x="11639664" y="11142"/>
              <a:ext cx="548640" cy="562096"/>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5"/>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 name="Google Shape;57;p5"/>
            <p:cNvSpPr/>
            <p:nvPr/>
          </p:nvSpPr>
          <p:spPr>
            <a:xfrm>
              <a:off x="283337" y="26073"/>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8" name="Google Shape;58;p5"/>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
        <p:nvSpPr>
          <p:cNvPr id="59" name="Google Shape;59;p5"/>
          <p:cNvSpPr txBox="1"/>
          <p:nvPr>
            <p:ph type="title"/>
          </p:nvPr>
        </p:nvSpPr>
        <p:spPr>
          <a:xfrm>
            <a:off x="1161805" y="-44200"/>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65" name="Shape 65"/>
        <p:cNvGrpSpPr/>
        <p:nvPr/>
      </p:nvGrpSpPr>
      <p:grpSpPr>
        <a:xfrm>
          <a:off x="0" y="0"/>
          <a:ext cx="0" cy="0"/>
          <a:chOff x="0" y="0"/>
          <a:chExt cx="0" cy="0"/>
        </a:xfrm>
      </p:grpSpPr>
      <p:sp>
        <p:nvSpPr>
          <p:cNvPr id="66" name="Google Shape;66;p6"/>
          <p:cNvSpPr txBox="1"/>
          <p:nvPr>
            <p:ph type="title"/>
          </p:nvPr>
        </p:nvSpPr>
        <p:spPr>
          <a:xfrm>
            <a:off x="1808480" y="-76200"/>
            <a:ext cx="10363200"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1200">
                <a:solidFill>
                  <a:srgbClr val="888888"/>
                </a:solidFill>
                <a:latin typeface="Calibri"/>
                <a:ea typeface="Calibri"/>
                <a:cs typeface="Calibri"/>
                <a:sym typeface="Calibri"/>
              </a:defRPr>
            </a:lvl1pPr>
            <a:lvl2pPr indent="0" lvl="1" marL="0" marR="0" algn="r">
              <a:spcBef>
                <a:spcPts val="0"/>
              </a:spcBef>
              <a:buNone/>
              <a:defRPr sz="1200">
                <a:solidFill>
                  <a:srgbClr val="888888"/>
                </a:solidFill>
                <a:latin typeface="Calibri"/>
                <a:ea typeface="Calibri"/>
                <a:cs typeface="Calibri"/>
                <a:sym typeface="Calibri"/>
              </a:defRPr>
            </a:lvl2pPr>
            <a:lvl3pPr indent="0" lvl="2" marL="0" marR="0" algn="r">
              <a:spcBef>
                <a:spcPts val="0"/>
              </a:spcBef>
              <a:buNone/>
              <a:defRPr sz="1200">
                <a:solidFill>
                  <a:srgbClr val="888888"/>
                </a:solidFill>
                <a:latin typeface="Calibri"/>
                <a:ea typeface="Calibri"/>
                <a:cs typeface="Calibri"/>
                <a:sym typeface="Calibri"/>
              </a:defRPr>
            </a:lvl3pPr>
            <a:lvl4pPr indent="0" lvl="3" marL="0" marR="0" algn="r">
              <a:spcBef>
                <a:spcPts val="0"/>
              </a:spcBef>
              <a:buNone/>
              <a:defRPr sz="1200">
                <a:solidFill>
                  <a:srgbClr val="888888"/>
                </a:solidFill>
                <a:latin typeface="Calibri"/>
                <a:ea typeface="Calibri"/>
                <a:cs typeface="Calibri"/>
                <a:sym typeface="Calibri"/>
              </a:defRPr>
            </a:lvl4pPr>
            <a:lvl5pPr indent="0" lvl="4" marL="0" marR="0" algn="r">
              <a:spcBef>
                <a:spcPts val="0"/>
              </a:spcBef>
              <a:buNone/>
              <a:defRPr sz="1200">
                <a:solidFill>
                  <a:srgbClr val="888888"/>
                </a:solidFill>
                <a:latin typeface="Calibri"/>
                <a:ea typeface="Calibri"/>
                <a:cs typeface="Calibri"/>
                <a:sym typeface="Calibri"/>
              </a:defRPr>
            </a:lvl5pPr>
            <a:lvl6pPr indent="0" lvl="5" marL="0" marR="0" algn="r">
              <a:spcBef>
                <a:spcPts val="0"/>
              </a:spcBef>
              <a:buNone/>
              <a:defRPr sz="1200">
                <a:solidFill>
                  <a:srgbClr val="888888"/>
                </a:solidFill>
                <a:latin typeface="Calibri"/>
                <a:ea typeface="Calibri"/>
                <a:cs typeface="Calibri"/>
                <a:sym typeface="Calibri"/>
              </a:defRPr>
            </a:lvl6pPr>
            <a:lvl7pPr indent="0" lvl="6" marL="0" marR="0" algn="r">
              <a:spcBef>
                <a:spcPts val="0"/>
              </a:spcBef>
              <a:buNone/>
              <a:defRPr sz="1200">
                <a:solidFill>
                  <a:srgbClr val="888888"/>
                </a:solidFill>
                <a:latin typeface="Calibri"/>
                <a:ea typeface="Calibri"/>
                <a:cs typeface="Calibri"/>
                <a:sym typeface="Calibri"/>
              </a:defRPr>
            </a:lvl7pPr>
            <a:lvl8pPr indent="0" lvl="7" marL="0" marR="0" algn="r">
              <a:spcBef>
                <a:spcPts val="0"/>
              </a:spcBef>
              <a:buNone/>
              <a:defRPr sz="1200">
                <a:solidFill>
                  <a:srgbClr val="888888"/>
                </a:solidFill>
                <a:latin typeface="Calibri"/>
                <a:ea typeface="Calibri"/>
                <a:cs typeface="Calibri"/>
                <a:sym typeface="Calibri"/>
              </a:defRPr>
            </a:lvl8pPr>
            <a:lvl9pPr indent="0" lvl="8" marL="0" marR="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3" name="Google Shape;73;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76" name="Google Shape;76;p7"/>
          <p:cNvGrpSpPr/>
          <p:nvPr/>
        </p:nvGrpSpPr>
        <p:grpSpPr>
          <a:xfrm>
            <a:off x="38427" y="-4076"/>
            <a:ext cx="12153573" cy="1124712"/>
            <a:chOff x="256801" y="4737"/>
            <a:chExt cx="11931503" cy="1152295"/>
          </a:xfrm>
        </p:grpSpPr>
        <p:sp>
          <p:nvSpPr>
            <p:cNvPr id="77" name="Google Shape;77;p7"/>
            <p:cNvSpPr/>
            <p:nvPr/>
          </p:nvSpPr>
          <p:spPr>
            <a:xfrm>
              <a:off x="83820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 name="Google Shape;78;p7"/>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7"/>
            <p:cNvSpPr/>
            <p:nvPr/>
          </p:nvSpPr>
          <p:spPr>
            <a:xfrm>
              <a:off x="11639664" y="11142"/>
              <a:ext cx="548640" cy="562096"/>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 name="Google Shape;80;p7"/>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7"/>
            <p:cNvSpPr/>
            <p:nvPr/>
          </p:nvSpPr>
          <p:spPr>
            <a:xfrm>
              <a:off x="283337" y="26073"/>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2" name="Google Shape;82;p7"/>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3" name="Shape 83"/>
        <p:cNvGrpSpPr/>
        <p:nvPr/>
      </p:nvGrpSpPr>
      <p:grpSpPr>
        <a:xfrm>
          <a:off x="0" y="0"/>
          <a:ext cx="0" cy="0"/>
          <a:chOff x="0" y="0"/>
          <a:chExt cx="0" cy="0"/>
        </a:xfrm>
      </p:grpSpPr>
      <p:grpSp>
        <p:nvGrpSpPr>
          <p:cNvPr id="84" name="Google Shape;84;p8"/>
          <p:cNvGrpSpPr/>
          <p:nvPr/>
        </p:nvGrpSpPr>
        <p:grpSpPr>
          <a:xfrm>
            <a:off x="38427" y="-4076"/>
            <a:ext cx="12153573" cy="1124712"/>
            <a:chOff x="256801" y="4737"/>
            <a:chExt cx="11931503" cy="1152295"/>
          </a:xfrm>
        </p:grpSpPr>
        <p:sp>
          <p:nvSpPr>
            <p:cNvPr id="85" name="Google Shape;85;p8"/>
            <p:cNvSpPr/>
            <p:nvPr/>
          </p:nvSpPr>
          <p:spPr>
            <a:xfrm>
              <a:off x="79917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8"/>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8"/>
            <p:cNvSpPr/>
            <p:nvPr/>
          </p:nvSpPr>
          <p:spPr>
            <a:xfrm>
              <a:off x="11639664" y="11142"/>
              <a:ext cx="548640" cy="562096"/>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 name="Google Shape;88;p8"/>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 name="Google Shape;89;p8"/>
            <p:cNvSpPr/>
            <p:nvPr/>
          </p:nvSpPr>
          <p:spPr>
            <a:xfrm>
              <a:off x="283337" y="12878"/>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90" name="Google Shape;90;p8"/>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
        <p:nvSpPr>
          <p:cNvPr id="91" name="Google Shape;91;p8"/>
          <p:cNvSpPr txBox="1"/>
          <p:nvPr>
            <p:ph type="title"/>
          </p:nvPr>
        </p:nvSpPr>
        <p:spPr>
          <a:xfrm>
            <a:off x="1210292" y="-2"/>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3" name="Google Shape;93;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95" name="Google Shape;95;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 name="Shape 99"/>
        <p:cNvGrpSpPr/>
        <p:nvPr/>
      </p:nvGrpSpPr>
      <p:grpSpPr>
        <a:xfrm>
          <a:off x="0" y="0"/>
          <a:ext cx="0" cy="0"/>
          <a:chOff x="0" y="0"/>
          <a:chExt cx="0" cy="0"/>
        </a:xfrm>
      </p:grpSpPr>
      <p:grpSp>
        <p:nvGrpSpPr>
          <p:cNvPr id="100" name="Google Shape;100;p9"/>
          <p:cNvGrpSpPr/>
          <p:nvPr/>
        </p:nvGrpSpPr>
        <p:grpSpPr>
          <a:xfrm>
            <a:off x="38427" y="-4076"/>
            <a:ext cx="12153573" cy="1124712"/>
            <a:chOff x="256801" y="4737"/>
            <a:chExt cx="11931503" cy="1152295"/>
          </a:xfrm>
        </p:grpSpPr>
        <p:sp>
          <p:nvSpPr>
            <p:cNvPr id="101" name="Google Shape;101;p9"/>
            <p:cNvSpPr/>
            <p:nvPr/>
          </p:nvSpPr>
          <p:spPr>
            <a:xfrm>
              <a:off x="83820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2" name="Google Shape;102;p9"/>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3" name="Google Shape;103;p9"/>
            <p:cNvSpPr/>
            <p:nvPr/>
          </p:nvSpPr>
          <p:spPr>
            <a:xfrm>
              <a:off x="11639664" y="11142"/>
              <a:ext cx="548640" cy="562096"/>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9"/>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9"/>
            <p:cNvSpPr/>
            <p:nvPr/>
          </p:nvSpPr>
          <p:spPr>
            <a:xfrm>
              <a:off x="283337" y="12878"/>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06" name="Google Shape;106;p9"/>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
        <p:nvSpPr>
          <p:cNvPr id="107" name="Google Shape;107;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0" name="Shape 110"/>
        <p:cNvGrpSpPr/>
        <p:nvPr/>
      </p:nvGrpSpPr>
      <p:grpSpPr>
        <a:xfrm>
          <a:off x="0" y="0"/>
          <a:ext cx="0" cy="0"/>
          <a:chOff x="0" y="0"/>
          <a:chExt cx="0" cy="0"/>
        </a:xfrm>
      </p:grpSpPr>
      <p:sp>
        <p:nvSpPr>
          <p:cNvPr id="111" name="Google Shape;111;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2" name="Google Shape;11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15" name="Google Shape;115;p10"/>
          <p:cNvGrpSpPr/>
          <p:nvPr/>
        </p:nvGrpSpPr>
        <p:grpSpPr>
          <a:xfrm>
            <a:off x="24981" y="56214"/>
            <a:ext cx="12153573" cy="1124712"/>
            <a:chOff x="256801" y="4737"/>
            <a:chExt cx="11931503" cy="1152295"/>
          </a:xfrm>
        </p:grpSpPr>
        <p:sp>
          <p:nvSpPr>
            <p:cNvPr id="116" name="Google Shape;116;p10"/>
            <p:cNvSpPr/>
            <p:nvPr/>
          </p:nvSpPr>
          <p:spPr>
            <a:xfrm>
              <a:off x="83820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7" name="Google Shape;117;p10"/>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8" name="Google Shape;118;p10"/>
            <p:cNvSpPr/>
            <p:nvPr/>
          </p:nvSpPr>
          <p:spPr>
            <a:xfrm>
              <a:off x="11639664" y="11142"/>
              <a:ext cx="548640" cy="562096"/>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9" name="Google Shape;119;p10"/>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0" name="Google Shape;120;p10"/>
            <p:cNvSpPr/>
            <p:nvPr/>
          </p:nvSpPr>
          <p:spPr>
            <a:xfrm>
              <a:off x="283337" y="12878"/>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21" name="Google Shape;121;p10"/>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
        <p:nvSpPr>
          <p:cNvPr id="122" name="Google Shape;12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10"/>
          <p:cNvSpPr txBox="1"/>
          <p:nvPr>
            <p:ph idx="2"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4" name="Shape 124"/>
        <p:cNvGrpSpPr/>
        <p:nvPr/>
      </p:nvGrpSpPr>
      <p:grpSpPr>
        <a:xfrm>
          <a:off x="0" y="0"/>
          <a:ext cx="0" cy="0"/>
          <a:chOff x="0" y="0"/>
          <a:chExt cx="0" cy="0"/>
        </a:xfrm>
      </p:grpSpPr>
      <p:sp>
        <p:nvSpPr>
          <p:cNvPr id="125" name="Google Shape;125;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6" name="Google Shape;12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129" name="Google Shape;129;p11"/>
          <p:cNvGrpSpPr/>
          <p:nvPr/>
        </p:nvGrpSpPr>
        <p:grpSpPr>
          <a:xfrm>
            <a:off x="24981" y="56214"/>
            <a:ext cx="12153573" cy="1124712"/>
            <a:chOff x="256801" y="4737"/>
            <a:chExt cx="11931503" cy="1152295"/>
          </a:xfrm>
        </p:grpSpPr>
        <p:sp>
          <p:nvSpPr>
            <p:cNvPr id="130" name="Google Shape;130;p11"/>
            <p:cNvSpPr/>
            <p:nvPr/>
          </p:nvSpPr>
          <p:spPr>
            <a:xfrm>
              <a:off x="83820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1" name="Google Shape;131;p11"/>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11"/>
            <p:cNvSpPr/>
            <p:nvPr/>
          </p:nvSpPr>
          <p:spPr>
            <a:xfrm>
              <a:off x="11639664" y="11142"/>
              <a:ext cx="548640" cy="562096"/>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11"/>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11"/>
            <p:cNvSpPr/>
            <p:nvPr/>
          </p:nvSpPr>
          <p:spPr>
            <a:xfrm>
              <a:off x="283337" y="12878"/>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35" name="Google Shape;135;p11"/>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
        <p:nvSpPr>
          <p:cNvPr id="136" name="Google Shape;136;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11"/>
          <p:cNvSpPr/>
          <p:nvPr>
            <p:ph idx="2" type="pic"/>
          </p:nvPr>
        </p:nvSpPr>
        <p:spPr>
          <a:xfrm>
            <a:off x="5183188" y="987425"/>
            <a:ext cx="6172200" cy="4873625"/>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8" name="Shape 138"/>
        <p:cNvGrpSpPr/>
        <p:nvPr/>
      </p:nvGrpSpPr>
      <p:grpSpPr>
        <a:xfrm>
          <a:off x="0" y="0"/>
          <a:ext cx="0" cy="0"/>
          <a:chOff x="0" y="0"/>
          <a:chExt cx="0" cy="0"/>
        </a:xfrm>
      </p:grpSpPr>
      <p:grpSp>
        <p:nvGrpSpPr>
          <p:cNvPr id="139" name="Google Shape;139;p12"/>
          <p:cNvGrpSpPr/>
          <p:nvPr/>
        </p:nvGrpSpPr>
        <p:grpSpPr>
          <a:xfrm>
            <a:off x="38427" y="-4076"/>
            <a:ext cx="12153573" cy="1124712"/>
            <a:chOff x="256801" y="4737"/>
            <a:chExt cx="11931503" cy="1152295"/>
          </a:xfrm>
        </p:grpSpPr>
        <p:sp>
          <p:nvSpPr>
            <p:cNvPr id="140" name="Google Shape;140;p12"/>
            <p:cNvSpPr/>
            <p:nvPr/>
          </p:nvSpPr>
          <p:spPr>
            <a:xfrm>
              <a:off x="838200" y="4737"/>
              <a:ext cx="11338560" cy="1152295"/>
            </a:xfrm>
            <a:prstGeom prst="rect">
              <a:avLst/>
            </a:prstGeom>
            <a:gradFill>
              <a:gsLst>
                <a:gs pos="0">
                  <a:srgbClr val="EFAC03"/>
                </a:gs>
                <a:gs pos="41000">
                  <a:srgbClr val="EEC104"/>
                </a:gs>
                <a:gs pos="67000">
                  <a:srgbClr val="EEC104"/>
                </a:gs>
                <a:gs pos="84000">
                  <a:srgbClr val="EEC104"/>
                </a:gs>
                <a:gs pos="100000">
                  <a:srgbClr val="EEC104"/>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12"/>
            <p:cNvSpPr/>
            <p:nvPr/>
          </p:nvSpPr>
          <p:spPr>
            <a:xfrm>
              <a:off x="11079892" y="9476"/>
              <a:ext cx="548640" cy="562096"/>
            </a:xfrm>
            <a:prstGeom prst="rect">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12"/>
            <p:cNvSpPr/>
            <p:nvPr/>
          </p:nvSpPr>
          <p:spPr>
            <a:xfrm>
              <a:off x="11639664" y="11142"/>
              <a:ext cx="548640" cy="562096"/>
            </a:xfrm>
            <a:prstGeom prst="rect">
              <a:avLst/>
            </a:prstGeom>
            <a:solidFill>
              <a:srgbClr val="638949"/>
            </a:solidFill>
            <a:ln cap="flat" cmpd="sng" w="12700">
              <a:solidFill>
                <a:srgbClr val="63894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3" name="Google Shape;143;p12"/>
            <p:cNvSpPr/>
            <p:nvPr/>
          </p:nvSpPr>
          <p:spPr>
            <a:xfrm>
              <a:off x="11639048" y="581972"/>
              <a:ext cx="548640" cy="562097"/>
            </a:xfrm>
            <a:prstGeom prst="rect">
              <a:avLst/>
            </a:prstGeom>
            <a:solidFill>
              <a:srgbClr val="CE4508"/>
            </a:solidFill>
            <a:ln cap="flat" cmpd="sng" w="12700">
              <a:solidFill>
                <a:srgbClr val="CE450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4" name="Google Shape;144;p12"/>
            <p:cNvSpPr/>
            <p:nvPr/>
          </p:nvSpPr>
          <p:spPr>
            <a:xfrm>
              <a:off x="283337" y="12878"/>
              <a:ext cx="1017430" cy="1116051"/>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45" name="Google Shape;145;p12"/>
            <p:cNvPicPr preferRelativeResize="0"/>
            <p:nvPr/>
          </p:nvPicPr>
          <p:blipFill rotWithShape="1">
            <a:blip r:embed="rId2">
              <a:alphaModFix/>
            </a:blip>
            <a:srcRect b="0" l="0" r="0" t="0"/>
            <a:stretch/>
          </p:blipFill>
          <p:spPr>
            <a:xfrm>
              <a:off x="256801" y="145467"/>
              <a:ext cx="842840" cy="854180"/>
            </a:xfrm>
            <a:prstGeom prst="rect">
              <a:avLst/>
            </a:prstGeom>
            <a:noFill/>
            <a:ln>
              <a:noFill/>
            </a:ln>
          </p:spPr>
        </p:pic>
      </p:grpSp>
      <p:sp>
        <p:nvSpPr>
          <p:cNvPr id="146" name="Google Shape;146;p12"/>
          <p:cNvSpPr txBox="1"/>
          <p:nvPr>
            <p:ph type="title"/>
          </p:nvPr>
        </p:nvSpPr>
        <p:spPr>
          <a:xfrm>
            <a:off x="1545465" y="-2972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 name="Google Shape;147;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1" name="Shape 151"/>
        <p:cNvGrpSpPr/>
        <p:nvPr/>
      </p:nvGrpSpPr>
      <p:grpSpPr>
        <a:xfrm>
          <a:off x="0" y="0"/>
          <a:ext cx="0" cy="0"/>
          <a:chOff x="0" y="0"/>
          <a:chExt cx="0" cy="0"/>
        </a:xfrm>
      </p:grpSpPr>
      <p:sp>
        <p:nvSpPr>
          <p:cNvPr id="152" name="Google Shape;152;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ppt/slid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ppt/slides/slide9.xml"/><Relationship Id="rId4" Type="http://schemas.openxmlformats.org/officeDocument/2006/relationships/slide" Target="/ppt/slides/slide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slide" Target="/ppt/slid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oanda.com/currency/live-exchange-rates/" TargetMode="External"/><Relationship Id="rId4" Type="http://schemas.openxmlformats.org/officeDocument/2006/relationships/hyperlink" Target="https://www.oanda.com/currency/live-exchange-rate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www.investing.com/currencies/eur-usd-forward-rate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Readings/Foreign%20Exchange/Big%20Mac%20index%202007%20v2%20corrected.doc" TargetMode="External"/><Relationship Id="rId4" Type="http://schemas.openxmlformats.org/officeDocument/2006/relationships/image" Target="../media/image10.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www.consensuseconomics.com/download/foreign_exchange_rate_forecasts.ht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www.fxstreet.com/rates-charts/currency-rates/"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slide" Target="/ppt/slides/slide5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slide" Target="/ppt/slid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hyperlink" Target="http://www.ft.com/cms/s/0/32114cee-eb78-11df-b482-00144feab49a,dwp_uuid=60a3db68-b177-11dd-b97a-0000779fd18c.html"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hyperlink" Target="http://www.ft.com/cms/s/0/32a3c85a-ec39-11df-9e11-00144feab49a,dwp_uuid=60a3db68-b177-11dd-b97a-0000779fd18c.html" TargetMode="External"/><Relationship Id="rId4" Type="http://schemas.openxmlformats.org/officeDocument/2006/relationships/image" Target="../media/image9.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1.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hyperlink" Target="http://behindthewall.msnbc.msn.com/_news/2010/11/11/5447670-chinas-in-the-hous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4"/>
          <p:cNvSpPr txBox="1"/>
          <p:nvPr>
            <p:ph type="ctrTitle"/>
          </p:nvPr>
        </p:nvSpPr>
        <p:spPr>
          <a:xfrm>
            <a:off x="3505200" y="2667000"/>
            <a:ext cx="6934200" cy="1143000"/>
          </a:xfrm>
          <a:prstGeom prst="rect">
            <a:avLst/>
          </a:prstGeom>
          <a:noFill/>
          <a:ln>
            <a:noFill/>
          </a:ln>
        </p:spPr>
        <p:txBody>
          <a:bodyPr anchorCtr="0" anchor="b" bIns="44450" lIns="90475" spcFirstLastPara="1" rIns="90475" wrap="square" tIns="44450">
            <a:normAutofit/>
          </a:bodyPr>
          <a:lstStyle/>
          <a:p>
            <a:pPr indent="0" lvl="0" marL="0" rtl="0" algn="ctr">
              <a:lnSpc>
                <a:spcPct val="90000"/>
              </a:lnSpc>
              <a:spcBef>
                <a:spcPts val="0"/>
              </a:spcBef>
              <a:spcAft>
                <a:spcPts val="0"/>
              </a:spcAft>
              <a:buClr>
                <a:schemeClr val="dk1"/>
              </a:buClr>
              <a:buSzPts val="4400"/>
              <a:buFont typeface="Calibri"/>
              <a:buNone/>
            </a:pPr>
            <a:r>
              <a:rPr lang="en-US" sz="4400"/>
              <a:t>Foreign Exchange Markets</a:t>
            </a:r>
            <a:endParaRPr/>
          </a:p>
        </p:txBody>
      </p:sp>
      <p:sp>
        <p:nvSpPr>
          <p:cNvPr id="163" name="Google Shape;163;p14"/>
          <p:cNvSpPr txBox="1"/>
          <p:nvPr>
            <p:ph idx="1" type="subTitle"/>
          </p:nvPr>
        </p:nvSpPr>
        <p:spPr>
          <a:xfrm>
            <a:off x="2895600" y="3962400"/>
            <a:ext cx="6934200" cy="1676400"/>
          </a:xfrm>
          <a:prstGeom prst="rect">
            <a:avLst/>
          </a:prstGeom>
          <a:noFill/>
          <a:ln>
            <a:noFill/>
          </a:ln>
        </p:spPr>
        <p:txBody>
          <a:bodyPr anchorCtr="0" anchor="t" bIns="44450" lIns="90475" spcFirstLastPara="1" rIns="90475" wrap="square" tIns="44450">
            <a:normAutofit/>
          </a:bodyPr>
          <a:lstStyle/>
          <a:p>
            <a:pPr indent="-342900" lvl="0" marL="342900" rtl="0" algn="ctr">
              <a:lnSpc>
                <a:spcPct val="90000"/>
              </a:lnSpc>
              <a:spcBef>
                <a:spcPts val="0"/>
              </a:spcBef>
              <a:spcAft>
                <a:spcPts val="0"/>
              </a:spcAft>
              <a:buClr>
                <a:schemeClr val="dk1"/>
              </a:buClr>
              <a:buSzPts val="3600"/>
              <a:buNone/>
            </a:pPr>
            <a:r>
              <a:rPr lang="en-US" sz="3600"/>
              <a:t>Spot and Forward markets, hedging, and exchange rate determination </a:t>
            </a:r>
            <a:endParaRPr/>
          </a:p>
        </p:txBody>
      </p:sp>
      <p:sp>
        <p:nvSpPr>
          <p:cNvPr id="164" name="Google Shape;16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5"/>
          <p:cNvSpPr/>
          <p:nvPr/>
        </p:nvSpPr>
        <p:spPr>
          <a:xfrm>
            <a:off x="1443317" y="2384611"/>
            <a:ext cx="7513320" cy="914400"/>
          </a:xfrm>
          <a:prstGeom prst="rect">
            <a:avLst/>
          </a:prstGeom>
          <a:solidFill>
            <a:srgbClr val="2E75B5"/>
          </a:solidFill>
          <a:ln cap="flat" cmpd="sng" w="1270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1" name="Google Shape;171;p15"/>
          <p:cNvSpPr txBox="1"/>
          <p:nvPr>
            <p:ph type="title"/>
          </p:nvPr>
        </p:nvSpPr>
        <p:spPr>
          <a:xfrm>
            <a:off x="1223682" y="17929"/>
            <a:ext cx="9368118"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Learning Objectives</a:t>
            </a:r>
            <a:endParaRPr/>
          </a:p>
        </p:txBody>
      </p:sp>
      <p:sp>
        <p:nvSpPr>
          <p:cNvPr id="172" name="Google Shape;172;p15"/>
          <p:cNvSpPr txBox="1"/>
          <p:nvPr>
            <p:ph idx="1" type="body"/>
          </p:nvPr>
        </p:nvSpPr>
        <p:spPr>
          <a:xfrm>
            <a:off x="1524116" y="1485900"/>
            <a:ext cx="7734300" cy="4724400"/>
          </a:xfrm>
          <a:prstGeom prst="rect">
            <a:avLst/>
          </a:prstGeom>
          <a:noFill/>
          <a:ln>
            <a:noFill/>
          </a:ln>
        </p:spPr>
        <p:txBody>
          <a:bodyPr anchorCtr="0" anchor="t" bIns="45700" lIns="91425" spcFirstLastPara="1" rIns="91425" wrap="square" tIns="45700">
            <a:noAutofit/>
          </a:bodyPr>
          <a:lstStyle/>
          <a:p>
            <a:pPr indent="-228600" lvl="0" marL="228600" rtl="0" algn="l">
              <a:lnSpc>
                <a:spcPct val="80000"/>
              </a:lnSpc>
              <a:spcBef>
                <a:spcPts val="0"/>
              </a:spcBef>
              <a:spcAft>
                <a:spcPts val="0"/>
              </a:spcAft>
              <a:buClr>
                <a:schemeClr val="dk1"/>
              </a:buClr>
              <a:buSzPts val="2800"/>
              <a:buChar char="•"/>
            </a:pPr>
            <a:r>
              <a:rPr lang="en-US" sz="2800"/>
              <a:t>What is the foreign exchange market and what are reasons for its growth?</a:t>
            </a:r>
            <a:endParaRPr/>
          </a:p>
          <a:p>
            <a:pPr indent="-228600" lvl="0" marL="228600" rtl="0" algn="l">
              <a:lnSpc>
                <a:spcPct val="80000"/>
              </a:lnSpc>
              <a:spcBef>
                <a:spcPts val="2400"/>
              </a:spcBef>
              <a:spcAft>
                <a:spcPts val="0"/>
              </a:spcAft>
              <a:buClr>
                <a:schemeClr val="dk1"/>
              </a:buClr>
              <a:buSzPts val="2800"/>
              <a:buChar char="•"/>
            </a:pPr>
            <a:r>
              <a:rPr lang="en-US" sz="2800"/>
              <a:t>Who participates in the foreign exchange market  and why?</a:t>
            </a:r>
            <a:endParaRPr/>
          </a:p>
          <a:p>
            <a:pPr indent="-228600" lvl="0" marL="228600" rtl="0" algn="l">
              <a:lnSpc>
                <a:spcPct val="80000"/>
              </a:lnSpc>
              <a:spcBef>
                <a:spcPts val="2400"/>
              </a:spcBef>
              <a:spcAft>
                <a:spcPts val="0"/>
              </a:spcAft>
              <a:buClr>
                <a:schemeClr val="dk1"/>
              </a:buClr>
              <a:buSzPts val="2800"/>
              <a:buChar char="•"/>
            </a:pPr>
            <a:r>
              <a:rPr lang="en-US" sz="2800"/>
              <a:t>What is the difference between the spot and forward markets (and rates)? </a:t>
            </a:r>
            <a:endParaRPr/>
          </a:p>
          <a:p>
            <a:pPr indent="-228600" lvl="0" marL="228600" rtl="0" algn="l">
              <a:lnSpc>
                <a:spcPct val="80000"/>
              </a:lnSpc>
              <a:spcBef>
                <a:spcPts val="2400"/>
              </a:spcBef>
              <a:spcAft>
                <a:spcPts val="0"/>
              </a:spcAft>
              <a:buClr>
                <a:schemeClr val="dk1"/>
              </a:buClr>
              <a:buSzPts val="2800"/>
              <a:buChar char="•"/>
            </a:pPr>
            <a:r>
              <a:rPr lang="en-US" sz="2800"/>
              <a:t>How does hedging reduce exchange risk?  </a:t>
            </a:r>
            <a:endParaRPr/>
          </a:p>
          <a:p>
            <a:pPr indent="-228600" lvl="0" marL="228600" rtl="0" algn="l">
              <a:lnSpc>
                <a:spcPct val="80000"/>
              </a:lnSpc>
              <a:spcBef>
                <a:spcPts val="2400"/>
              </a:spcBef>
              <a:spcAft>
                <a:spcPts val="0"/>
              </a:spcAft>
              <a:buClr>
                <a:schemeClr val="dk1"/>
              </a:buClr>
              <a:buSzPts val="2800"/>
              <a:buChar char="•"/>
            </a:pPr>
            <a:r>
              <a:rPr lang="en-US" sz="2800"/>
              <a:t>What factors determine exchange rate prices and changes in rates?</a:t>
            </a:r>
            <a:endParaRPr/>
          </a:p>
          <a:p>
            <a:pPr indent="-228600" lvl="0" marL="228600" rtl="0" algn="l">
              <a:lnSpc>
                <a:spcPct val="80000"/>
              </a:lnSpc>
              <a:spcBef>
                <a:spcPts val="2400"/>
              </a:spcBef>
              <a:spcAft>
                <a:spcPts val="0"/>
              </a:spcAft>
              <a:buClr>
                <a:schemeClr val="dk1"/>
              </a:buClr>
              <a:buSzPts val="2800"/>
              <a:buChar char="•"/>
            </a:pPr>
            <a:r>
              <a:rPr lang="en-US" sz="2800"/>
              <a:t>What are speculation and arbitrage and what are different forms of arbitrage?</a:t>
            </a:r>
            <a:endParaRPr/>
          </a:p>
        </p:txBody>
      </p:sp>
      <p:sp>
        <p:nvSpPr>
          <p:cNvPr id="173" name="Google Shape;173;p15"/>
          <p:cNvSpPr/>
          <p:nvPr/>
        </p:nvSpPr>
        <p:spPr>
          <a:xfrm>
            <a:off x="9117107" y="2590801"/>
            <a:ext cx="381000" cy="228600"/>
          </a:xfrm>
          <a:custGeom>
            <a:rect b="b" l="l" r="r" t="t"/>
            <a:pathLst>
              <a:path extrusionOk="0" h="120000" w="120000">
                <a:moveTo>
                  <a:pt x="0" y="0"/>
                </a:moveTo>
                <a:lnTo>
                  <a:pt x="120000" y="0"/>
                </a:lnTo>
                <a:lnTo>
                  <a:pt x="120000" y="120000"/>
                </a:lnTo>
                <a:lnTo>
                  <a:pt x="0" y="120000"/>
                </a:lnTo>
                <a:close/>
                <a:moveTo>
                  <a:pt x="33000" y="37000"/>
                </a:moveTo>
                <a:lnTo>
                  <a:pt x="33000" y="54813"/>
                </a:lnTo>
                <a:lnTo>
                  <a:pt x="36638" y="54813"/>
                </a:lnTo>
                <a:lnTo>
                  <a:pt x="37763" y="52779"/>
                </a:lnTo>
                <a:lnTo>
                  <a:pt x="38813" y="52779"/>
                </a:lnTo>
                <a:lnTo>
                  <a:pt x="38813" y="79967"/>
                </a:lnTo>
                <a:lnTo>
                  <a:pt x="75525" y="79967"/>
                </a:lnTo>
                <a:lnTo>
                  <a:pt x="75525" y="70592"/>
                </a:lnTo>
                <a:lnTo>
                  <a:pt x="81338" y="70592"/>
                </a:lnTo>
                <a:lnTo>
                  <a:pt x="84488" y="75750"/>
                </a:lnTo>
                <a:lnTo>
                  <a:pt x="87000" y="75750"/>
                </a:lnTo>
                <a:lnTo>
                  <a:pt x="87000" y="42625"/>
                </a:lnTo>
                <a:lnTo>
                  <a:pt x="84488" y="42625"/>
                </a:lnTo>
                <a:lnTo>
                  <a:pt x="82313" y="46217"/>
                </a:lnTo>
                <a:lnTo>
                  <a:pt x="75525" y="46217"/>
                </a:lnTo>
                <a:lnTo>
                  <a:pt x="75525" y="42625"/>
                </a:lnTo>
                <a:lnTo>
                  <a:pt x="73388" y="38875"/>
                </a:lnTo>
                <a:lnTo>
                  <a:pt x="37763" y="38875"/>
                </a:lnTo>
                <a:lnTo>
                  <a:pt x="36638" y="37000"/>
                </a:lnTo>
                <a:close/>
              </a:path>
              <a:path extrusionOk="0" fill="darken" h="120000" w="120000">
                <a:moveTo>
                  <a:pt x="33000" y="37000"/>
                </a:moveTo>
                <a:lnTo>
                  <a:pt x="33000" y="54813"/>
                </a:lnTo>
                <a:lnTo>
                  <a:pt x="36638" y="54813"/>
                </a:lnTo>
                <a:lnTo>
                  <a:pt x="37763" y="52779"/>
                </a:lnTo>
                <a:lnTo>
                  <a:pt x="38813" y="52779"/>
                </a:lnTo>
                <a:lnTo>
                  <a:pt x="38813" y="79967"/>
                </a:lnTo>
                <a:lnTo>
                  <a:pt x="75525" y="79967"/>
                </a:lnTo>
                <a:lnTo>
                  <a:pt x="75525" y="70592"/>
                </a:lnTo>
                <a:lnTo>
                  <a:pt x="81338" y="70592"/>
                </a:lnTo>
                <a:lnTo>
                  <a:pt x="84488" y="75750"/>
                </a:lnTo>
                <a:lnTo>
                  <a:pt x="87000" y="75750"/>
                </a:lnTo>
                <a:lnTo>
                  <a:pt x="87000" y="42625"/>
                </a:lnTo>
                <a:lnTo>
                  <a:pt x="84488" y="42625"/>
                </a:lnTo>
                <a:lnTo>
                  <a:pt x="82313" y="46217"/>
                </a:lnTo>
                <a:lnTo>
                  <a:pt x="75525" y="46217"/>
                </a:lnTo>
                <a:lnTo>
                  <a:pt x="75525" y="42625"/>
                </a:lnTo>
                <a:lnTo>
                  <a:pt x="73388" y="38875"/>
                </a:lnTo>
                <a:lnTo>
                  <a:pt x="37763" y="38875"/>
                </a:lnTo>
                <a:lnTo>
                  <a:pt x="36638" y="37000"/>
                </a:lnTo>
                <a:close/>
              </a:path>
              <a:path extrusionOk="0" fill="none" h="120000" w="120000">
                <a:moveTo>
                  <a:pt x="33000" y="37000"/>
                </a:moveTo>
                <a:lnTo>
                  <a:pt x="36638" y="37000"/>
                </a:lnTo>
                <a:lnTo>
                  <a:pt x="37763" y="38875"/>
                </a:lnTo>
                <a:lnTo>
                  <a:pt x="73388" y="38875"/>
                </a:lnTo>
                <a:lnTo>
                  <a:pt x="75525" y="42625"/>
                </a:lnTo>
                <a:lnTo>
                  <a:pt x="75525" y="46217"/>
                </a:lnTo>
                <a:lnTo>
                  <a:pt x="82313" y="46217"/>
                </a:lnTo>
                <a:lnTo>
                  <a:pt x="84488" y="42625"/>
                </a:lnTo>
                <a:lnTo>
                  <a:pt x="87000" y="42625"/>
                </a:lnTo>
                <a:lnTo>
                  <a:pt x="87000" y="75750"/>
                </a:lnTo>
                <a:lnTo>
                  <a:pt x="84488" y="75750"/>
                </a:lnTo>
                <a:lnTo>
                  <a:pt x="81338" y="70592"/>
                </a:lnTo>
                <a:lnTo>
                  <a:pt x="75525" y="70592"/>
                </a:lnTo>
                <a:lnTo>
                  <a:pt x="75525" y="79967"/>
                </a:lnTo>
                <a:lnTo>
                  <a:pt x="38813" y="79967"/>
                </a:lnTo>
                <a:lnTo>
                  <a:pt x="38813" y="52779"/>
                </a:lnTo>
                <a:lnTo>
                  <a:pt x="37763" y="52779"/>
                </a:lnTo>
                <a:lnTo>
                  <a:pt x="36638" y="54813"/>
                </a:lnTo>
                <a:lnTo>
                  <a:pt x="33000" y="54813"/>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4" name="Google Shape;174;p15"/>
          <p:cNvSpPr/>
          <p:nvPr/>
        </p:nvSpPr>
        <p:spPr>
          <a:xfrm>
            <a:off x="8592674" y="3558989"/>
            <a:ext cx="381000" cy="228600"/>
          </a:xfrm>
          <a:custGeom>
            <a:rect b="b" l="l" r="r" t="t"/>
            <a:pathLst>
              <a:path extrusionOk="0" h="120000" w="120000">
                <a:moveTo>
                  <a:pt x="0" y="0"/>
                </a:moveTo>
                <a:lnTo>
                  <a:pt x="120000" y="0"/>
                </a:lnTo>
                <a:lnTo>
                  <a:pt x="120000" y="120000"/>
                </a:lnTo>
                <a:lnTo>
                  <a:pt x="0" y="120000"/>
                </a:lnTo>
                <a:close/>
                <a:moveTo>
                  <a:pt x="33000" y="37000"/>
                </a:moveTo>
                <a:lnTo>
                  <a:pt x="33000" y="54813"/>
                </a:lnTo>
                <a:lnTo>
                  <a:pt x="36638" y="54813"/>
                </a:lnTo>
                <a:lnTo>
                  <a:pt x="37763" y="52779"/>
                </a:lnTo>
                <a:lnTo>
                  <a:pt x="38813" y="52779"/>
                </a:lnTo>
                <a:lnTo>
                  <a:pt x="38813" y="79967"/>
                </a:lnTo>
                <a:lnTo>
                  <a:pt x="75525" y="79967"/>
                </a:lnTo>
                <a:lnTo>
                  <a:pt x="75525" y="70592"/>
                </a:lnTo>
                <a:lnTo>
                  <a:pt x="81338" y="70592"/>
                </a:lnTo>
                <a:lnTo>
                  <a:pt x="84488" y="75750"/>
                </a:lnTo>
                <a:lnTo>
                  <a:pt x="87000" y="75750"/>
                </a:lnTo>
                <a:lnTo>
                  <a:pt x="87000" y="42625"/>
                </a:lnTo>
                <a:lnTo>
                  <a:pt x="84488" y="42625"/>
                </a:lnTo>
                <a:lnTo>
                  <a:pt x="82313" y="46217"/>
                </a:lnTo>
                <a:lnTo>
                  <a:pt x="75525" y="46217"/>
                </a:lnTo>
                <a:lnTo>
                  <a:pt x="75525" y="42625"/>
                </a:lnTo>
                <a:lnTo>
                  <a:pt x="73388" y="38875"/>
                </a:lnTo>
                <a:lnTo>
                  <a:pt x="37763" y="38875"/>
                </a:lnTo>
                <a:lnTo>
                  <a:pt x="36638" y="37000"/>
                </a:lnTo>
                <a:close/>
              </a:path>
              <a:path extrusionOk="0" fill="darken" h="120000" w="120000">
                <a:moveTo>
                  <a:pt x="33000" y="37000"/>
                </a:moveTo>
                <a:lnTo>
                  <a:pt x="33000" y="54813"/>
                </a:lnTo>
                <a:lnTo>
                  <a:pt x="36638" y="54813"/>
                </a:lnTo>
                <a:lnTo>
                  <a:pt x="37763" y="52779"/>
                </a:lnTo>
                <a:lnTo>
                  <a:pt x="38813" y="52779"/>
                </a:lnTo>
                <a:lnTo>
                  <a:pt x="38813" y="79967"/>
                </a:lnTo>
                <a:lnTo>
                  <a:pt x="75525" y="79967"/>
                </a:lnTo>
                <a:lnTo>
                  <a:pt x="75525" y="70592"/>
                </a:lnTo>
                <a:lnTo>
                  <a:pt x="81338" y="70592"/>
                </a:lnTo>
                <a:lnTo>
                  <a:pt x="84488" y="75750"/>
                </a:lnTo>
                <a:lnTo>
                  <a:pt x="87000" y="75750"/>
                </a:lnTo>
                <a:lnTo>
                  <a:pt x="87000" y="42625"/>
                </a:lnTo>
                <a:lnTo>
                  <a:pt x="84488" y="42625"/>
                </a:lnTo>
                <a:lnTo>
                  <a:pt x="82313" y="46217"/>
                </a:lnTo>
                <a:lnTo>
                  <a:pt x="75525" y="46217"/>
                </a:lnTo>
                <a:lnTo>
                  <a:pt x="75525" y="42625"/>
                </a:lnTo>
                <a:lnTo>
                  <a:pt x="73388" y="38875"/>
                </a:lnTo>
                <a:lnTo>
                  <a:pt x="37763" y="38875"/>
                </a:lnTo>
                <a:lnTo>
                  <a:pt x="36638" y="37000"/>
                </a:lnTo>
                <a:close/>
              </a:path>
              <a:path extrusionOk="0" fill="none" h="120000" w="120000">
                <a:moveTo>
                  <a:pt x="33000" y="37000"/>
                </a:moveTo>
                <a:lnTo>
                  <a:pt x="36638" y="37000"/>
                </a:lnTo>
                <a:lnTo>
                  <a:pt x="37763" y="38875"/>
                </a:lnTo>
                <a:lnTo>
                  <a:pt x="73388" y="38875"/>
                </a:lnTo>
                <a:lnTo>
                  <a:pt x="75525" y="42625"/>
                </a:lnTo>
                <a:lnTo>
                  <a:pt x="75525" y="46217"/>
                </a:lnTo>
                <a:lnTo>
                  <a:pt x="82313" y="46217"/>
                </a:lnTo>
                <a:lnTo>
                  <a:pt x="84488" y="42625"/>
                </a:lnTo>
                <a:lnTo>
                  <a:pt x="87000" y="42625"/>
                </a:lnTo>
                <a:lnTo>
                  <a:pt x="87000" y="75750"/>
                </a:lnTo>
                <a:lnTo>
                  <a:pt x="84488" y="75750"/>
                </a:lnTo>
                <a:lnTo>
                  <a:pt x="81338" y="70592"/>
                </a:lnTo>
                <a:lnTo>
                  <a:pt x="75525" y="70592"/>
                </a:lnTo>
                <a:lnTo>
                  <a:pt x="75525" y="79967"/>
                </a:lnTo>
                <a:lnTo>
                  <a:pt x="38813" y="79967"/>
                </a:lnTo>
                <a:lnTo>
                  <a:pt x="38813" y="52779"/>
                </a:lnTo>
                <a:lnTo>
                  <a:pt x="37763" y="52779"/>
                </a:lnTo>
                <a:lnTo>
                  <a:pt x="36638" y="54813"/>
                </a:lnTo>
                <a:lnTo>
                  <a:pt x="33000" y="54813"/>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5" name="Google Shape;175;p15"/>
          <p:cNvSpPr/>
          <p:nvPr/>
        </p:nvSpPr>
        <p:spPr>
          <a:xfrm>
            <a:off x="9076766" y="6196854"/>
            <a:ext cx="381000" cy="228600"/>
          </a:xfrm>
          <a:custGeom>
            <a:rect b="b" l="l" r="r" t="t"/>
            <a:pathLst>
              <a:path extrusionOk="0" h="120000" w="120000">
                <a:moveTo>
                  <a:pt x="0" y="0"/>
                </a:moveTo>
                <a:lnTo>
                  <a:pt x="120000" y="0"/>
                </a:lnTo>
                <a:lnTo>
                  <a:pt x="120000" y="120000"/>
                </a:lnTo>
                <a:lnTo>
                  <a:pt x="0" y="120000"/>
                </a:lnTo>
                <a:close/>
                <a:moveTo>
                  <a:pt x="33000" y="37000"/>
                </a:moveTo>
                <a:lnTo>
                  <a:pt x="33000" y="54813"/>
                </a:lnTo>
                <a:lnTo>
                  <a:pt x="36638" y="54813"/>
                </a:lnTo>
                <a:lnTo>
                  <a:pt x="37763" y="52779"/>
                </a:lnTo>
                <a:lnTo>
                  <a:pt x="38813" y="52779"/>
                </a:lnTo>
                <a:lnTo>
                  <a:pt x="38813" y="79967"/>
                </a:lnTo>
                <a:lnTo>
                  <a:pt x="75525" y="79967"/>
                </a:lnTo>
                <a:lnTo>
                  <a:pt x="75525" y="70592"/>
                </a:lnTo>
                <a:lnTo>
                  <a:pt x="81338" y="70592"/>
                </a:lnTo>
                <a:lnTo>
                  <a:pt x="84488" y="75750"/>
                </a:lnTo>
                <a:lnTo>
                  <a:pt x="87000" y="75750"/>
                </a:lnTo>
                <a:lnTo>
                  <a:pt x="87000" y="42625"/>
                </a:lnTo>
                <a:lnTo>
                  <a:pt x="84488" y="42625"/>
                </a:lnTo>
                <a:lnTo>
                  <a:pt x="82313" y="46217"/>
                </a:lnTo>
                <a:lnTo>
                  <a:pt x="75525" y="46217"/>
                </a:lnTo>
                <a:lnTo>
                  <a:pt x="75525" y="42625"/>
                </a:lnTo>
                <a:lnTo>
                  <a:pt x="73388" y="38875"/>
                </a:lnTo>
                <a:lnTo>
                  <a:pt x="37763" y="38875"/>
                </a:lnTo>
                <a:lnTo>
                  <a:pt x="36638" y="37000"/>
                </a:lnTo>
                <a:close/>
              </a:path>
              <a:path extrusionOk="0" fill="darken" h="120000" w="120000">
                <a:moveTo>
                  <a:pt x="33000" y="37000"/>
                </a:moveTo>
                <a:lnTo>
                  <a:pt x="33000" y="54813"/>
                </a:lnTo>
                <a:lnTo>
                  <a:pt x="36638" y="54813"/>
                </a:lnTo>
                <a:lnTo>
                  <a:pt x="37763" y="52779"/>
                </a:lnTo>
                <a:lnTo>
                  <a:pt x="38813" y="52779"/>
                </a:lnTo>
                <a:lnTo>
                  <a:pt x="38813" y="79967"/>
                </a:lnTo>
                <a:lnTo>
                  <a:pt x="75525" y="79967"/>
                </a:lnTo>
                <a:lnTo>
                  <a:pt x="75525" y="70592"/>
                </a:lnTo>
                <a:lnTo>
                  <a:pt x="81338" y="70592"/>
                </a:lnTo>
                <a:lnTo>
                  <a:pt x="84488" y="75750"/>
                </a:lnTo>
                <a:lnTo>
                  <a:pt x="87000" y="75750"/>
                </a:lnTo>
                <a:lnTo>
                  <a:pt x="87000" y="42625"/>
                </a:lnTo>
                <a:lnTo>
                  <a:pt x="84488" y="42625"/>
                </a:lnTo>
                <a:lnTo>
                  <a:pt x="82313" y="46217"/>
                </a:lnTo>
                <a:lnTo>
                  <a:pt x="75525" y="46217"/>
                </a:lnTo>
                <a:lnTo>
                  <a:pt x="75525" y="42625"/>
                </a:lnTo>
                <a:lnTo>
                  <a:pt x="73388" y="38875"/>
                </a:lnTo>
                <a:lnTo>
                  <a:pt x="37763" y="38875"/>
                </a:lnTo>
                <a:lnTo>
                  <a:pt x="36638" y="37000"/>
                </a:lnTo>
                <a:close/>
              </a:path>
              <a:path extrusionOk="0" fill="none" h="120000" w="120000">
                <a:moveTo>
                  <a:pt x="33000" y="37000"/>
                </a:moveTo>
                <a:lnTo>
                  <a:pt x="36638" y="37000"/>
                </a:lnTo>
                <a:lnTo>
                  <a:pt x="37763" y="38875"/>
                </a:lnTo>
                <a:lnTo>
                  <a:pt x="73388" y="38875"/>
                </a:lnTo>
                <a:lnTo>
                  <a:pt x="75525" y="42625"/>
                </a:lnTo>
                <a:lnTo>
                  <a:pt x="75525" y="46217"/>
                </a:lnTo>
                <a:lnTo>
                  <a:pt x="82313" y="46217"/>
                </a:lnTo>
                <a:lnTo>
                  <a:pt x="84488" y="42625"/>
                </a:lnTo>
                <a:lnTo>
                  <a:pt x="87000" y="42625"/>
                </a:lnTo>
                <a:lnTo>
                  <a:pt x="87000" y="75750"/>
                </a:lnTo>
                <a:lnTo>
                  <a:pt x="84488" y="75750"/>
                </a:lnTo>
                <a:lnTo>
                  <a:pt x="81338" y="70592"/>
                </a:lnTo>
                <a:lnTo>
                  <a:pt x="75525" y="70592"/>
                </a:lnTo>
                <a:lnTo>
                  <a:pt x="75525" y="79967"/>
                </a:lnTo>
                <a:lnTo>
                  <a:pt x="38813" y="79967"/>
                </a:lnTo>
                <a:lnTo>
                  <a:pt x="38813" y="52779"/>
                </a:lnTo>
                <a:lnTo>
                  <a:pt x="37763" y="52779"/>
                </a:lnTo>
                <a:lnTo>
                  <a:pt x="36638" y="54813"/>
                </a:lnTo>
                <a:lnTo>
                  <a:pt x="33000" y="54813"/>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6" name="Google Shape;176;p15"/>
          <p:cNvSpPr/>
          <p:nvPr/>
        </p:nvSpPr>
        <p:spPr>
          <a:xfrm>
            <a:off x="7933771" y="4549588"/>
            <a:ext cx="381000" cy="228600"/>
          </a:xfrm>
          <a:custGeom>
            <a:rect b="b" l="l" r="r" t="t"/>
            <a:pathLst>
              <a:path extrusionOk="0" h="120000" w="120000">
                <a:moveTo>
                  <a:pt x="0" y="0"/>
                </a:moveTo>
                <a:lnTo>
                  <a:pt x="120000" y="0"/>
                </a:lnTo>
                <a:lnTo>
                  <a:pt x="120000" y="120000"/>
                </a:lnTo>
                <a:lnTo>
                  <a:pt x="0" y="120000"/>
                </a:lnTo>
                <a:close/>
                <a:moveTo>
                  <a:pt x="33000" y="37000"/>
                </a:moveTo>
                <a:lnTo>
                  <a:pt x="33000" y="54813"/>
                </a:lnTo>
                <a:lnTo>
                  <a:pt x="36638" y="54813"/>
                </a:lnTo>
                <a:lnTo>
                  <a:pt x="37763" y="52779"/>
                </a:lnTo>
                <a:lnTo>
                  <a:pt x="38813" y="52779"/>
                </a:lnTo>
                <a:lnTo>
                  <a:pt x="38813" y="79967"/>
                </a:lnTo>
                <a:lnTo>
                  <a:pt x="75525" y="79967"/>
                </a:lnTo>
                <a:lnTo>
                  <a:pt x="75525" y="70592"/>
                </a:lnTo>
                <a:lnTo>
                  <a:pt x="81338" y="70592"/>
                </a:lnTo>
                <a:lnTo>
                  <a:pt x="84488" y="75750"/>
                </a:lnTo>
                <a:lnTo>
                  <a:pt x="87000" y="75750"/>
                </a:lnTo>
                <a:lnTo>
                  <a:pt x="87000" y="42625"/>
                </a:lnTo>
                <a:lnTo>
                  <a:pt x="84488" y="42625"/>
                </a:lnTo>
                <a:lnTo>
                  <a:pt x="82313" y="46217"/>
                </a:lnTo>
                <a:lnTo>
                  <a:pt x="75525" y="46217"/>
                </a:lnTo>
                <a:lnTo>
                  <a:pt x="75525" y="42625"/>
                </a:lnTo>
                <a:lnTo>
                  <a:pt x="73388" y="38875"/>
                </a:lnTo>
                <a:lnTo>
                  <a:pt x="37763" y="38875"/>
                </a:lnTo>
                <a:lnTo>
                  <a:pt x="36638" y="37000"/>
                </a:lnTo>
                <a:close/>
              </a:path>
              <a:path extrusionOk="0" fill="darken" h="120000" w="120000">
                <a:moveTo>
                  <a:pt x="33000" y="37000"/>
                </a:moveTo>
                <a:lnTo>
                  <a:pt x="33000" y="54813"/>
                </a:lnTo>
                <a:lnTo>
                  <a:pt x="36638" y="54813"/>
                </a:lnTo>
                <a:lnTo>
                  <a:pt x="37763" y="52779"/>
                </a:lnTo>
                <a:lnTo>
                  <a:pt x="38813" y="52779"/>
                </a:lnTo>
                <a:lnTo>
                  <a:pt x="38813" y="79967"/>
                </a:lnTo>
                <a:lnTo>
                  <a:pt x="75525" y="79967"/>
                </a:lnTo>
                <a:lnTo>
                  <a:pt x="75525" y="70592"/>
                </a:lnTo>
                <a:lnTo>
                  <a:pt x="81338" y="70592"/>
                </a:lnTo>
                <a:lnTo>
                  <a:pt x="84488" y="75750"/>
                </a:lnTo>
                <a:lnTo>
                  <a:pt x="87000" y="75750"/>
                </a:lnTo>
                <a:lnTo>
                  <a:pt x="87000" y="42625"/>
                </a:lnTo>
                <a:lnTo>
                  <a:pt x="84488" y="42625"/>
                </a:lnTo>
                <a:lnTo>
                  <a:pt x="82313" y="46217"/>
                </a:lnTo>
                <a:lnTo>
                  <a:pt x="75525" y="46217"/>
                </a:lnTo>
                <a:lnTo>
                  <a:pt x="75525" y="42625"/>
                </a:lnTo>
                <a:lnTo>
                  <a:pt x="73388" y="38875"/>
                </a:lnTo>
                <a:lnTo>
                  <a:pt x="37763" y="38875"/>
                </a:lnTo>
                <a:lnTo>
                  <a:pt x="36638" y="37000"/>
                </a:lnTo>
                <a:close/>
              </a:path>
              <a:path extrusionOk="0" fill="none" h="120000" w="120000">
                <a:moveTo>
                  <a:pt x="33000" y="37000"/>
                </a:moveTo>
                <a:lnTo>
                  <a:pt x="36638" y="37000"/>
                </a:lnTo>
                <a:lnTo>
                  <a:pt x="37763" y="38875"/>
                </a:lnTo>
                <a:lnTo>
                  <a:pt x="73388" y="38875"/>
                </a:lnTo>
                <a:lnTo>
                  <a:pt x="75525" y="42625"/>
                </a:lnTo>
                <a:lnTo>
                  <a:pt x="75525" y="46217"/>
                </a:lnTo>
                <a:lnTo>
                  <a:pt x="82313" y="46217"/>
                </a:lnTo>
                <a:lnTo>
                  <a:pt x="84488" y="42625"/>
                </a:lnTo>
                <a:lnTo>
                  <a:pt x="87000" y="42625"/>
                </a:lnTo>
                <a:lnTo>
                  <a:pt x="87000" y="75750"/>
                </a:lnTo>
                <a:lnTo>
                  <a:pt x="84488" y="75750"/>
                </a:lnTo>
                <a:lnTo>
                  <a:pt x="81338" y="70592"/>
                </a:lnTo>
                <a:lnTo>
                  <a:pt x="75525" y="70592"/>
                </a:lnTo>
                <a:lnTo>
                  <a:pt x="75525" y="79967"/>
                </a:lnTo>
                <a:lnTo>
                  <a:pt x="38813" y="79967"/>
                </a:lnTo>
                <a:lnTo>
                  <a:pt x="38813" y="52779"/>
                </a:lnTo>
                <a:lnTo>
                  <a:pt x="37763" y="52779"/>
                </a:lnTo>
                <a:lnTo>
                  <a:pt x="36638" y="54813"/>
                </a:lnTo>
                <a:lnTo>
                  <a:pt x="33000" y="54813"/>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177" name="Google Shape;17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5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animEffect filter="fade" transition="in">
                                      <p:cBhvr>
                                        <p:cTn dur="500"/>
                                        <p:tgtEl>
                                          <p:spTgt spid="1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animEffect filter="fade" transition="in">
                                      <p:cBhvr>
                                        <p:cTn dur="500"/>
                                        <p:tgtEl>
                                          <p:spTgt spid="1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animEffect filter="fade" transition="in">
                                      <p:cBhvr>
                                        <p:cTn dur="500"/>
                                        <p:tgtEl>
                                          <p:spTgt spid="1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animEffect filter="fade" transition="in">
                                      <p:cBhvr>
                                        <p:cTn dur="500"/>
                                        <p:tgtEl>
                                          <p:spTgt spid="1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animEffect filter="fade" transition="in">
                                      <p:cBhvr>
                                        <p:cTn dur="500"/>
                                        <p:tgtEl>
                                          <p:spTgt spid="1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6"/>
          <p:cNvSpPr txBox="1"/>
          <p:nvPr>
            <p:ph type="title"/>
          </p:nvPr>
        </p:nvSpPr>
        <p:spPr>
          <a:xfrm>
            <a:off x="1169894" y="0"/>
            <a:ext cx="91440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Foreign Exchange (Forex) Market</a:t>
            </a:r>
            <a:endParaRPr/>
          </a:p>
        </p:txBody>
      </p:sp>
      <p:sp>
        <p:nvSpPr>
          <p:cNvPr id="184" name="Google Shape;184;p16"/>
          <p:cNvSpPr txBox="1"/>
          <p:nvPr>
            <p:ph idx="1" type="body"/>
          </p:nvPr>
        </p:nvSpPr>
        <p:spPr>
          <a:xfrm>
            <a:off x="1528483" y="2138082"/>
            <a:ext cx="7772400" cy="40386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lang="en-US" sz="3600"/>
              <a:t>What is the Forex?  </a:t>
            </a:r>
            <a:endParaRPr/>
          </a:p>
          <a:p>
            <a:pPr indent="-228600" lvl="1" marL="685800" rtl="0" algn="l">
              <a:lnSpc>
                <a:spcPct val="90000"/>
              </a:lnSpc>
              <a:spcBef>
                <a:spcPts val="3000"/>
              </a:spcBef>
              <a:spcAft>
                <a:spcPts val="0"/>
              </a:spcAft>
              <a:buClr>
                <a:schemeClr val="dk1"/>
              </a:buClr>
              <a:buSzPts val="3200"/>
              <a:buChar char="•"/>
            </a:pPr>
            <a:r>
              <a:rPr lang="en-US" sz="3200"/>
              <a:t>Collection of all entities whose purpose is the exchange of national currencies</a:t>
            </a:r>
            <a:endParaRPr/>
          </a:p>
          <a:p>
            <a:pPr indent="-228600" lvl="1" marL="685800" rtl="0" algn="l">
              <a:lnSpc>
                <a:spcPct val="90000"/>
              </a:lnSpc>
              <a:spcBef>
                <a:spcPts val="3000"/>
              </a:spcBef>
              <a:spcAft>
                <a:spcPts val="0"/>
              </a:spcAft>
              <a:buClr>
                <a:schemeClr val="dk1"/>
              </a:buClr>
              <a:buSzPts val="3200"/>
              <a:buChar char="•"/>
            </a:pPr>
            <a:r>
              <a:rPr lang="en-US" sz="3200"/>
              <a:t>Typically conducted through the “international desk” of major banks</a:t>
            </a:r>
            <a:endParaRPr/>
          </a:p>
        </p:txBody>
      </p:sp>
      <p:sp>
        <p:nvSpPr>
          <p:cNvPr id="185" name="Google Shape;18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animEffect filter="fade" transition="in">
                                      <p:cBhvr>
                                        <p:cTn dur="500"/>
                                        <p:tgtEl>
                                          <p:spTgt spid="1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animEffect filter="fade" transition="in">
                                      <p:cBhvr>
                                        <p:cTn dur="500"/>
                                        <p:tgtEl>
                                          <p:spTgt spid="1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animEffect filter="fade" transition="in">
                                      <p:cBhvr>
                                        <p:cTn dur="500"/>
                                        <p:tgtEl>
                                          <p:spTgt spid="18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7"/>
          <p:cNvSpPr txBox="1"/>
          <p:nvPr>
            <p:ph type="title"/>
          </p:nvPr>
        </p:nvSpPr>
        <p:spPr>
          <a:xfrm>
            <a:off x="1196323" y="0"/>
            <a:ext cx="8364537"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Who participates in Forex markets?</a:t>
            </a:r>
            <a:endParaRPr/>
          </a:p>
        </p:txBody>
      </p:sp>
      <p:sp>
        <p:nvSpPr>
          <p:cNvPr id="192" name="Google Shape;192;p17"/>
          <p:cNvSpPr txBox="1"/>
          <p:nvPr>
            <p:ph idx="1" type="body"/>
          </p:nvPr>
        </p:nvSpPr>
        <p:spPr>
          <a:xfrm>
            <a:off x="1317812" y="1662112"/>
            <a:ext cx="8664388" cy="489108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sz="2800"/>
              <a:t>Commercial Customers</a:t>
            </a:r>
            <a:endParaRPr sz="2800"/>
          </a:p>
          <a:p>
            <a:pPr indent="-228600" lvl="1" marL="685800" rtl="0" algn="l">
              <a:lnSpc>
                <a:spcPct val="90000"/>
              </a:lnSpc>
              <a:spcBef>
                <a:spcPts val="500"/>
              </a:spcBef>
              <a:spcAft>
                <a:spcPts val="0"/>
              </a:spcAft>
              <a:buClr>
                <a:schemeClr val="dk1"/>
              </a:buClr>
              <a:buSzPts val="2800"/>
              <a:buChar char="•"/>
            </a:pPr>
            <a:r>
              <a:rPr i="1" lang="en-US"/>
              <a:t>transactions related to trade &amp; investment </a:t>
            </a:r>
            <a:endParaRPr/>
          </a:p>
          <a:p>
            <a:pPr indent="-228600" lvl="0" marL="228600" rtl="0" algn="l">
              <a:lnSpc>
                <a:spcPct val="90000"/>
              </a:lnSpc>
              <a:spcBef>
                <a:spcPts val="2400"/>
              </a:spcBef>
              <a:spcAft>
                <a:spcPts val="0"/>
              </a:spcAft>
              <a:buClr>
                <a:schemeClr val="dk1"/>
              </a:buClr>
              <a:buSzPts val="2800"/>
              <a:buChar char="•"/>
            </a:pPr>
            <a:r>
              <a:rPr lang="en-US" sz="2800"/>
              <a:t>Governments</a:t>
            </a:r>
            <a:endParaRPr/>
          </a:p>
          <a:p>
            <a:pPr indent="-228600" lvl="1" marL="685800" rtl="0" algn="l">
              <a:lnSpc>
                <a:spcPct val="90000"/>
              </a:lnSpc>
              <a:spcBef>
                <a:spcPts val="500"/>
              </a:spcBef>
              <a:spcAft>
                <a:spcPts val="0"/>
              </a:spcAft>
              <a:buClr>
                <a:schemeClr val="dk1"/>
              </a:buClr>
              <a:buSzPts val="2800"/>
              <a:buChar char="•"/>
            </a:pPr>
            <a:r>
              <a:rPr i="1" lang="en-US"/>
              <a:t>stabilize currency (theirs or others/small &amp; large)</a:t>
            </a:r>
            <a:endParaRPr/>
          </a:p>
          <a:p>
            <a:pPr indent="-228600" lvl="1" marL="685800" rtl="0" algn="l">
              <a:lnSpc>
                <a:spcPct val="90000"/>
              </a:lnSpc>
              <a:spcBef>
                <a:spcPts val="500"/>
              </a:spcBef>
              <a:spcAft>
                <a:spcPts val="0"/>
              </a:spcAft>
              <a:buClr>
                <a:schemeClr val="dk1"/>
              </a:buClr>
              <a:buSzPts val="2800"/>
              <a:buChar char="•"/>
            </a:pPr>
            <a:r>
              <a:rPr i="1" lang="en-US"/>
              <a:t>influence exchange rates</a:t>
            </a:r>
            <a:endParaRPr/>
          </a:p>
          <a:p>
            <a:pPr indent="-228600" lvl="0" marL="228600" rtl="0" algn="l">
              <a:lnSpc>
                <a:spcPct val="90000"/>
              </a:lnSpc>
              <a:spcBef>
                <a:spcPts val="2400"/>
              </a:spcBef>
              <a:spcAft>
                <a:spcPts val="0"/>
              </a:spcAft>
              <a:buClr>
                <a:schemeClr val="dk1"/>
              </a:buClr>
              <a:buSzPts val="2800"/>
              <a:buChar char="•"/>
            </a:pPr>
            <a:r>
              <a:rPr lang="en-US" sz="2800"/>
              <a:t>Speculators</a:t>
            </a:r>
            <a:endParaRPr/>
          </a:p>
          <a:p>
            <a:pPr indent="-228600" lvl="1" marL="685800" rtl="0" algn="l">
              <a:lnSpc>
                <a:spcPct val="90000"/>
              </a:lnSpc>
              <a:spcBef>
                <a:spcPts val="500"/>
              </a:spcBef>
              <a:spcAft>
                <a:spcPts val="0"/>
              </a:spcAft>
              <a:buClr>
                <a:schemeClr val="dk1"/>
              </a:buClr>
              <a:buSzPts val="2800"/>
              <a:buChar char="•"/>
            </a:pPr>
            <a:r>
              <a:rPr i="1" lang="en-US"/>
              <a:t>‘bet’ on currency movements</a:t>
            </a:r>
            <a:endParaRPr/>
          </a:p>
          <a:p>
            <a:pPr indent="-228600" lvl="0" marL="228600" rtl="0" algn="l">
              <a:lnSpc>
                <a:spcPct val="90000"/>
              </a:lnSpc>
              <a:spcBef>
                <a:spcPts val="2400"/>
              </a:spcBef>
              <a:spcAft>
                <a:spcPts val="0"/>
              </a:spcAft>
              <a:buClr>
                <a:schemeClr val="dk1"/>
              </a:buClr>
              <a:buSzPts val="2800"/>
              <a:buChar char="•"/>
            </a:pPr>
            <a:r>
              <a:rPr lang="en-US" sz="2800"/>
              <a:t>Arbitrageurs</a:t>
            </a:r>
            <a:endParaRPr/>
          </a:p>
          <a:p>
            <a:pPr indent="-228600" lvl="1" marL="685800" rtl="0" algn="l">
              <a:lnSpc>
                <a:spcPct val="90000"/>
              </a:lnSpc>
              <a:spcBef>
                <a:spcPts val="500"/>
              </a:spcBef>
              <a:spcAft>
                <a:spcPts val="0"/>
              </a:spcAft>
              <a:buClr>
                <a:schemeClr val="dk1"/>
              </a:buClr>
              <a:buSzPts val="2800"/>
              <a:buChar char="•"/>
            </a:pPr>
            <a:r>
              <a:rPr i="1" lang="en-US"/>
              <a:t>exploit price differences in markets</a:t>
            </a:r>
            <a:endParaRPr/>
          </a:p>
        </p:txBody>
      </p:sp>
      <p:sp>
        <p:nvSpPr>
          <p:cNvPr id="193" name="Google Shape;19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Effect filter="fade" transition="in">
                                      <p:cBhvr>
                                        <p:cTn dur="500"/>
                                        <p:tgtEl>
                                          <p:spTgt spid="1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1" st="1"/>
                                            </p:txEl>
                                          </p:spTgt>
                                        </p:tgtEl>
                                        <p:attrNameLst>
                                          <p:attrName>style.visibility</p:attrName>
                                        </p:attrNameLst>
                                      </p:cBhvr>
                                      <p:to>
                                        <p:strVal val="visible"/>
                                      </p:to>
                                    </p:set>
                                    <p:animEffect filter="fade" transition="in">
                                      <p:cBhvr>
                                        <p:cTn dur="500"/>
                                        <p:tgtEl>
                                          <p:spTgt spid="1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2" st="2"/>
                                            </p:txEl>
                                          </p:spTgt>
                                        </p:tgtEl>
                                        <p:attrNameLst>
                                          <p:attrName>style.visibility</p:attrName>
                                        </p:attrNameLst>
                                      </p:cBhvr>
                                      <p:to>
                                        <p:strVal val="visible"/>
                                      </p:to>
                                    </p:set>
                                    <p:animEffect filter="fade" transition="in">
                                      <p:cBhvr>
                                        <p:cTn dur="500"/>
                                        <p:tgtEl>
                                          <p:spTgt spid="1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3" st="3"/>
                                            </p:txEl>
                                          </p:spTgt>
                                        </p:tgtEl>
                                        <p:attrNameLst>
                                          <p:attrName>style.visibility</p:attrName>
                                        </p:attrNameLst>
                                      </p:cBhvr>
                                      <p:to>
                                        <p:strVal val="visible"/>
                                      </p:to>
                                    </p:set>
                                    <p:animEffect filter="fade" transition="in">
                                      <p:cBhvr>
                                        <p:cTn dur="500"/>
                                        <p:tgtEl>
                                          <p:spTgt spid="1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4" st="4"/>
                                            </p:txEl>
                                          </p:spTgt>
                                        </p:tgtEl>
                                        <p:attrNameLst>
                                          <p:attrName>style.visibility</p:attrName>
                                        </p:attrNameLst>
                                      </p:cBhvr>
                                      <p:to>
                                        <p:strVal val="visible"/>
                                      </p:to>
                                    </p:set>
                                    <p:animEffect filter="fade" transition="in">
                                      <p:cBhvr>
                                        <p:cTn dur="500"/>
                                        <p:tgtEl>
                                          <p:spTgt spid="1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5" st="5"/>
                                            </p:txEl>
                                          </p:spTgt>
                                        </p:tgtEl>
                                        <p:attrNameLst>
                                          <p:attrName>style.visibility</p:attrName>
                                        </p:attrNameLst>
                                      </p:cBhvr>
                                      <p:to>
                                        <p:strVal val="visible"/>
                                      </p:to>
                                    </p:set>
                                    <p:animEffect filter="fade" transition="in">
                                      <p:cBhvr>
                                        <p:cTn dur="500"/>
                                        <p:tgtEl>
                                          <p:spTgt spid="1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6" st="6"/>
                                            </p:txEl>
                                          </p:spTgt>
                                        </p:tgtEl>
                                        <p:attrNameLst>
                                          <p:attrName>style.visibility</p:attrName>
                                        </p:attrNameLst>
                                      </p:cBhvr>
                                      <p:to>
                                        <p:strVal val="visible"/>
                                      </p:to>
                                    </p:set>
                                    <p:animEffect filter="fade" transition="in">
                                      <p:cBhvr>
                                        <p:cTn dur="500"/>
                                        <p:tgtEl>
                                          <p:spTgt spid="1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7" st="7"/>
                                            </p:txEl>
                                          </p:spTgt>
                                        </p:tgtEl>
                                        <p:attrNameLst>
                                          <p:attrName>style.visibility</p:attrName>
                                        </p:attrNameLst>
                                      </p:cBhvr>
                                      <p:to>
                                        <p:strVal val="visible"/>
                                      </p:to>
                                    </p:set>
                                    <p:animEffect filter="fade" transition="in">
                                      <p:cBhvr>
                                        <p:cTn dur="500"/>
                                        <p:tgtEl>
                                          <p:spTgt spid="19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8" st="8"/>
                                            </p:txEl>
                                          </p:spTgt>
                                        </p:tgtEl>
                                        <p:attrNameLst>
                                          <p:attrName>style.visibility</p:attrName>
                                        </p:attrNameLst>
                                      </p:cBhvr>
                                      <p:to>
                                        <p:strVal val="visible"/>
                                      </p:to>
                                    </p:set>
                                    <p:animEffect filter="fade" transition="in">
                                      <p:cBhvr>
                                        <p:cTn dur="500"/>
                                        <p:tgtEl>
                                          <p:spTgt spid="19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8"/>
          <p:cNvSpPr txBox="1"/>
          <p:nvPr>
            <p:ph type="title"/>
          </p:nvPr>
        </p:nvSpPr>
        <p:spPr>
          <a:xfrm>
            <a:off x="1169894" y="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Forex growth</a:t>
            </a:r>
            <a:endParaRPr/>
          </a:p>
        </p:txBody>
      </p:sp>
      <p:sp>
        <p:nvSpPr>
          <p:cNvPr id="200" name="Google Shape;200;p18"/>
          <p:cNvSpPr txBox="1"/>
          <p:nvPr>
            <p:ph idx="1" type="body"/>
          </p:nvPr>
        </p:nvSpPr>
        <p:spPr>
          <a:xfrm>
            <a:off x="950930" y="1784775"/>
            <a:ext cx="8421673" cy="457157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200"/>
              <a:buFont typeface="Calibri"/>
              <a:buNone/>
            </a:pPr>
            <a:r>
              <a:rPr lang="en-US"/>
              <a:t>Huge increase in level of </a:t>
            </a:r>
            <a:r>
              <a:rPr b="1" i="1" lang="en-US" u="sng"/>
              <a:t>DAILY</a:t>
            </a:r>
            <a:r>
              <a:rPr lang="en-US"/>
              <a:t> activity </a:t>
            </a:r>
            <a:endParaRPr/>
          </a:p>
          <a:p>
            <a:pPr indent="-228600" lvl="0" marL="228600" rtl="0" algn="l">
              <a:lnSpc>
                <a:spcPct val="90000"/>
              </a:lnSpc>
              <a:spcBef>
                <a:spcPts val="1000"/>
              </a:spcBef>
              <a:spcAft>
                <a:spcPts val="0"/>
              </a:spcAft>
              <a:buClr>
                <a:schemeClr val="dk1"/>
              </a:buClr>
              <a:buSzPts val="3200"/>
              <a:buFont typeface="Calibri"/>
              <a:buNone/>
            </a:pPr>
            <a:r>
              <a:rPr lang="en-US"/>
              <a:t>1986 -2014 ($200 billion -  6 Trillion), falling since </a:t>
            </a:r>
            <a:endParaRPr/>
          </a:p>
          <a:p>
            <a:pPr indent="-228600" lvl="0" marL="228600" rtl="0" algn="ctr">
              <a:lnSpc>
                <a:spcPct val="90000"/>
              </a:lnSpc>
              <a:spcBef>
                <a:spcPts val="1000"/>
              </a:spcBef>
              <a:spcAft>
                <a:spcPts val="0"/>
              </a:spcAft>
              <a:buClr>
                <a:schemeClr val="dk1"/>
              </a:buClr>
              <a:buSzPts val="100"/>
              <a:buFont typeface="Calibri"/>
              <a:buNone/>
            </a:pPr>
            <a:r>
              <a:t/>
            </a:r>
            <a:endParaRPr sz="100"/>
          </a:p>
          <a:p>
            <a:pPr indent="-228600" lvl="1" marL="685800" rtl="0" algn="l">
              <a:lnSpc>
                <a:spcPct val="90000"/>
              </a:lnSpc>
              <a:spcBef>
                <a:spcPts val="500"/>
              </a:spcBef>
              <a:spcAft>
                <a:spcPts val="0"/>
              </a:spcAft>
              <a:buClr>
                <a:schemeClr val="dk1"/>
              </a:buClr>
              <a:buSzPts val="3200"/>
              <a:buChar char="•"/>
            </a:pPr>
            <a:r>
              <a:rPr lang="en-US" sz="3200"/>
              <a:t>Increased international commerce</a:t>
            </a:r>
            <a:endParaRPr/>
          </a:p>
          <a:p>
            <a:pPr indent="-228600" lvl="1" marL="685800" rtl="0" algn="l">
              <a:lnSpc>
                <a:spcPct val="90000"/>
              </a:lnSpc>
              <a:spcBef>
                <a:spcPts val="500"/>
              </a:spcBef>
              <a:spcAft>
                <a:spcPts val="0"/>
              </a:spcAft>
              <a:buClr>
                <a:schemeClr val="dk1"/>
              </a:buClr>
              <a:buSzPts val="3200"/>
              <a:buChar char="•"/>
            </a:pPr>
            <a:r>
              <a:rPr lang="en-US" sz="3200"/>
              <a:t>Deregulation</a:t>
            </a:r>
            <a:endParaRPr/>
          </a:p>
          <a:p>
            <a:pPr indent="-228600" lvl="1" marL="685800" rtl="0" algn="l">
              <a:lnSpc>
                <a:spcPct val="90000"/>
              </a:lnSpc>
              <a:spcBef>
                <a:spcPts val="500"/>
              </a:spcBef>
              <a:spcAft>
                <a:spcPts val="0"/>
              </a:spcAft>
              <a:buClr>
                <a:schemeClr val="dk1"/>
              </a:buClr>
              <a:buSzPts val="3200"/>
              <a:buChar char="•"/>
            </a:pPr>
            <a:r>
              <a:rPr lang="en-US" sz="3200"/>
              <a:t>Technology – ease and cost</a:t>
            </a:r>
            <a:endParaRPr/>
          </a:p>
          <a:p>
            <a:pPr indent="-228600" lvl="1" marL="685800" rtl="0" algn="l">
              <a:lnSpc>
                <a:spcPct val="90000"/>
              </a:lnSpc>
              <a:spcBef>
                <a:spcPts val="500"/>
              </a:spcBef>
              <a:spcAft>
                <a:spcPts val="0"/>
              </a:spcAft>
              <a:buClr>
                <a:schemeClr val="dk1"/>
              </a:buClr>
              <a:buSzPts val="3200"/>
              <a:buChar char="•"/>
            </a:pPr>
            <a:r>
              <a:rPr lang="en-US" sz="3200"/>
              <a:t>Increased volatility in markets</a:t>
            </a:r>
            <a:br>
              <a:rPr lang="en-US" sz="3200"/>
            </a:br>
            <a:r>
              <a:rPr lang="en-US" sz="3200"/>
              <a:t>(reduce risk/gain opportunity)</a:t>
            </a:r>
            <a:endParaRPr/>
          </a:p>
          <a:p>
            <a:pPr indent="-228600" lvl="1" marL="685800" rtl="0" algn="ctr">
              <a:lnSpc>
                <a:spcPct val="90000"/>
              </a:lnSpc>
              <a:spcBef>
                <a:spcPts val="500"/>
              </a:spcBef>
              <a:spcAft>
                <a:spcPts val="0"/>
              </a:spcAft>
              <a:buClr>
                <a:schemeClr val="dk1"/>
              </a:buClr>
              <a:buSzPts val="100"/>
              <a:buNone/>
            </a:pPr>
            <a:r>
              <a:t/>
            </a:r>
            <a:endParaRPr i="1" sz="100"/>
          </a:p>
          <a:p>
            <a:pPr indent="-228600" lvl="1" marL="685800" rtl="0" algn="ctr">
              <a:lnSpc>
                <a:spcPct val="90000"/>
              </a:lnSpc>
              <a:spcBef>
                <a:spcPts val="500"/>
              </a:spcBef>
              <a:spcAft>
                <a:spcPts val="0"/>
              </a:spcAft>
              <a:buClr>
                <a:schemeClr val="dk1"/>
              </a:buClr>
              <a:buSzPts val="3200"/>
              <a:buNone/>
            </a:pPr>
            <a:r>
              <a:rPr i="1" lang="en-US" sz="3200"/>
              <a:t>Decline since 2014 – lower levels of trade/FDI</a:t>
            </a:r>
            <a:endParaRPr sz="3200"/>
          </a:p>
          <a:p>
            <a:pPr indent="-228600" lvl="0" marL="228600" rtl="0" algn="l">
              <a:lnSpc>
                <a:spcPct val="90000"/>
              </a:lnSpc>
              <a:spcBef>
                <a:spcPts val="1000"/>
              </a:spcBef>
              <a:spcAft>
                <a:spcPts val="0"/>
              </a:spcAft>
              <a:buClr>
                <a:schemeClr val="dk1"/>
              </a:buClr>
              <a:buSzPts val="3200"/>
              <a:buFont typeface="Calibri"/>
              <a:buNone/>
            </a:pPr>
            <a:r>
              <a:t/>
            </a:r>
            <a:endParaRPr/>
          </a:p>
          <a:p>
            <a:pPr indent="-228600" lvl="0" marL="228600" rtl="0" algn="ctr">
              <a:lnSpc>
                <a:spcPct val="90000"/>
              </a:lnSpc>
              <a:spcBef>
                <a:spcPts val="1000"/>
              </a:spcBef>
              <a:spcAft>
                <a:spcPts val="0"/>
              </a:spcAft>
              <a:buClr>
                <a:schemeClr val="dk1"/>
              </a:buClr>
              <a:buSzPts val="3200"/>
              <a:buNone/>
            </a:pPr>
            <a:r>
              <a:t/>
            </a:r>
            <a:endParaRPr i="1"/>
          </a:p>
          <a:p>
            <a:pPr indent="-228600" lvl="0" marL="228600" rtl="0" algn="ctr">
              <a:lnSpc>
                <a:spcPct val="90000"/>
              </a:lnSpc>
              <a:spcBef>
                <a:spcPts val="1000"/>
              </a:spcBef>
              <a:spcAft>
                <a:spcPts val="0"/>
              </a:spcAft>
              <a:buClr>
                <a:schemeClr val="dk1"/>
              </a:buClr>
              <a:buSzPts val="3200"/>
              <a:buNone/>
            </a:pPr>
            <a:r>
              <a:t/>
            </a:r>
            <a:endParaRPr i="1"/>
          </a:p>
          <a:p>
            <a:pPr indent="-228600" lvl="0" marL="228600" rtl="0" algn="ctr">
              <a:lnSpc>
                <a:spcPct val="90000"/>
              </a:lnSpc>
              <a:spcBef>
                <a:spcPts val="1000"/>
              </a:spcBef>
              <a:spcAft>
                <a:spcPts val="0"/>
              </a:spcAft>
              <a:buClr>
                <a:schemeClr val="dk1"/>
              </a:buClr>
              <a:buSzPts val="3200"/>
              <a:buNone/>
            </a:pPr>
            <a:r>
              <a:t/>
            </a:r>
            <a:endParaRPr i="1"/>
          </a:p>
          <a:p>
            <a:pPr indent="-228600" lvl="0" marL="228600" rtl="0" algn="ctr">
              <a:lnSpc>
                <a:spcPct val="90000"/>
              </a:lnSpc>
              <a:spcBef>
                <a:spcPts val="1000"/>
              </a:spcBef>
              <a:spcAft>
                <a:spcPts val="0"/>
              </a:spcAft>
              <a:buClr>
                <a:schemeClr val="dk1"/>
              </a:buClr>
              <a:buSzPts val="3200"/>
              <a:buNone/>
            </a:pPr>
            <a:r>
              <a:t/>
            </a:r>
            <a:endParaRPr i="1"/>
          </a:p>
          <a:p>
            <a:pPr indent="-228600" lvl="0" marL="228600" rtl="0" algn="ctr">
              <a:lnSpc>
                <a:spcPct val="90000"/>
              </a:lnSpc>
              <a:spcBef>
                <a:spcPts val="1000"/>
              </a:spcBef>
              <a:spcAft>
                <a:spcPts val="0"/>
              </a:spcAft>
              <a:buClr>
                <a:schemeClr val="dk1"/>
              </a:buClr>
              <a:buSzPts val="3200"/>
              <a:buNone/>
            </a:pPr>
            <a:r>
              <a:t/>
            </a:r>
            <a:endParaRPr i="1"/>
          </a:p>
          <a:p>
            <a:pPr indent="-228600" lvl="0" marL="228600" rtl="0" algn="ctr">
              <a:lnSpc>
                <a:spcPct val="90000"/>
              </a:lnSpc>
              <a:spcBef>
                <a:spcPts val="1000"/>
              </a:spcBef>
              <a:spcAft>
                <a:spcPts val="0"/>
              </a:spcAft>
              <a:buClr>
                <a:schemeClr val="dk1"/>
              </a:buClr>
              <a:buSzPts val="3200"/>
              <a:buFont typeface="Calibri"/>
              <a:buNone/>
            </a:pPr>
            <a:r>
              <a:t/>
            </a:r>
            <a:endParaRPr/>
          </a:p>
        </p:txBody>
      </p:sp>
      <p:sp>
        <p:nvSpPr>
          <p:cNvPr id="201" name="Google Shape;201;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2" name="Google Shape;202;p18">
            <a:hlinkClick action="ppaction://hlinkshowjump?jump=nextslide"/>
          </p:cNvPr>
          <p:cNvSpPr/>
          <p:nvPr/>
        </p:nvSpPr>
        <p:spPr>
          <a:xfrm>
            <a:off x="9646024" y="2513853"/>
            <a:ext cx="336176" cy="242047"/>
          </a:xfrm>
          <a:custGeom>
            <a:rect b="b" l="l" r="r" t="t"/>
            <a:pathLst>
              <a:path extrusionOk="0" h="120000" w="120000">
                <a:moveTo>
                  <a:pt x="0" y="0"/>
                </a:moveTo>
                <a:lnTo>
                  <a:pt x="120000" y="0"/>
                </a:lnTo>
                <a:lnTo>
                  <a:pt x="120000" y="120000"/>
                </a:lnTo>
                <a:lnTo>
                  <a:pt x="0" y="120000"/>
                </a:lnTo>
                <a:close/>
                <a:moveTo>
                  <a:pt x="92400" y="60000"/>
                </a:moveTo>
                <a:lnTo>
                  <a:pt x="27600" y="15000"/>
                </a:lnTo>
                <a:lnTo>
                  <a:pt x="27600" y="105000"/>
                </a:lnTo>
                <a:close/>
              </a:path>
              <a:path extrusionOk="0" fill="darken" h="120000" w="120000">
                <a:moveTo>
                  <a:pt x="92400" y="60000"/>
                </a:moveTo>
                <a:lnTo>
                  <a:pt x="27600" y="15000"/>
                </a:lnTo>
                <a:lnTo>
                  <a:pt x="27600" y="105000"/>
                </a:lnTo>
                <a:close/>
              </a:path>
              <a:path extrusionOk="0" fill="none" h="120000" w="120000">
                <a:moveTo>
                  <a:pt x="92400" y="60000"/>
                </a:moveTo>
                <a:lnTo>
                  <a:pt x="27600" y="105000"/>
                </a:lnTo>
                <a:lnTo>
                  <a:pt x="27600" y="15000"/>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3" name="Google Shape;203;p18">
            <a:hlinkClick action="ppaction://hlinksldjump" r:id="rId3"/>
          </p:cNvPr>
          <p:cNvSpPr/>
          <p:nvPr/>
        </p:nvSpPr>
        <p:spPr>
          <a:xfrm>
            <a:off x="9211235" y="6239434"/>
            <a:ext cx="268941" cy="215153"/>
          </a:xfrm>
          <a:custGeom>
            <a:rect b="b" l="l" r="r" t="t"/>
            <a:pathLst>
              <a:path extrusionOk="0" h="120000" w="120000">
                <a:moveTo>
                  <a:pt x="0" y="0"/>
                </a:moveTo>
                <a:lnTo>
                  <a:pt x="120000" y="0"/>
                </a:lnTo>
                <a:lnTo>
                  <a:pt x="120000" y="120000"/>
                </a:lnTo>
                <a:lnTo>
                  <a:pt x="0" y="120000"/>
                </a:lnTo>
                <a:close/>
                <a:moveTo>
                  <a:pt x="96000" y="60000"/>
                </a:moveTo>
                <a:lnTo>
                  <a:pt x="24000" y="15000"/>
                </a:lnTo>
                <a:lnTo>
                  <a:pt x="24000" y="105000"/>
                </a:lnTo>
                <a:close/>
              </a:path>
              <a:path extrusionOk="0" fill="darken" h="120000" w="120000">
                <a:moveTo>
                  <a:pt x="96000" y="60000"/>
                </a:moveTo>
                <a:lnTo>
                  <a:pt x="24000" y="15000"/>
                </a:lnTo>
                <a:lnTo>
                  <a:pt x="24000" y="105000"/>
                </a:lnTo>
                <a:close/>
              </a:path>
              <a:path extrusionOk="0" fill="none" h="120000" w="120000">
                <a:moveTo>
                  <a:pt x="96000" y="60000"/>
                </a:moveTo>
                <a:lnTo>
                  <a:pt x="24000" y="105000"/>
                </a:lnTo>
                <a:lnTo>
                  <a:pt x="24000" y="15000"/>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Effect filter="fade" transition="in">
                                      <p:cBhvr>
                                        <p:cTn dur="500"/>
                                        <p:tgtEl>
                                          <p:spTgt spid="2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Effect filter="fade" transition="in">
                                      <p:cBhvr>
                                        <p:cTn dur="500"/>
                                        <p:tgtEl>
                                          <p:spTgt spid="2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Effect filter="fade" transition="in">
                                      <p:cBhvr>
                                        <p:cTn dur="500"/>
                                        <p:tgtEl>
                                          <p:spTgt spid="2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Effect filter="fade" transition="in">
                                      <p:cBhvr>
                                        <p:cTn dur="500"/>
                                        <p:tgtEl>
                                          <p:spTgt spid="2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animEffect filter="fade" transition="in">
                                      <p:cBhvr>
                                        <p:cTn dur="500"/>
                                        <p:tgtEl>
                                          <p:spTgt spid="2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5" st="5"/>
                                            </p:txEl>
                                          </p:spTgt>
                                        </p:tgtEl>
                                        <p:attrNameLst>
                                          <p:attrName>style.visibility</p:attrName>
                                        </p:attrNameLst>
                                      </p:cBhvr>
                                      <p:to>
                                        <p:strVal val="visible"/>
                                      </p:to>
                                    </p:set>
                                    <p:animEffect filter="fade" transition="in">
                                      <p:cBhvr>
                                        <p:cTn dur="500"/>
                                        <p:tgtEl>
                                          <p:spTgt spid="2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6" st="6"/>
                                            </p:txEl>
                                          </p:spTgt>
                                        </p:tgtEl>
                                        <p:attrNameLst>
                                          <p:attrName>style.visibility</p:attrName>
                                        </p:attrNameLst>
                                      </p:cBhvr>
                                      <p:to>
                                        <p:strVal val="visible"/>
                                      </p:to>
                                    </p:set>
                                    <p:animEffect filter="fade" transition="in">
                                      <p:cBhvr>
                                        <p:cTn dur="500"/>
                                        <p:tgtEl>
                                          <p:spTgt spid="2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7" st="7"/>
                                            </p:txEl>
                                          </p:spTgt>
                                        </p:tgtEl>
                                        <p:attrNameLst>
                                          <p:attrName>style.visibility</p:attrName>
                                        </p:attrNameLst>
                                      </p:cBhvr>
                                      <p:to>
                                        <p:strVal val="visible"/>
                                      </p:to>
                                    </p:set>
                                    <p:animEffect filter="fade" transition="in">
                                      <p:cBhvr>
                                        <p:cTn dur="500"/>
                                        <p:tgtEl>
                                          <p:spTgt spid="2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8" st="8"/>
                                            </p:txEl>
                                          </p:spTgt>
                                        </p:tgtEl>
                                        <p:attrNameLst>
                                          <p:attrName>style.visibility</p:attrName>
                                        </p:attrNameLst>
                                      </p:cBhvr>
                                      <p:to>
                                        <p:strVal val="visible"/>
                                      </p:to>
                                    </p:set>
                                    <p:animEffect filter="fade" transition="in">
                                      <p:cBhvr>
                                        <p:cTn dur="500"/>
                                        <p:tgtEl>
                                          <p:spTgt spid="2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9" st="9"/>
                                            </p:txEl>
                                          </p:spTgt>
                                        </p:tgtEl>
                                        <p:attrNameLst>
                                          <p:attrName>style.visibility</p:attrName>
                                        </p:attrNameLst>
                                      </p:cBhvr>
                                      <p:to>
                                        <p:strVal val="visible"/>
                                      </p:to>
                                    </p:set>
                                    <p:animEffect filter="fade" transition="in">
                                      <p:cBhvr>
                                        <p:cTn dur="500"/>
                                        <p:tgtEl>
                                          <p:spTgt spid="20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0" st="10"/>
                                            </p:txEl>
                                          </p:spTgt>
                                        </p:tgtEl>
                                        <p:attrNameLst>
                                          <p:attrName>style.visibility</p:attrName>
                                        </p:attrNameLst>
                                      </p:cBhvr>
                                      <p:to>
                                        <p:strVal val="visible"/>
                                      </p:to>
                                    </p:set>
                                    <p:animEffect filter="fade" transition="in">
                                      <p:cBhvr>
                                        <p:cTn dur="500"/>
                                        <p:tgtEl>
                                          <p:spTgt spid="20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1" st="11"/>
                                            </p:txEl>
                                          </p:spTgt>
                                        </p:tgtEl>
                                        <p:attrNameLst>
                                          <p:attrName>style.visibility</p:attrName>
                                        </p:attrNameLst>
                                      </p:cBhvr>
                                      <p:to>
                                        <p:strVal val="visible"/>
                                      </p:to>
                                    </p:set>
                                    <p:animEffect filter="fade" transition="in">
                                      <p:cBhvr>
                                        <p:cTn dur="500"/>
                                        <p:tgtEl>
                                          <p:spTgt spid="20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2" st="12"/>
                                            </p:txEl>
                                          </p:spTgt>
                                        </p:tgtEl>
                                        <p:attrNameLst>
                                          <p:attrName>style.visibility</p:attrName>
                                        </p:attrNameLst>
                                      </p:cBhvr>
                                      <p:to>
                                        <p:strVal val="visible"/>
                                      </p:to>
                                    </p:set>
                                    <p:animEffect filter="fade" transition="in">
                                      <p:cBhvr>
                                        <p:cTn dur="500"/>
                                        <p:tgtEl>
                                          <p:spTgt spid="20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3" st="13"/>
                                            </p:txEl>
                                          </p:spTgt>
                                        </p:tgtEl>
                                        <p:attrNameLst>
                                          <p:attrName>style.visibility</p:attrName>
                                        </p:attrNameLst>
                                      </p:cBhvr>
                                      <p:to>
                                        <p:strVal val="visible"/>
                                      </p:to>
                                    </p:set>
                                    <p:animEffect filter="fade" transition="in">
                                      <p:cBhvr>
                                        <p:cTn dur="500"/>
                                        <p:tgtEl>
                                          <p:spTgt spid="200">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4" st="14"/>
                                            </p:txEl>
                                          </p:spTgt>
                                        </p:tgtEl>
                                        <p:attrNameLst>
                                          <p:attrName>style.visibility</p:attrName>
                                        </p:attrNameLst>
                                      </p:cBhvr>
                                      <p:to>
                                        <p:strVal val="visible"/>
                                      </p:to>
                                    </p:set>
                                    <p:animEffect filter="fade" transition="in">
                                      <p:cBhvr>
                                        <p:cTn dur="500"/>
                                        <p:tgtEl>
                                          <p:spTgt spid="200">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xEl>
                                              <p:pRg end="15" st="15"/>
                                            </p:txEl>
                                          </p:spTgt>
                                        </p:tgtEl>
                                        <p:attrNameLst>
                                          <p:attrName>style.visibility</p:attrName>
                                        </p:attrNameLst>
                                      </p:cBhvr>
                                      <p:to>
                                        <p:strVal val="visible"/>
                                      </p:to>
                                    </p:set>
                                    <p:animEffect filter="fade" transition="in">
                                      <p:cBhvr>
                                        <p:cTn dur="500"/>
                                        <p:tgtEl>
                                          <p:spTgt spid="200">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txBox="1"/>
          <p:nvPr>
            <p:ph type="title"/>
          </p:nvPr>
        </p:nvSpPr>
        <p:spPr>
          <a:xfrm>
            <a:off x="1179302" y="-89694"/>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Growth in Forex</a:t>
            </a:r>
            <a:endParaRPr/>
          </a:p>
        </p:txBody>
      </p:sp>
      <p:sp>
        <p:nvSpPr>
          <p:cNvPr id="210" name="Google Shape;210;p19">
            <a:hlinkClick action="ppaction://hlinkshowjump?jump=previousslide"/>
          </p:cNvPr>
          <p:cNvSpPr/>
          <p:nvPr/>
        </p:nvSpPr>
        <p:spPr>
          <a:xfrm>
            <a:off x="10134600" y="6477000"/>
            <a:ext cx="304800" cy="152400"/>
          </a:xfrm>
          <a:custGeom>
            <a:rect b="b" l="l" r="r" t="t"/>
            <a:pathLst>
              <a:path extrusionOk="0" h="120000" w="120000">
                <a:moveTo>
                  <a:pt x="0" y="0"/>
                </a:moveTo>
                <a:lnTo>
                  <a:pt x="120000" y="0"/>
                </a:lnTo>
                <a:lnTo>
                  <a:pt x="120000" y="120000"/>
                </a:lnTo>
                <a:lnTo>
                  <a:pt x="0" y="120000"/>
                </a:lnTo>
                <a:close/>
                <a:moveTo>
                  <a:pt x="37500" y="60000"/>
                </a:moveTo>
                <a:lnTo>
                  <a:pt x="82500" y="15000"/>
                </a:lnTo>
                <a:lnTo>
                  <a:pt x="82500" y="105000"/>
                </a:lnTo>
                <a:close/>
              </a:path>
              <a:path extrusionOk="0" fill="darken" h="120000" w="120000">
                <a:moveTo>
                  <a:pt x="37500" y="60000"/>
                </a:moveTo>
                <a:lnTo>
                  <a:pt x="82500" y="15000"/>
                </a:lnTo>
                <a:lnTo>
                  <a:pt x="82500" y="105000"/>
                </a:lnTo>
                <a:close/>
              </a:path>
              <a:path extrusionOk="0" fill="none" h="120000" w="120000">
                <a:moveTo>
                  <a:pt x="37500" y="60000"/>
                </a:moveTo>
                <a:lnTo>
                  <a:pt x="82500" y="15000"/>
                </a:lnTo>
                <a:lnTo>
                  <a:pt x="82500" y="10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9"/>
          <p:cNvSpPr txBox="1"/>
          <p:nvPr/>
        </p:nvSpPr>
        <p:spPr>
          <a:xfrm>
            <a:off x="1855030" y="5867400"/>
            <a:ext cx="7543800"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 Note: decrease 2001–2003 (and by over 25% in 2008–2009)</a:t>
            </a:r>
            <a:endParaRPr/>
          </a:p>
        </p:txBody>
      </p:sp>
      <p:sp>
        <p:nvSpPr>
          <p:cNvPr id="212" name="Google Shape;21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3" name="Google Shape;213;p19"/>
          <p:cNvPicPr preferRelativeResize="0"/>
          <p:nvPr/>
        </p:nvPicPr>
        <p:blipFill rotWithShape="1">
          <a:blip r:embed="rId3">
            <a:alphaModFix/>
          </a:blip>
          <a:srcRect b="0" l="0" r="0" t="0"/>
          <a:stretch/>
        </p:blipFill>
        <p:spPr>
          <a:xfrm>
            <a:off x="2667830" y="1926491"/>
            <a:ext cx="6629400" cy="373923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0"/>
          <p:cNvSpPr txBox="1"/>
          <p:nvPr>
            <p:ph type="title"/>
          </p:nvPr>
        </p:nvSpPr>
        <p:spPr>
          <a:xfrm>
            <a:off x="1169894" y="281302"/>
            <a:ext cx="9213226"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Active Markets Exist for Few Currencies</a:t>
            </a:r>
            <a:endParaRPr/>
          </a:p>
        </p:txBody>
      </p:sp>
      <p:sp>
        <p:nvSpPr>
          <p:cNvPr id="220" name="Google Shape;220;p20"/>
          <p:cNvSpPr txBox="1"/>
          <p:nvPr>
            <p:ph idx="1" type="body"/>
          </p:nvPr>
        </p:nvSpPr>
        <p:spPr>
          <a:xfrm>
            <a:off x="833718" y="1314921"/>
            <a:ext cx="9444325" cy="4917645"/>
          </a:xfrm>
          <a:prstGeom prst="rect">
            <a:avLst/>
          </a:prstGeom>
          <a:noFill/>
          <a:ln>
            <a:noFill/>
          </a:ln>
        </p:spPr>
        <p:txBody>
          <a:bodyPr anchorCtr="0" anchor="t" bIns="44450" lIns="90475" spcFirstLastPara="1" rIns="90475" wrap="square" tIns="44450">
            <a:noAutofit/>
          </a:bodyPr>
          <a:lstStyle/>
          <a:p>
            <a:pPr indent="-228600" lvl="0" marL="228600" rtl="0" algn="l">
              <a:lnSpc>
                <a:spcPct val="90000"/>
              </a:lnSpc>
              <a:spcBef>
                <a:spcPts val="0"/>
              </a:spcBef>
              <a:spcAft>
                <a:spcPts val="0"/>
              </a:spcAft>
              <a:buClr>
                <a:schemeClr val="dk1"/>
              </a:buClr>
              <a:buSzPts val="2800"/>
              <a:buChar char="•"/>
            </a:pPr>
            <a:r>
              <a:rPr lang="en-US" sz="2800"/>
              <a:t>Dollar, Euro, Pound, Yen</a:t>
            </a:r>
            <a:endParaRPr/>
          </a:p>
          <a:p>
            <a:pPr indent="-228600" lvl="0" marL="228600" rtl="0" algn="l">
              <a:lnSpc>
                <a:spcPct val="90000"/>
              </a:lnSpc>
              <a:spcBef>
                <a:spcPts val="1600"/>
              </a:spcBef>
              <a:spcAft>
                <a:spcPts val="0"/>
              </a:spcAft>
              <a:buClr>
                <a:schemeClr val="dk1"/>
              </a:buClr>
              <a:buSzPts val="2800"/>
              <a:buChar char="•"/>
            </a:pPr>
            <a:r>
              <a:rPr lang="en-US" sz="2800"/>
              <a:t>Difficult to do a major transaction from </a:t>
            </a:r>
            <a:r>
              <a:rPr i="1" lang="en-US" sz="2800"/>
              <a:t>(i.e.)</a:t>
            </a:r>
            <a:r>
              <a:rPr lang="en-US" sz="2800"/>
              <a:t> lira to won</a:t>
            </a:r>
            <a:endParaRPr/>
          </a:p>
          <a:p>
            <a:pPr indent="-228600" lvl="0" marL="228600" rtl="0" algn="l">
              <a:lnSpc>
                <a:spcPct val="90000"/>
              </a:lnSpc>
              <a:spcBef>
                <a:spcPts val="1600"/>
              </a:spcBef>
              <a:spcAft>
                <a:spcPts val="0"/>
              </a:spcAft>
              <a:buClr>
                <a:schemeClr val="dk1"/>
              </a:buClr>
              <a:buSzPts val="2800"/>
              <a:buChar char="•"/>
            </a:pPr>
            <a:r>
              <a:rPr lang="en-US" sz="2800"/>
              <a:t>Traders in other currencies first convert into one of the main currencies</a:t>
            </a:r>
            <a:endParaRPr/>
          </a:p>
          <a:p>
            <a:pPr indent="-228600" lvl="0" marL="228600" rtl="0" algn="l">
              <a:lnSpc>
                <a:spcPct val="90000"/>
              </a:lnSpc>
              <a:spcBef>
                <a:spcPts val="1600"/>
              </a:spcBef>
              <a:spcAft>
                <a:spcPts val="0"/>
              </a:spcAft>
              <a:buClr>
                <a:schemeClr val="dk1"/>
              </a:buClr>
              <a:buSzPts val="2800"/>
              <a:buChar char="•"/>
            </a:pPr>
            <a:r>
              <a:rPr lang="en-US" sz="2800"/>
              <a:t>Role of the Dollar  </a:t>
            </a:r>
            <a:endParaRPr/>
          </a:p>
          <a:p>
            <a:pPr indent="-228600" lvl="1" marL="685800" rtl="0" algn="l">
              <a:lnSpc>
                <a:spcPct val="90000"/>
              </a:lnSpc>
              <a:spcBef>
                <a:spcPts val="500"/>
              </a:spcBef>
              <a:spcAft>
                <a:spcPts val="0"/>
              </a:spcAft>
              <a:buClr>
                <a:schemeClr val="dk1"/>
              </a:buClr>
              <a:buSzPts val="2400"/>
              <a:buChar char="•"/>
            </a:pPr>
            <a:r>
              <a:rPr lang="en-US" sz="2400">
                <a:latin typeface="Arial"/>
                <a:ea typeface="Arial"/>
                <a:cs typeface="Arial"/>
                <a:sym typeface="Arial"/>
              </a:rPr>
              <a:t>≈ </a:t>
            </a:r>
            <a:r>
              <a:rPr lang="en-US" sz="2400"/>
              <a:t>87% of cross-currency trades (down from 90%)</a:t>
            </a:r>
            <a:endParaRPr/>
          </a:p>
          <a:p>
            <a:pPr indent="-228600" lvl="1" marL="685800" rtl="0" algn="l">
              <a:lnSpc>
                <a:spcPct val="90000"/>
              </a:lnSpc>
              <a:spcBef>
                <a:spcPts val="500"/>
              </a:spcBef>
              <a:spcAft>
                <a:spcPts val="0"/>
              </a:spcAft>
              <a:buClr>
                <a:schemeClr val="dk1"/>
              </a:buClr>
              <a:buSzPts val="2400"/>
              <a:buChar char="•"/>
            </a:pPr>
            <a:r>
              <a:rPr lang="en-US" sz="2400"/>
              <a:t>Major “reserve” currency for governments and commercial entities  (60% of global reserves)</a:t>
            </a:r>
            <a:endParaRPr/>
          </a:p>
          <a:p>
            <a:pPr indent="-50800" lvl="0" marL="228600" rtl="0" algn="l">
              <a:lnSpc>
                <a:spcPct val="90000"/>
              </a:lnSpc>
              <a:spcBef>
                <a:spcPts val="1000"/>
              </a:spcBef>
              <a:spcAft>
                <a:spcPts val="0"/>
              </a:spcAft>
              <a:buClr>
                <a:schemeClr val="dk1"/>
              </a:buClr>
              <a:buSzPts val="2800"/>
              <a:buNone/>
            </a:pPr>
            <a:r>
              <a:t/>
            </a:r>
            <a:endParaRPr sz="2800"/>
          </a:p>
          <a:p>
            <a:pPr indent="-228600" lvl="0" marL="228600" rtl="0" algn="l">
              <a:lnSpc>
                <a:spcPct val="90000"/>
              </a:lnSpc>
              <a:spcBef>
                <a:spcPts val="1000"/>
              </a:spcBef>
              <a:spcAft>
                <a:spcPts val="0"/>
              </a:spcAft>
              <a:buClr>
                <a:schemeClr val="dk1"/>
              </a:buClr>
              <a:buSzPts val="2400"/>
              <a:buNone/>
            </a:pPr>
            <a:r>
              <a:rPr i="1" lang="en-US" sz="2400"/>
              <a:t>NOTE:  Some currencies not available in foreign exchange market (non-convertible) – typically due to nations’ policies regarding currency exchanges/rates</a:t>
            </a:r>
            <a:endParaRPr/>
          </a:p>
        </p:txBody>
      </p:sp>
      <p:sp>
        <p:nvSpPr>
          <p:cNvPr id="221" name="Google Shape;221;p20"/>
          <p:cNvSpPr txBox="1"/>
          <p:nvPr/>
        </p:nvSpPr>
        <p:spPr>
          <a:xfrm>
            <a:off x="9481344" y="5772024"/>
            <a:ext cx="2362200" cy="341632"/>
          </a:xfrm>
          <a:prstGeom prst="rect">
            <a:avLst/>
          </a:prstGeom>
          <a:noFill/>
          <a:ln>
            <a:noFill/>
          </a:ln>
        </p:spPr>
        <p:txBody>
          <a:bodyPr anchorCtr="0" anchor="t" bIns="45700" lIns="91425" spcFirstLastPara="1" rIns="91425" wrap="square" tIns="45700">
            <a:spAutoFit/>
          </a:bodyPr>
          <a:lstStyle/>
          <a:p>
            <a:pPr indent="0" lvl="1" marL="457200" marR="0" rtl="0" algn="l">
              <a:lnSpc>
                <a:spcPct val="90000"/>
              </a:lnSpc>
              <a:spcBef>
                <a:spcPts val="0"/>
              </a:spcBef>
              <a:spcAft>
                <a:spcPts val="0"/>
              </a:spcAft>
              <a:buNone/>
            </a:pPr>
            <a:r>
              <a:rPr b="0" i="1" lang="en-US" sz="1800" u="none" cap="none" strike="noStrike">
                <a:solidFill>
                  <a:srgbClr val="FF0000"/>
                </a:solidFill>
                <a:latin typeface="Arimo"/>
                <a:ea typeface="Arimo"/>
                <a:cs typeface="Arimo"/>
                <a:sym typeface="Arimo"/>
              </a:rPr>
              <a:t>Implication?</a:t>
            </a:r>
            <a:endParaRPr b="0" i="0" sz="1800" u="none" cap="none" strike="noStrike">
              <a:solidFill>
                <a:schemeClr val="dk1"/>
              </a:solidFill>
              <a:latin typeface="Arimo"/>
              <a:ea typeface="Arimo"/>
              <a:cs typeface="Arimo"/>
              <a:sym typeface="Arimo"/>
            </a:endParaRPr>
          </a:p>
        </p:txBody>
      </p:sp>
      <p:sp>
        <p:nvSpPr>
          <p:cNvPr id="222" name="Google Shape;222;p20">
            <a:hlinkClick action="ppaction://hlinkshowjump?jump=nextslide"/>
          </p:cNvPr>
          <p:cNvSpPr/>
          <p:nvPr/>
        </p:nvSpPr>
        <p:spPr>
          <a:xfrm>
            <a:off x="10104254" y="2578601"/>
            <a:ext cx="226328" cy="268835"/>
          </a:xfrm>
          <a:custGeom>
            <a:rect b="b" l="l" r="r" t="t"/>
            <a:pathLst>
              <a:path extrusionOk="0" h="120000" w="120000">
                <a:moveTo>
                  <a:pt x="0" y="0"/>
                </a:moveTo>
                <a:lnTo>
                  <a:pt x="120000" y="0"/>
                </a:lnTo>
                <a:lnTo>
                  <a:pt x="120000" y="120000"/>
                </a:lnTo>
                <a:lnTo>
                  <a:pt x="0" y="120000"/>
                </a:lnTo>
                <a:close/>
                <a:moveTo>
                  <a:pt x="105000" y="60000"/>
                </a:moveTo>
                <a:lnTo>
                  <a:pt x="15000" y="22115"/>
                </a:lnTo>
                <a:lnTo>
                  <a:pt x="15000" y="97885"/>
                </a:lnTo>
                <a:close/>
              </a:path>
              <a:path extrusionOk="0" fill="darken" h="120000" w="120000">
                <a:moveTo>
                  <a:pt x="105000" y="60000"/>
                </a:moveTo>
                <a:lnTo>
                  <a:pt x="15000" y="22115"/>
                </a:lnTo>
                <a:lnTo>
                  <a:pt x="15000" y="97885"/>
                </a:lnTo>
                <a:close/>
              </a:path>
              <a:path extrusionOk="0" fill="none" h="120000" w="120000">
                <a:moveTo>
                  <a:pt x="105000" y="60000"/>
                </a:moveTo>
                <a:lnTo>
                  <a:pt x="15000" y="97885"/>
                </a:lnTo>
                <a:lnTo>
                  <a:pt x="15000" y="22115"/>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23" name="Google Shape;223;p20">
            <a:hlinkClick action="ppaction://hlinksldjump" r:id="rId3"/>
          </p:cNvPr>
          <p:cNvSpPr/>
          <p:nvPr/>
        </p:nvSpPr>
        <p:spPr>
          <a:xfrm>
            <a:off x="4949684" y="4784047"/>
            <a:ext cx="348457" cy="232685"/>
          </a:xfrm>
          <a:custGeom>
            <a:rect b="b" l="l" r="r" t="t"/>
            <a:pathLst>
              <a:path extrusionOk="0" h="120000" w="120000">
                <a:moveTo>
                  <a:pt x="0" y="0"/>
                </a:moveTo>
                <a:lnTo>
                  <a:pt x="120000" y="0"/>
                </a:lnTo>
                <a:lnTo>
                  <a:pt x="120000" y="120000"/>
                </a:lnTo>
                <a:lnTo>
                  <a:pt x="0" y="120000"/>
                </a:lnTo>
                <a:close/>
                <a:moveTo>
                  <a:pt x="29951" y="60000"/>
                </a:moveTo>
                <a:lnTo>
                  <a:pt x="90049" y="15000"/>
                </a:lnTo>
                <a:lnTo>
                  <a:pt x="90049" y="105000"/>
                </a:lnTo>
                <a:close/>
              </a:path>
              <a:path extrusionOk="0" fill="darken" h="120000" w="120000">
                <a:moveTo>
                  <a:pt x="29951" y="60000"/>
                </a:moveTo>
                <a:lnTo>
                  <a:pt x="90049" y="15000"/>
                </a:lnTo>
                <a:lnTo>
                  <a:pt x="90049" y="105000"/>
                </a:lnTo>
                <a:close/>
              </a:path>
              <a:path extrusionOk="0" fill="none" h="120000" w="120000">
                <a:moveTo>
                  <a:pt x="29951" y="60000"/>
                </a:moveTo>
                <a:lnTo>
                  <a:pt x="90049" y="15000"/>
                </a:lnTo>
                <a:lnTo>
                  <a:pt x="90049" y="105000"/>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24" name="Google Shape;22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5" name="Google Shape;225;p20">
            <a:hlinkClick action="ppaction://hlinksldjump" r:id="rId4"/>
          </p:cNvPr>
          <p:cNvSpPr/>
          <p:nvPr/>
        </p:nvSpPr>
        <p:spPr>
          <a:xfrm>
            <a:off x="9611195" y="6253289"/>
            <a:ext cx="226328" cy="268835"/>
          </a:xfrm>
          <a:custGeom>
            <a:rect b="b" l="l" r="r" t="t"/>
            <a:pathLst>
              <a:path extrusionOk="0" h="120000" w="120000">
                <a:moveTo>
                  <a:pt x="0" y="0"/>
                </a:moveTo>
                <a:lnTo>
                  <a:pt x="120000" y="0"/>
                </a:lnTo>
                <a:lnTo>
                  <a:pt x="120000" y="120000"/>
                </a:lnTo>
                <a:lnTo>
                  <a:pt x="0" y="120000"/>
                </a:lnTo>
                <a:close/>
                <a:moveTo>
                  <a:pt x="105000" y="60000"/>
                </a:moveTo>
                <a:lnTo>
                  <a:pt x="15000" y="22115"/>
                </a:lnTo>
                <a:lnTo>
                  <a:pt x="15000" y="97885"/>
                </a:lnTo>
                <a:close/>
              </a:path>
              <a:path extrusionOk="0" fill="darken" h="120000" w="120000">
                <a:moveTo>
                  <a:pt x="105000" y="60000"/>
                </a:moveTo>
                <a:lnTo>
                  <a:pt x="15000" y="22115"/>
                </a:lnTo>
                <a:lnTo>
                  <a:pt x="15000" y="97885"/>
                </a:lnTo>
                <a:close/>
              </a:path>
              <a:path extrusionOk="0" fill="none" h="120000" w="120000">
                <a:moveTo>
                  <a:pt x="105000" y="60000"/>
                </a:moveTo>
                <a:lnTo>
                  <a:pt x="15000" y="97885"/>
                </a:lnTo>
                <a:lnTo>
                  <a:pt x="15000" y="22115"/>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animEffect filter="fade" transition="in">
                                      <p:cBhvr>
                                        <p:cTn dur="500"/>
                                        <p:tgtEl>
                                          <p:spTgt spid="2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animEffect filter="fade" transition="in">
                                      <p:cBhvr>
                                        <p:cTn dur="500"/>
                                        <p:tgtEl>
                                          <p:spTgt spid="2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animEffect filter="fade" transition="in">
                                      <p:cBhvr>
                                        <p:cTn dur="500"/>
                                        <p:tgtEl>
                                          <p:spTgt spid="2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animEffect filter="fade" transition="in">
                                      <p:cBhvr>
                                        <p:cTn dur="500"/>
                                        <p:tgtEl>
                                          <p:spTgt spid="2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animEffect filter="fade" transition="in">
                                      <p:cBhvr>
                                        <p:cTn dur="500"/>
                                        <p:tgtEl>
                                          <p:spTgt spid="2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animEffect filter="fade" transition="in">
                                      <p:cBhvr>
                                        <p:cTn dur="500"/>
                                        <p:tgtEl>
                                          <p:spTgt spid="2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animEffect filter="fade" transition="in">
                                      <p:cBhvr>
                                        <p:cTn dur="500"/>
                                        <p:tgtEl>
                                          <p:spTgt spid="2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xEl>
                                              <p:pRg end="7" st="7"/>
                                            </p:txEl>
                                          </p:spTgt>
                                        </p:tgtEl>
                                        <p:attrNameLst>
                                          <p:attrName>style.visibility</p:attrName>
                                        </p:attrNameLst>
                                      </p:cBhvr>
                                      <p:to>
                                        <p:strVal val="visible"/>
                                      </p:to>
                                    </p:set>
                                    <p:animEffect filter="fade" transition="in">
                                      <p:cBhvr>
                                        <p:cTn dur="500"/>
                                        <p:tgtEl>
                                          <p:spTgt spid="22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1"/>
          <p:cNvSpPr txBox="1"/>
          <p:nvPr>
            <p:ph type="title"/>
          </p:nvPr>
        </p:nvSpPr>
        <p:spPr>
          <a:xfrm>
            <a:off x="1219200" y="-38894"/>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Commercial FX</a:t>
            </a:r>
            <a:endParaRPr/>
          </a:p>
        </p:txBody>
      </p:sp>
      <p:sp>
        <p:nvSpPr>
          <p:cNvPr id="232" name="Google Shape;232;p21"/>
          <p:cNvSpPr/>
          <p:nvPr/>
        </p:nvSpPr>
        <p:spPr>
          <a:xfrm>
            <a:off x="6934201" y="2362200"/>
            <a:ext cx="3071813" cy="2374900"/>
          </a:xfrm>
          <a:custGeom>
            <a:rect b="b" l="l" r="r" t="t"/>
            <a:pathLst>
              <a:path extrusionOk="0" h="1546" w="1935">
                <a:moveTo>
                  <a:pt x="1376" y="0"/>
                </a:moveTo>
                <a:lnTo>
                  <a:pt x="1275" y="80"/>
                </a:lnTo>
                <a:lnTo>
                  <a:pt x="1312" y="92"/>
                </a:lnTo>
                <a:lnTo>
                  <a:pt x="1310" y="166"/>
                </a:lnTo>
                <a:lnTo>
                  <a:pt x="1323" y="206"/>
                </a:lnTo>
                <a:lnTo>
                  <a:pt x="1258" y="248"/>
                </a:lnTo>
                <a:lnTo>
                  <a:pt x="1286" y="328"/>
                </a:lnTo>
                <a:lnTo>
                  <a:pt x="1352" y="299"/>
                </a:lnTo>
                <a:lnTo>
                  <a:pt x="1387" y="299"/>
                </a:lnTo>
                <a:lnTo>
                  <a:pt x="1371" y="339"/>
                </a:lnTo>
                <a:lnTo>
                  <a:pt x="1347" y="381"/>
                </a:lnTo>
                <a:lnTo>
                  <a:pt x="1332" y="423"/>
                </a:lnTo>
                <a:lnTo>
                  <a:pt x="1319" y="457"/>
                </a:lnTo>
                <a:lnTo>
                  <a:pt x="1290" y="478"/>
                </a:lnTo>
                <a:lnTo>
                  <a:pt x="1247" y="476"/>
                </a:lnTo>
                <a:lnTo>
                  <a:pt x="1244" y="518"/>
                </a:lnTo>
                <a:lnTo>
                  <a:pt x="1269" y="535"/>
                </a:lnTo>
                <a:lnTo>
                  <a:pt x="1251" y="598"/>
                </a:lnTo>
                <a:lnTo>
                  <a:pt x="1225" y="611"/>
                </a:lnTo>
                <a:lnTo>
                  <a:pt x="1170" y="659"/>
                </a:lnTo>
                <a:lnTo>
                  <a:pt x="1124" y="691"/>
                </a:lnTo>
                <a:lnTo>
                  <a:pt x="1041" y="701"/>
                </a:lnTo>
                <a:lnTo>
                  <a:pt x="901" y="701"/>
                </a:lnTo>
                <a:lnTo>
                  <a:pt x="871" y="716"/>
                </a:lnTo>
                <a:lnTo>
                  <a:pt x="829" y="737"/>
                </a:lnTo>
                <a:lnTo>
                  <a:pt x="794" y="708"/>
                </a:lnTo>
                <a:lnTo>
                  <a:pt x="753" y="691"/>
                </a:lnTo>
                <a:lnTo>
                  <a:pt x="722" y="678"/>
                </a:lnTo>
                <a:lnTo>
                  <a:pt x="683" y="668"/>
                </a:lnTo>
                <a:lnTo>
                  <a:pt x="582" y="668"/>
                </a:lnTo>
                <a:lnTo>
                  <a:pt x="582" y="636"/>
                </a:lnTo>
                <a:lnTo>
                  <a:pt x="562" y="588"/>
                </a:lnTo>
                <a:lnTo>
                  <a:pt x="521" y="575"/>
                </a:lnTo>
                <a:lnTo>
                  <a:pt x="457" y="564"/>
                </a:lnTo>
                <a:lnTo>
                  <a:pt x="438" y="545"/>
                </a:lnTo>
                <a:lnTo>
                  <a:pt x="392" y="571"/>
                </a:lnTo>
                <a:lnTo>
                  <a:pt x="379" y="626"/>
                </a:lnTo>
                <a:lnTo>
                  <a:pt x="302" y="636"/>
                </a:lnTo>
                <a:lnTo>
                  <a:pt x="226" y="853"/>
                </a:lnTo>
                <a:lnTo>
                  <a:pt x="237" y="864"/>
                </a:lnTo>
                <a:lnTo>
                  <a:pt x="180" y="881"/>
                </a:lnTo>
                <a:lnTo>
                  <a:pt x="143" y="900"/>
                </a:lnTo>
                <a:lnTo>
                  <a:pt x="110" y="918"/>
                </a:lnTo>
                <a:lnTo>
                  <a:pt x="68" y="918"/>
                </a:lnTo>
                <a:lnTo>
                  <a:pt x="35" y="939"/>
                </a:lnTo>
                <a:lnTo>
                  <a:pt x="0" y="965"/>
                </a:lnTo>
                <a:lnTo>
                  <a:pt x="25" y="1011"/>
                </a:lnTo>
                <a:lnTo>
                  <a:pt x="55" y="1041"/>
                </a:lnTo>
                <a:lnTo>
                  <a:pt x="68" y="1057"/>
                </a:lnTo>
                <a:lnTo>
                  <a:pt x="40" y="1062"/>
                </a:lnTo>
                <a:lnTo>
                  <a:pt x="81" y="1127"/>
                </a:lnTo>
                <a:lnTo>
                  <a:pt x="206" y="1127"/>
                </a:lnTo>
                <a:lnTo>
                  <a:pt x="263" y="1169"/>
                </a:lnTo>
                <a:lnTo>
                  <a:pt x="234" y="1192"/>
                </a:lnTo>
                <a:lnTo>
                  <a:pt x="210" y="1203"/>
                </a:lnTo>
                <a:lnTo>
                  <a:pt x="208" y="1230"/>
                </a:lnTo>
                <a:lnTo>
                  <a:pt x="197" y="1266"/>
                </a:lnTo>
                <a:lnTo>
                  <a:pt x="210" y="1294"/>
                </a:lnTo>
                <a:lnTo>
                  <a:pt x="241" y="1338"/>
                </a:lnTo>
                <a:lnTo>
                  <a:pt x="630" y="1407"/>
                </a:lnTo>
                <a:lnTo>
                  <a:pt x="663" y="1403"/>
                </a:lnTo>
                <a:lnTo>
                  <a:pt x="678" y="1407"/>
                </a:lnTo>
                <a:lnTo>
                  <a:pt x="691" y="1392"/>
                </a:lnTo>
                <a:lnTo>
                  <a:pt x="698" y="1374"/>
                </a:lnTo>
                <a:lnTo>
                  <a:pt x="720" y="1363"/>
                </a:lnTo>
                <a:lnTo>
                  <a:pt x="777" y="1386"/>
                </a:lnTo>
                <a:lnTo>
                  <a:pt x="849" y="1333"/>
                </a:lnTo>
                <a:lnTo>
                  <a:pt x="895" y="1281"/>
                </a:lnTo>
                <a:lnTo>
                  <a:pt x="941" y="1315"/>
                </a:lnTo>
                <a:lnTo>
                  <a:pt x="962" y="1313"/>
                </a:lnTo>
                <a:lnTo>
                  <a:pt x="987" y="1327"/>
                </a:lnTo>
                <a:lnTo>
                  <a:pt x="1039" y="1306"/>
                </a:lnTo>
                <a:lnTo>
                  <a:pt x="1065" y="1329"/>
                </a:lnTo>
                <a:lnTo>
                  <a:pt x="1081" y="1359"/>
                </a:lnTo>
                <a:lnTo>
                  <a:pt x="1081" y="1412"/>
                </a:lnTo>
                <a:lnTo>
                  <a:pt x="1074" y="1454"/>
                </a:lnTo>
                <a:lnTo>
                  <a:pt x="1074" y="1489"/>
                </a:lnTo>
                <a:lnTo>
                  <a:pt x="1109" y="1473"/>
                </a:lnTo>
                <a:lnTo>
                  <a:pt x="1113" y="1462"/>
                </a:lnTo>
                <a:lnTo>
                  <a:pt x="1207" y="1546"/>
                </a:lnTo>
                <a:lnTo>
                  <a:pt x="1262" y="1483"/>
                </a:lnTo>
                <a:lnTo>
                  <a:pt x="1290" y="1473"/>
                </a:lnTo>
                <a:lnTo>
                  <a:pt x="1341" y="1456"/>
                </a:lnTo>
                <a:lnTo>
                  <a:pt x="1376" y="1439"/>
                </a:lnTo>
                <a:lnTo>
                  <a:pt x="1404" y="1437"/>
                </a:lnTo>
                <a:lnTo>
                  <a:pt x="1437" y="1416"/>
                </a:lnTo>
                <a:lnTo>
                  <a:pt x="1448" y="1416"/>
                </a:lnTo>
                <a:lnTo>
                  <a:pt x="1450" y="1426"/>
                </a:lnTo>
                <a:lnTo>
                  <a:pt x="1483" y="1439"/>
                </a:lnTo>
                <a:lnTo>
                  <a:pt x="1509" y="1439"/>
                </a:lnTo>
                <a:lnTo>
                  <a:pt x="1531" y="1433"/>
                </a:lnTo>
                <a:lnTo>
                  <a:pt x="1562" y="1424"/>
                </a:lnTo>
                <a:lnTo>
                  <a:pt x="1610" y="1424"/>
                </a:lnTo>
                <a:lnTo>
                  <a:pt x="1610" y="1451"/>
                </a:lnTo>
                <a:lnTo>
                  <a:pt x="1618" y="1458"/>
                </a:lnTo>
                <a:lnTo>
                  <a:pt x="1636" y="1458"/>
                </a:lnTo>
                <a:lnTo>
                  <a:pt x="1653" y="1443"/>
                </a:lnTo>
                <a:lnTo>
                  <a:pt x="1673" y="1416"/>
                </a:lnTo>
                <a:lnTo>
                  <a:pt x="1712" y="1405"/>
                </a:lnTo>
                <a:lnTo>
                  <a:pt x="1728" y="1403"/>
                </a:lnTo>
                <a:lnTo>
                  <a:pt x="1741" y="1392"/>
                </a:lnTo>
                <a:lnTo>
                  <a:pt x="1736" y="1373"/>
                </a:lnTo>
                <a:lnTo>
                  <a:pt x="1754" y="1348"/>
                </a:lnTo>
                <a:lnTo>
                  <a:pt x="1739" y="1327"/>
                </a:lnTo>
                <a:lnTo>
                  <a:pt x="1754" y="1293"/>
                </a:lnTo>
                <a:lnTo>
                  <a:pt x="1780" y="1291"/>
                </a:lnTo>
                <a:lnTo>
                  <a:pt x="1815" y="1279"/>
                </a:lnTo>
                <a:lnTo>
                  <a:pt x="1857" y="1251"/>
                </a:lnTo>
                <a:lnTo>
                  <a:pt x="1868" y="1230"/>
                </a:lnTo>
                <a:lnTo>
                  <a:pt x="1883" y="1192"/>
                </a:lnTo>
                <a:lnTo>
                  <a:pt x="1905" y="1131"/>
                </a:lnTo>
                <a:lnTo>
                  <a:pt x="1909" y="1097"/>
                </a:lnTo>
                <a:lnTo>
                  <a:pt x="1918" y="1062"/>
                </a:lnTo>
                <a:lnTo>
                  <a:pt x="1935" y="1005"/>
                </a:lnTo>
                <a:lnTo>
                  <a:pt x="1918" y="971"/>
                </a:lnTo>
                <a:lnTo>
                  <a:pt x="1918" y="927"/>
                </a:lnTo>
                <a:lnTo>
                  <a:pt x="1907" y="897"/>
                </a:lnTo>
                <a:lnTo>
                  <a:pt x="1881" y="885"/>
                </a:lnTo>
                <a:lnTo>
                  <a:pt x="1881" y="908"/>
                </a:lnTo>
                <a:lnTo>
                  <a:pt x="1857" y="906"/>
                </a:lnTo>
                <a:lnTo>
                  <a:pt x="1857" y="883"/>
                </a:lnTo>
                <a:lnTo>
                  <a:pt x="1870" y="861"/>
                </a:lnTo>
                <a:lnTo>
                  <a:pt x="1870" y="838"/>
                </a:lnTo>
                <a:lnTo>
                  <a:pt x="1841" y="851"/>
                </a:lnTo>
                <a:lnTo>
                  <a:pt x="1804" y="851"/>
                </a:lnTo>
                <a:lnTo>
                  <a:pt x="1793" y="840"/>
                </a:lnTo>
                <a:lnTo>
                  <a:pt x="1813" y="836"/>
                </a:lnTo>
                <a:lnTo>
                  <a:pt x="1833" y="817"/>
                </a:lnTo>
                <a:lnTo>
                  <a:pt x="1868" y="817"/>
                </a:lnTo>
                <a:lnTo>
                  <a:pt x="1839" y="792"/>
                </a:lnTo>
                <a:lnTo>
                  <a:pt x="1787" y="782"/>
                </a:lnTo>
                <a:lnTo>
                  <a:pt x="1741" y="763"/>
                </a:lnTo>
                <a:lnTo>
                  <a:pt x="1719" y="739"/>
                </a:lnTo>
                <a:lnTo>
                  <a:pt x="1701" y="723"/>
                </a:lnTo>
                <a:lnTo>
                  <a:pt x="1701" y="680"/>
                </a:lnTo>
                <a:lnTo>
                  <a:pt x="1717" y="663"/>
                </a:lnTo>
                <a:lnTo>
                  <a:pt x="1725" y="647"/>
                </a:lnTo>
                <a:lnTo>
                  <a:pt x="1752" y="626"/>
                </a:lnTo>
                <a:lnTo>
                  <a:pt x="1754" y="604"/>
                </a:lnTo>
                <a:lnTo>
                  <a:pt x="1741" y="600"/>
                </a:lnTo>
                <a:lnTo>
                  <a:pt x="1721" y="615"/>
                </a:lnTo>
                <a:lnTo>
                  <a:pt x="1662" y="624"/>
                </a:lnTo>
                <a:lnTo>
                  <a:pt x="1660" y="647"/>
                </a:lnTo>
                <a:lnTo>
                  <a:pt x="1649" y="672"/>
                </a:lnTo>
                <a:lnTo>
                  <a:pt x="1581" y="636"/>
                </a:lnTo>
                <a:lnTo>
                  <a:pt x="1570" y="598"/>
                </a:lnTo>
                <a:lnTo>
                  <a:pt x="1583" y="571"/>
                </a:lnTo>
                <a:lnTo>
                  <a:pt x="1594" y="533"/>
                </a:lnTo>
                <a:lnTo>
                  <a:pt x="1612" y="505"/>
                </a:lnTo>
                <a:lnTo>
                  <a:pt x="1636" y="486"/>
                </a:lnTo>
                <a:lnTo>
                  <a:pt x="1660" y="508"/>
                </a:lnTo>
                <a:lnTo>
                  <a:pt x="1660" y="543"/>
                </a:lnTo>
                <a:lnTo>
                  <a:pt x="1673" y="564"/>
                </a:lnTo>
                <a:lnTo>
                  <a:pt x="1677" y="577"/>
                </a:lnTo>
                <a:lnTo>
                  <a:pt x="1728" y="508"/>
                </a:lnTo>
                <a:lnTo>
                  <a:pt x="1728" y="474"/>
                </a:lnTo>
                <a:lnTo>
                  <a:pt x="1741" y="468"/>
                </a:lnTo>
                <a:lnTo>
                  <a:pt x="1741" y="447"/>
                </a:lnTo>
                <a:lnTo>
                  <a:pt x="1752" y="409"/>
                </a:lnTo>
                <a:lnTo>
                  <a:pt x="1743" y="383"/>
                </a:lnTo>
                <a:lnTo>
                  <a:pt x="1758" y="366"/>
                </a:lnTo>
                <a:lnTo>
                  <a:pt x="1809" y="352"/>
                </a:lnTo>
                <a:lnTo>
                  <a:pt x="1765" y="331"/>
                </a:lnTo>
                <a:lnTo>
                  <a:pt x="1793" y="299"/>
                </a:lnTo>
                <a:lnTo>
                  <a:pt x="1813" y="259"/>
                </a:lnTo>
                <a:lnTo>
                  <a:pt x="1841" y="269"/>
                </a:lnTo>
                <a:lnTo>
                  <a:pt x="1844" y="251"/>
                </a:lnTo>
                <a:lnTo>
                  <a:pt x="1826" y="232"/>
                </a:lnTo>
                <a:lnTo>
                  <a:pt x="1780" y="181"/>
                </a:lnTo>
                <a:lnTo>
                  <a:pt x="1767" y="160"/>
                </a:lnTo>
                <a:lnTo>
                  <a:pt x="1802" y="135"/>
                </a:lnTo>
                <a:lnTo>
                  <a:pt x="1793" y="46"/>
                </a:lnTo>
                <a:lnTo>
                  <a:pt x="1752" y="2"/>
                </a:lnTo>
                <a:lnTo>
                  <a:pt x="1725" y="2"/>
                </a:lnTo>
                <a:lnTo>
                  <a:pt x="1717" y="67"/>
                </a:lnTo>
                <a:lnTo>
                  <a:pt x="1673" y="82"/>
                </a:lnTo>
                <a:lnTo>
                  <a:pt x="1621" y="44"/>
                </a:lnTo>
                <a:lnTo>
                  <a:pt x="1518" y="82"/>
                </a:lnTo>
                <a:lnTo>
                  <a:pt x="1450" y="21"/>
                </a:lnTo>
                <a:lnTo>
                  <a:pt x="1376" y="0"/>
                </a:lnTo>
                <a:close/>
              </a:path>
            </a:pathLst>
          </a:custGeom>
          <a:solidFill>
            <a:srgbClr val="800000"/>
          </a:solidFill>
          <a:ln cap="flat" cmpd="sng" w="269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21"/>
          <p:cNvSpPr/>
          <p:nvPr/>
        </p:nvSpPr>
        <p:spPr>
          <a:xfrm>
            <a:off x="9982200" y="2811463"/>
            <a:ext cx="204788" cy="247650"/>
          </a:xfrm>
          <a:custGeom>
            <a:rect b="b" l="l" r="r" t="t"/>
            <a:pathLst>
              <a:path extrusionOk="0" h="162" w="129">
                <a:moveTo>
                  <a:pt x="54" y="0"/>
                </a:moveTo>
                <a:lnTo>
                  <a:pt x="0" y="34"/>
                </a:lnTo>
                <a:lnTo>
                  <a:pt x="17" y="57"/>
                </a:lnTo>
                <a:lnTo>
                  <a:pt x="17" y="69"/>
                </a:lnTo>
                <a:lnTo>
                  <a:pt x="0" y="67"/>
                </a:lnTo>
                <a:lnTo>
                  <a:pt x="0" y="93"/>
                </a:lnTo>
                <a:lnTo>
                  <a:pt x="24" y="93"/>
                </a:lnTo>
                <a:lnTo>
                  <a:pt x="41" y="118"/>
                </a:lnTo>
                <a:lnTo>
                  <a:pt x="37" y="139"/>
                </a:lnTo>
                <a:lnTo>
                  <a:pt x="67" y="162"/>
                </a:lnTo>
                <a:lnTo>
                  <a:pt x="129" y="99"/>
                </a:lnTo>
                <a:lnTo>
                  <a:pt x="118" y="34"/>
                </a:lnTo>
                <a:lnTo>
                  <a:pt x="74" y="10"/>
                </a:lnTo>
                <a:lnTo>
                  <a:pt x="54" y="0"/>
                </a:lnTo>
                <a:close/>
              </a:path>
            </a:pathLst>
          </a:custGeom>
          <a:solidFill>
            <a:srgbClr val="800080"/>
          </a:solidFill>
          <a:ln cap="flat" cmpd="sng" w="269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21"/>
          <p:cNvSpPr/>
          <p:nvPr/>
        </p:nvSpPr>
        <p:spPr>
          <a:xfrm>
            <a:off x="9753600" y="2438400"/>
            <a:ext cx="311150" cy="439738"/>
          </a:xfrm>
          <a:custGeom>
            <a:rect b="b" l="l" r="r" t="t"/>
            <a:pathLst>
              <a:path extrusionOk="0" h="286" w="196">
                <a:moveTo>
                  <a:pt x="102" y="12"/>
                </a:moveTo>
                <a:lnTo>
                  <a:pt x="76" y="0"/>
                </a:lnTo>
                <a:lnTo>
                  <a:pt x="48" y="46"/>
                </a:lnTo>
                <a:lnTo>
                  <a:pt x="24" y="72"/>
                </a:lnTo>
                <a:lnTo>
                  <a:pt x="63" y="95"/>
                </a:lnTo>
                <a:lnTo>
                  <a:pt x="19" y="107"/>
                </a:lnTo>
                <a:lnTo>
                  <a:pt x="2" y="128"/>
                </a:lnTo>
                <a:lnTo>
                  <a:pt x="13" y="151"/>
                </a:lnTo>
                <a:lnTo>
                  <a:pt x="0" y="190"/>
                </a:lnTo>
                <a:lnTo>
                  <a:pt x="0" y="215"/>
                </a:lnTo>
                <a:lnTo>
                  <a:pt x="39" y="215"/>
                </a:lnTo>
                <a:lnTo>
                  <a:pt x="39" y="227"/>
                </a:lnTo>
                <a:lnTo>
                  <a:pt x="52" y="253"/>
                </a:lnTo>
                <a:lnTo>
                  <a:pt x="39" y="278"/>
                </a:lnTo>
                <a:lnTo>
                  <a:pt x="63" y="286"/>
                </a:lnTo>
                <a:lnTo>
                  <a:pt x="96" y="263"/>
                </a:lnTo>
                <a:lnTo>
                  <a:pt x="144" y="253"/>
                </a:lnTo>
                <a:lnTo>
                  <a:pt x="196" y="221"/>
                </a:lnTo>
                <a:lnTo>
                  <a:pt x="196" y="210"/>
                </a:lnTo>
                <a:lnTo>
                  <a:pt x="155" y="198"/>
                </a:lnTo>
                <a:lnTo>
                  <a:pt x="118" y="194"/>
                </a:lnTo>
                <a:lnTo>
                  <a:pt x="120" y="185"/>
                </a:lnTo>
                <a:lnTo>
                  <a:pt x="100" y="151"/>
                </a:lnTo>
                <a:lnTo>
                  <a:pt x="118" y="141"/>
                </a:lnTo>
                <a:lnTo>
                  <a:pt x="131" y="86"/>
                </a:lnTo>
                <a:lnTo>
                  <a:pt x="100" y="48"/>
                </a:lnTo>
                <a:lnTo>
                  <a:pt x="102" y="12"/>
                </a:lnTo>
                <a:close/>
              </a:path>
            </a:pathLst>
          </a:custGeom>
          <a:solidFill>
            <a:srgbClr val="9F3F00"/>
          </a:solidFill>
          <a:ln cap="flat" cmpd="sng" w="269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21"/>
          <p:cNvSpPr/>
          <p:nvPr/>
        </p:nvSpPr>
        <p:spPr>
          <a:xfrm>
            <a:off x="3352801" y="3124200"/>
            <a:ext cx="1128713" cy="1092200"/>
          </a:xfrm>
          <a:custGeom>
            <a:rect b="b" l="l" r="r" t="t"/>
            <a:pathLst>
              <a:path extrusionOk="0" h="929" w="1033">
                <a:moveTo>
                  <a:pt x="183" y="314"/>
                </a:moveTo>
                <a:lnTo>
                  <a:pt x="308" y="106"/>
                </a:lnTo>
                <a:lnTo>
                  <a:pt x="391" y="39"/>
                </a:lnTo>
                <a:lnTo>
                  <a:pt x="467" y="20"/>
                </a:lnTo>
                <a:lnTo>
                  <a:pt x="588" y="0"/>
                </a:lnTo>
                <a:lnTo>
                  <a:pt x="658" y="32"/>
                </a:lnTo>
                <a:lnTo>
                  <a:pt x="730" y="63"/>
                </a:lnTo>
                <a:lnTo>
                  <a:pt x="755" y="98"/>
                </a:lnTo>
                <a:lnTo>
                  <a:pt x="732" y="146"/>
                </a:lnTo>
                <a:lnTo>
                  <a:pt x="773" y="181"/>
                </a:lnTo>
                <a:lnTo>
                  <a:pt x="712" y="229"/>
                </a:lnTo>
                <a:lnTo>
                  <a:pt x="648" y="267"/>
                </a:lnTo>
                <a:lnTo>
                  <a:pt x="640" y="301"/>
                </a:lnTo>
                <a:lnTo>
                  <a:pt x="646" y="336"/>
                </a:lnTo>
                <a:lnTo>
                  <a:pt x="679" y="360"/>
                </a:lnTo>
                <a:lnTo>
                  <a:pt x="726" y="370"/>
                </a:lnTo>
                <a:lnTo>
                  <a:pt x="749" y="381"/>
                </a:lnTo>
                <a:lnTo>
                  <a:pt x="763" y="405"/>
                </a:lnTo>
                <a:lnTo>
                  <a:pt x="788" y="440"/>
                </a:lnTo>
                <a:lnTo>
                  <a:pt x="819" y="467"/>
                </a:lnTo>
                <a:lnTo>
                  <a:pt x="883" y="480"/>
                </a:lnTo>
                <a:lnTo>
                  <a:pt x="961" y="510"/>
                </a:lnTo>
                <a:lnTo>
                  <a:pt x="992" y="562"/>
                </a:lnTo>
                <a:lnTo>
                  <a:pt x="973" y="638"/>
                </a:lnTo>
                <a:lnTo>
                  <a:pt x="975" y="680"/>
                </a:lnTo>
                <a:lnTo>
                  <a:pt x="994" y="723"/>
                </a:lnTo>
                <a:lnTo>
                  <a:pt x="1022" y="741"/>
                </a:lnTo>
                <a:lnTo>
                  <a:pt x="1033" y="760"/>
                </a:lnTo>
                <a:lnTo>
                  <a:pt x="967" y="766"/>
                </a:lnTo>
                <a:lnTo>
                  <a:pt x="911" y="787"/>
                </a:lnTo>
                <a:lnTo>
                  <a:pt x="868" y="835"/>
                </a:lnTo>
                <a:lnTo>
                  <a:pt x="845" y="867"/>
                </a:lnTo>
                <a:lnTo>
                  <a:pt x="856" y="893"/>
                </a:lnTo>
                <a:lnTo>
                  <a:pt x="850" y="896"/>
                </a:lnTo>
                <a:lnTo>
                  <a:pt x="833" y="893"/>
                </a:lnTo>
                <a:lnTo>
                  <a:pt x="730" y="929"/>
                </a:lnTo>
                <a:lnTo>
                  <a:pt x="648" y="902"/>
                </a:lnTo>
                <a:lnTo>
                  <a:pt x="531" y="864"/>
                </a:lnTo>
                <a:lnTo>
                  <a:pt x="514" y="766"/>
                </a:lnTo>
                <a:lnTo>
                  <a:pt x="454" y="770"/>
                </a:lnTo>
                <a:lnTo>
                  <a:pt x="469" y="710"/>
                </a:lnTo>
                <a:lnTo>
                  <a:pt x="74" y="517"/>
                </a:lnTo>
                <a:lnTo>
                  <a:pt x="0" y="386"/>
                </a:lnTo>
                <a:lnTo>
                  <a:pt x="183" y="314"/>
                </a:lnTo>
                <a:close/>
              </a:path>
            </a:pathLst>
          </a:custGeom>
          <a:solidFill>
            <a:srgbClr val="008000"/>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6" name="Google Shape;236;p21"/>
          <p:cNvSpPr/>
          <p:nvPr/>
        </p:nvSpPr>
        <p:spPr>
          <a:xfrm>
            <a:off x="2819400" y="3733800"/>
            <a:ext cx="2895600" cy="2133600"/>
          </a:xfrm>
          <a:custGeom>
            <a:rect b="b" l="l" r="r" t="t"/>
            <a:pathLst>
              <a:path extrusionOk="0" h="1815" w="2649">
                <a:moveTo>
                  <a:pt x="292" y="29"/>
                </a:moveTo>
                <a:lnTo>
                  <a:pt x="597" y="0"/>
                </a:lnTo>
                <a:lnTo>
                  <a:pt x="996" y="194"/>
                </a:lnTo>
                <a:lnTo>
                  <a:pt x="979" y="251"/>
                </a:lnTo>
                <a:lnTo>
                  <a:pt x="1039" y="250"/>
                </a:lnTo>
                <a:lnTo>
                  <a:pt x="1060" y="346"/>
                </a:lnTo>
                <a:lnTo>
                  <a:pt x="1257" y="413"/>
                </a:lnTo>
                <a:lnTo>
                  <a:pt x="1389" y="375"/>
                </a:lnTo>
                <a:lnTo>
                  <a:pt x="1513" y="389"/>
                </a:lnTo>
                <a:lnTo>
                  <a:pt x="1539" y="413"/>
                </a:lnTo>
                <a:lnTo>
                  <a:pt x="1605" y="413"/>
                </a:lnTo>
                <a:lnTo>
                  <a:pt x="1636" y="456"/>
                </a:lnTo>
                <a:lnTo>
                  <a:pt x="1768" y="558"/>
                </a:lnTo>
                <a:lnTo>
                  <a:pt x="1823" y="618"/>
                </a:lnTo>
                <a:lnTo>
                  <a:pt x="1852" y="669"/>
                </a:lnTo>
                <a:lnTo>
                  <a:pt x="1871" y="728"/>
                </a:lnTo>
                <a:lnTo>
                  <a:pt x="1928" y="773"/>
                </a:lnTo>
                <a:lnTo>
                  <a:pt x="1947" y="838"/>
                </a:lnTo>
                <a:lnTo>
                  <a:pt x="2013" y="859"/>
                </a:lnTo>
                <a:lnTo>
                  <a:pt x="2002" y="933"/>
                </a:lnTo>
                <a:lnTo>
                  <a:pt x="2013" y="992"/>
                </a:lnTo>
                <a:lnTo>
                  <a:pt x="2186" y="989"/>
                </a:lnTo>
                <a:lnTo>
                  <a:pt x="2359" y="936"/>
                </a:lnTo>
                <a:lnTo>
                  <a:pt x="2554" y="881"/>
                </a:lnTo>
                <a:lnTo>
                  <a:pt x="2599" y="929"/>
                </a:lnTo>
                <a:lnTo>
                  <a:pt x="2643" y="989"/>
                </a:lnTo>
                <a:lnTo>
                  <a:pt x="2649" y="1049"/>
                </a:lnTo>
                <a:lnTo>
                  <a:pt x="2620" y="1113"/>
                </a:lnTo>
                <a:lnTo>
                  <a:pt x="2579" y="1179"/>
                </a:lnTo>
                <a:lnTo>
                  <a:pt x="2521" y="1261"/>
                </a:lnTo>
                <a:lnTo>
                  <a:pt x="2447" y="1315"/>
                </a:lnTo>
                <a:lnTo>
                  <a:pt x="2338" y="1376"/>
                </a:lnTo>
                <a:lnTo>
                  <a:pt x="2239" y="1409"/>
                </a:lnTo>
                <a:lnTo>
                  <a:pt x="2149" y="1433"/>
                </a:lnTo>
                <a:lnTo>
                  <a:pt x="1834" y="1528"/>
                </a:lnTo>
                <a:lnTo>
                  <a:pt x="1473" y="1815"/>
                </a:lnTo>
                <a:lnTo>
                  <a:pt x="1325" y="1640"/>
                </a:lnTo>
                <a:lnTo>
                  <a:pt x="1249" y="1651"/>
                </a:lnTo>
                <a:lnTo>
                  <a:pt x="1206" y="1624"/>
                </a:lnTo>
                <a:lnTo>
                  <a:pt x="1171" y="1632"/>
                </a:lnTo>
                <a:lnTo>
                  <a:pt x="1181" y="1673"/>
                </a:lnTo>
                <a:lnTo>
                  <a:pt x="1169" y="1713"/>
                </a:lnTo>
                <a:lnTo>
                  <a:pt x="1136" y="1736"/>
                </a:lnTo>
                <a:lnTo>
                  <a:pt x="1078" y="1744"/>
                </a:lnTo>
                <a:lnTo>
                  <a:pt x="1012" y="1588"/>
                </a:lnTo>
                <a:lnTo>
                  <a:pt x="872" y="1409"/>
                </a:lnTo>
                <a:lnTo>
                  <a:pt x="702" y="1270"/>
                </a:lnTo>
                <a:lnTo>
                  <a:pt x="644" y="1278"/>
                </a:lnTo>
                <a:lnTo>
                  <a:pt x="597" y="1241"/>
                </a:lnTo>
                <a:lnTo>
                  <a:pt x="547" y="1190"/>
                </a:lnTo>
                <a:lnTo>
                  <a:pt x="547" y="1102"/>
                </a:lnTo>
                <a:lnTo>
                  <a:pt x="490" y="1080"/>
                </a:lnTo>
                <a:lnTo>
                  <a:pt x="520" y="1035"/>
                </a:lnTo>
                <a:lnTo>
                  <a:pt x="502" y="1008"/>
                </a:lnTo>
                <a:lnTo>
                  <a:pt x="424" y="859"/>
                </a:lnTo>
                <a:lnTo>
                  <a:pt x="339" y="830"/>
                </a:lnTo>
                <a:lnTo>
                  <a:pt x="313" y="773"/>
                </a:lnTo>
                <a:lnTo>
                  <a:pt x="292" y="712"/>
                </a:lnTo>
                <a:lnTo>
                  <a:pt x="177" y="544"/>
                </a:lnTo>
                <a:lnTo>
                  <a:pt x="123" y="501"/>
                </a:lnTo>
                <a:lnTo>
                  <a:pt x="99" y="446"/>
                </a:lnTo>
                <a:lnTo>
                  <a:pt x="59" y="410"/>
                </a:lnTo>
                <a:lnTo>
                  <a:pt x="0" y="403"/>
                </a:lnTo>
                <a:lnTo>
                  <a:pt x="6" y="370"/>
                </a:lnTo>
                <a:lnTo>
                  <a:pt x="18" y="352"/>
                </a:lnTo>
                <a:lnTo>
                  <a:pt x="10" y="335"/>
                </a:lnTo>
                <a:lnTo>
                  <a:pt x="10" y="304"/>
                </a:lnTo>
                <a:lnTo>
                  <a:pt x="20" y="280"/>
                </a:lnTo>
                <a:lnTo>
                  <a:pt x="82" y="285"/>
                </a:lnTo>
                <a:lnTo>
                  <a:pt x="113" y="280"/>
                </a:lnTo>
                <a:lnTo>
                  <a:pt x="179" y="258"/>
                </a:lnTo>
                <a:lnTo>
                  <a:pt x="273" y="264"/>
                </a:lnTo>
                <a:lnTo>
                  <a:pt x="323" y="235"/>
                </a:lnTo>
                <a:lnTo>
                  <a:pt x="383" y="226"/>
                </a:lnTo>
                <a:lnTo>
                  <a:pt x="415" y="205"/>
                </a:lnTo>
                <a:lnTo>
                  <a:pt x="292" y="29"/>
                </a:lnTo>
                <a:close/>
              </a:path>
            </a:pathLst>
          </a:custGeom>
          <a:solidFill>
            <a:srgbClr val="00FF00"/>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7" name="Google Shape;237;p21"/>
          <p:cNvSpPr/>
          <p:nvPr/>
        </p:nvSpPr>
        <p:spPr>
          <a:xfrm>
            <a:off x="2743201" y="3581400"/>
            <a:ext cx="238125" cy="534988"/>
          </a:xfrm>
          <a:custGeom>
            <a:rect b="b" l="l" r="r" t="t"/>
            <a:pathLst>
              <a:path extrusionOk="0" h="456" w="218">
                <a:moveTo>
                  <a:pt x="158" y="0"/>
                </a:moveTo>
                <a:lnTo>
                  <a:pt x="127" y="34"/>
                </a:lnTo>
                <a:lnTo>
                  <a:pt x="105" y="63"/>
                </a:lnTo>
                <a:lnTo>
                  <a:pt x="90" y="128"/>
                </a:lnTo>
                <a:lnTo>
                  <a:pt x="57" y="167"/>
                </a:lnTo>
                <a:lnTo>
                  <a:pt x="26" y="187"/>
                </a:lnTo>
                <a:lnTo>
                  <a:pt x="0" y="219"/>
                </a:lnTo>
                <a:lnTo>
                  <a:pt x="8" y="259"/>
                </a:lnTo>
                <a:lnTo>
                  <a:pt x="16" y="303"/>
                </a:lnTo>
                <a:lnTo>
                  <a:pt x="35" y="368"/>
                </a:lnTo>
                <a:lnTo>
                  <a:pt x="53" y="402"/>
                </a:lnTo>
                <a:lnTo>
                  <a:pt x="55" y="456"/>
                </a:lnTo>
                <a:lnTo>
                  <a:pt x="70" y="455"/>
                </a:lnTo>
                <a:lnTo>
                  <a:pt x="119" y="426"/>
                </a:lnTo>
                <a:lnTo>
                  <a:pt x="144" y="386"/>
                </a:lnTo>
                <a:lnTo>
                  <a:pt x="133" y="338"/>
                </a:lnTo>
                <a:lnTo>
                  <a:pt x="148" y="283"/>
                </a:lnTo>
                <a:lnTo>
                  <a:pt x="171" y="256"/>
                </a:lnTo>
                <a:lnTo>
                  <a:pt x="166" y="235"/>
                </a:lnTo>
                <a:lnTo>
                  <a:pt x="131" y="232"/>
                </a:lnTo>
                <a:lnTo>
                  <a:pt x="105" y="226"/>
                </a:lnTo>
                <a:lnTo>
                  <a:pt x="109" y="194"/>
                </a:lnTo>
                <a:lnTo>
                  <a:pt x="121" y="173"/>
                </a:lnTo>
                <a:lnTo>
                  <a:pt x="164" y="165"/>
                </a:lnTo>
                <a:lnTo>
                  <a:pt x="146" y="138"/>
                </a:lnTo>
                <a:lnTo>
                  <a:pt x="160" y="108"/>
                </a:lnTo>
                <a:lnTo>
                  <a:pt x="199" y="84"/>
                </a:lnTo>
                <a:lnTo>
                  <a:pt x="193" y="48"/>
                </a:lnTo>
                <a:lnTo>
                  <a:pt x="218" y="12"/>
                </a:lnTo>
                <a:lnTo>
                  <a:pt x="158" y="0"/>
                </a:lnTo>
                <a:close/>
              </a:path>
            </a:pathLst>
          </a:custGeom>
          <a:solidFill>
            <a:srgbClr val="007F9F"/>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8" name="Google Shape;238;p21"/>
          <p:cNvSpPr/>
          <p:nvPr/>
        </p:nvSpPr>
        <p:spPr>
          <a:xfrm>
            <a:off x="2873376" y="3495676"/>
            <a:ext cx="193675" cy="163513"/>
          </a:xfrm>
          <a:custGeom>
            <a:rect b="b" l="l" r="r" t="t"/>
            <a:pathLst>
              <a:path extrusionOk="0" h="138" w="177">
                <a:moveTo>
                  <a:pt x="70" y="0"/>
                </a:moveTo>
                <a:lnTo>
                  <a:pt x="161" y="10"/>
                </a:lnTo>
                <a:lnTo>
                  <a:pt x="177" y="21"/>
                </a:lnTo>
                <a:lnTo>
                  <a:pt x="156" y="48"/>
                </a:lnTo>
                <a:lnTo>
                  <a:pt x="107" y="77"/>
                </a:lnTo>
                <a:lnTo>
                  <a:pt x="78" y="110"/>
                </a:lnTo>
                <a:lnTo>
                  <a:pt x="60" y="138"/>
                </a:lnTo>
                <a:lnTo>
                  <a:pt x="0" y="130"/>
                </a:lnTo>
                <a:lnTo>
                  <a:pt x="10" y="82"/>
                </a:lnTo>
                <a:lnTo>
                  <a:pt x="54" y="38"/>
                </a:lnTo>
                <a:lnTo>
                  <a:pt x="70" y="0"/>
                </a:lnTo>
                <a:close/>
              </a:path>
            </a:pathLst>
          </a:custGeom>
          <a:solidFill>
            <a:srgbClr val="FF9F00"/>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9" name="Google Shape;239;p21"/>
          <p:cNvSpPr/>
          <p:nvPr/>
        </p:nvSpPr>
        <p:spPr>
          <a:xfrm>
            <a:off x="2928938" y="3073401"/>
            <a:ext cx="977900" cy="620713"/>
          </a:xfrm>
          <a:custGeom>
            <a:rect b="b" l="l" r="r" t="t"/>
            <a:pathLst>
              <a:path extrusionOk="0" h="528" w="895">
                <a:moveTo>
                  <a:pt x="895" y="69"/>
                </a:moveTo>
                <a:lnTo>
                  <a:pt x="854" y="2"/>
                </a:lnTo>
                <a:lnTo>
                  <a:pt x="696" y="42"/>
                </a:lnTo>
                <a:lnTo>
                  <a:pt x="572" y="11"/>
                </a:lnTo>
                <a:lnTo>
                  <a:pt x="434" y="40"/>
                </a:lnTo>
                <a:lnTo>
                  <a:pt x="327" y="26"/>
                </a:lnTo>
                <a:lnTo>
                  <a:pt x="243" y="0"/>
                </a:lnTo>
                <a:lnTo>
                  <a:pt x="198" y="42"/>
                </a:lnTo>
                <a:lnTo>
                  <a:pt x="97" y="35"/>
                </a:lnTo>
                <a:lnTo>
                  <a:pt x="52" y="150"/>
                </a:lnTo>
                <a:lnTo>
                  <a:pt x="33" y="229"/>
                </a:lnTo>
                <a:lnTo>
                  <a:pt x="35" y="266"/>
                </a:lnTo>
                <a:lnTo>
                  <a:pt x="121" y="274"/>
                </a:lnTo>
                <a:lnTo>
                  <a:pt x="140" y="286"/>
                </a:lnTo>
                <a:lnTo>
                  <a:pt x="72" y="341"/>
                </a:lnTo>
                <a:lnTo>
                  <a:pt x="0" y="430"/>
                </a:lnTo>
                <a:lnTo>
                  <a:pt x="0" y="480"/>
                </a:lnTo>
                <a:lnTo>
                  <a:pt x="78" y="480"/>
                </a:lnTo>
                <a:lnTo>
                  <a:pt x="74" y="458"/>
                </a:lnTo>
                <a:lnTo>
                  <a:pt x="245" y="528"/>
                </a:lnTo>
                <a:lnTo>
                  <a:pt x="410" y="437"/>
                </a:lnTo>
                <a:lnTo>
                  <a:pt x="591" y="370"/>
                </a:lnTo>
                <a:lnTo>
                  <a:pt x="685" y="210"/>
                </a:lnTo>
                <a:lnTo>
                  <a:pt x="716" y="160"/>
                </a:lnTo>
                <a:lnTo>
                  <a:pt x="795" y="94"/>
                </a:lnTo>
                <a:lnTo>
                  <a:pt x="869" y="75"/>
                </a:lnTo>
                <a:lnTo>
                  <a:pt x="895" y="69"/>
                </a:lnTo>
                <a:close/>
              </a:path>
            </a:pathLst>
          </a:custGeom>
          <a:solidFill>
            <a:srgbClr val="BF7F3F"/>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21"/>
          <p:cNvSpPr/>
          <p:nvPr/>
        </p:nvSpPr>
        <p:spPr>
          <a:xfrm>
            <a:off x="2209800" y="2362200"/>
            <a:ext cx="1798638" cy="838200"/>
          </a:xfrm>
          <a:custGeom>
            <a:rect b="b" l="l" r="r" t="t"/>
            <a:pathLst>
              <a:path extrusionOk="0" h="671" w="1645">
                <a:moveTo>
                  <a:pt x="628" y="625"/>
                </a:moveTo>
                <a:lnTo>
                  <a:pt x="558" y="540"/>
                </a:lnTo>
                <a:lnTo>
                  <a:pt x="570" y="491"/>
                </a:lnTo>
                <a:lnTo>
                  <a:pt x="628" y="462"/>
                </a:lnTo>
                <a:lnTo>
                  <a:pt x="640" y="412"/>
                </a:lnTo>
                <a:lnTo>
                  <a:pt x="601" y="387"/>
                </a:lnTo>
                <a:lnTo>
                  <a:pt x="544" y="392"/>
                </a:lnTo>
                <a:lnTo>
                  <a:pt x="437" y="427"/>
                </a:lnTo>
                <a:lnTo>
                  <a:pt x="385" y="417"/>
                </a:lnTo>
                <a:lnTo>
                  <a:pt x="365" y="382"/>
                </a:lnTo>
                <a:lnTo>
                  <a:pt x="301" y="376"/>
                </a:lnTo>
                <a:lnTo>
                  <a:pt x="212" y="436"/>
                </a:lnTo>
                <a:lnTo>
                  <a:pt x="142" y="500"/>
                </a:lnTo>
                <a:lnTo>
                  <a:pt x="0" y="532"/>
                </a:lnTo>
                <a:lnTo>
                  <a:pt x="6" y="0"/>
                </a:lnTo>
                <a:lnTo>
                  <a:pt x="1410" y="0"/>
                </a:lnTo>
                <a:lnTo>
                  <a:pt x="1408" y="85"/>
                </a:lnTo>
                <a:lnTo>
                  <a:pt x="1534" y="144"/>
                </a:lnTo>
                <a:lnTo>
                  <a:pt x="1466" y="201"/>
                </a:lnTo>
                <a:lnTo>
                  <a:pt x="1519" y="318"/>
                </a:lnTo>
                <a:lnTo>
                  <a:pt x="1608" y="366"/>
                </a:lnTo>
                <a:lnTo>
                  <a:pt x="1645" y="441"/>
                </a:lnTo>
                <a:lnTo>
                  <a:pt x="1637" y="545"/>
                </a:lnTo>
                <a:lnTo>
                  <a:pt x="1577" y="580"/>
                </a:lnTo>
                <a:lnTo>
                  <a:pt x="1552" y="671"/>
                </a:lnTo>
                <a:lnTo>
                  <a:pt x="1478" y="641"/>
                </a:lnTo>
                <a:lnTo>
                  <a:pt x="1379" y="656"/>
                </a:lnTo>
                <a:lnTo>
                  <a:pt x="1340" y="590"/>
                </a:lnTo>
                <a:lnTo>
                  <a:pt x="1182" y="630"/>
                </a:lnTo>
                <a:lnTo>
                  <a:pt x="1060" y="598"/>
                </a:lnTo>
                <a:lnTo>
                  <a:pt x="920" y="627"/>
                </a:lnTo>
                <a:lnTo>
                  <a:pt x="811" y="612"/>
                </a:lnTo>
                <a:lnTo>
                  <a:pt x="729" y="588"/>
                </a:lnTo>
                <a:lnTo>
                  <a:pt x="686" y="628"/>
                </a:lnTo>
                <a:lnTo>
                  <a:pt x="628" y="625"/>
                </a:lnTo>
                <a:close/>
              </a:path>
            </a:pathLst>
          </a:custGeom>
          <a:solidFill>
            <a:srgbClr val="2E75B5"/>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j0205462" id="241" name="Google Shape;241;p21"/>
          <p:cNvPicPr preferRelativeResize="0"/>
          <p:nvPr>
            <p:ph idx="4294967295" type="body"/>
          </p:nvPr>
        </p:nvPicPr>
        <p:blipFill rotWithShape="1">
          <a:blip r:embed="rId3">
            <a:alphaModFix/>
          </a:blip>
          <a:srcRect b="0" l="0" r="0" t="0"/>
          <a:stretch/>
        </p:blipFill>
        <p:spPr>
          <a:xfrm>
            <a:off x="1657817" y="3100389"/>
            <a:ext cx="1066800" cy="884237"/>
          </a:xfrm>
          <a:prstGeom prst="rect">
            <a:avLst/>
          </a:prstGeom>
          <a:noFill/>
          <a:ln>
            <a:noFill/>
          </a:ln>
        </p:spPr>
      </p:pic>
      <p:sp>
        <p:nvSpPr>
          <p:cNvPr id="242" name="Google Shape;242;p21"/>
          <p:cNvSpPr/>
          <p:nvPr/>
        </p:nvSpPr>
        <p:spPr>
          <a:xfrm>
            <a:off x="2362200" y="4572000"/>
            <a:ext cx="3581400" cy="1828800"/>
          </a:xfrm>
          <a:custGeom>
            <a:rect b="b" l="l" r="r" t="t"/>
            <a:pathLst>
              <a:path extrusionOk="0" h="868" w="1693">
                <a:moveTo>
                  <a:pt x="35" y="112"/>
                </a:moveTo>
                <a:cubicBezTo>
                  <a:pt x="32" y="97"/>
                  <a:pt x="0" y="0"/>
                  <a:pt x="6" y="9"/>
                </a:cubicBezTo>
                <a:cubicBezTo>
                  <a:pt x="12" y="18"/>
                  <a:pt x="43" y="106"/>
                  <a:pt x="70" y="164"/>
                </a:cubicBezTo>
                <a:cubicBezTo>
                  <a:pt x="97" y="222"/>
                  <a:pt x="84" y="272"/>
                  <a:pt x="170" y="360"/>
                </a:cubicBezTo>
                <a:cubicBezTo>
                  <a:pt x="256" y="448"/>
                  <a:pt x="451" y="612"/>
                  <a:pt x="588" y="692"/>
                </a:cubicBezTo>
                <a:cubicBezTo>
                  <a:pt x="726" y="772"/>
                  <a:pt x="810" y="818"/>
                  <a:pt x="994" y="843"/>
                </a:cubicBezTo>
                <a:cubicBezTo>
                  <a:pt x="1177" y="868"/>
                  <a:pt x="1576" y="843"/>
                  <a:pt x="1693" y="843"/>
                </a:cubicBezTo>
              </a:path>
            </a:pathLst>
          </a:custGeom>
          <a:noFill/>
          <a:ln cap="flat" cmpd="sng" w="76200">
            <a:solidFill>
              <a:srgbClr val="FF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21"/>
          <p:cNvSpPr/>
          <p:nvPr/>
        </p:nvSpPr>
        <p:spPr>
          <a:xfrm>
            <a:off x="3810000" y="1752600"/>
            <a:ext cx="6324600" cy="1066800"/>
          </a:xfrm>
          <a:custGeom>
            <a:rect b="b" l="l" r="r" t="t"/>
            <a:pathLst>
              <a:path extrusionOk="0" h="672" w="3984">
                <a:moveTo>
                  <a:pt x="3984" y="672"/>
                </a:moveTo>
                <a:cubicBezTo>
                  <a:pt x="3892" y="492"/>
                  <a:pt x="3799" y="352"/>
                  <a:pt x="3600" y="240"/>
                </a:cubicBezTo>
                <a:cubicBezTo>
                  <a:pt x="3401" y="128"/>
                  <a:pt x="3238" y="0"/>
                  <a:pt x="2789" y="2"/>
                </a:cubicBezTo>
                <a:cubicBezTo>
                  <a:pt x="2340" y="4"/>
                  <a:pt x="1371" y="159"/>
                  <a:pt x="906" y="255"/>
                </a:cubicBezTo>
                <a:cubicBezTo>
                  <a:pt x="441" y="351"/>
                  <a:pt x="189" y="509"/>
                  <a:pt x="0" y="576"/>
                </a:cubicBezTo>
              </a:path>
            </a:pathLst>
          </a:custGeom>
          <a:noFill/>
          <a:ln cap="flat" cmpd="sng" w="76200">
            <a:solidFill>
              <a:srgbClr val="FF0000"/>
            </a:solidFill>
            <a:prstDash val="dot"/>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4" name="Google Shape;244;p21"/>
          <p:cNvSpPr/>
          <p:nvPr/>
        </p:nvSpPr>
        <p:spPr>
          <a:xfrm>
            <a:off x="6477000" y="5562600"/>
            <a:ext cx="3048000" cy="762000"/>
          </a:xfrm>
          <a:custGeom>
            <a:rect b="b" l="l" r="r" t="t"/>
            <a:pathLst>
              <a:path extrusionOk="0" h="480" w="1920">
                <a:moveTo>
                  <a:pt x="0" y="480"/>
                </a:moveTo>
                <a:cubicBezTo>
                  <a:pt x="207" y="476"/>
                  <a:pt x="414" y="472"/>
                  <a:pt x="606" y="456"/>
                </a:cubicBezTo>
                <a:cubicBezTo>
                  <a:pt x="799" y="440"/>
                  <a:pt x="988" y="423"/>
                  <a:pt x="1157" y="385"/>
                </a:cubicBezTo>
                <a:cubicBezTo>
                  <a:pt x="1326" y="347"/>
                  <a:pt x="1521" y="268"/>
                  <a:pt x="1620" y="226"/>
                </a:cubicBezTo>
                <a:cubicBezTo>
                  <a:pt x="1719" y="184"/>
                  <a:pt x="1702" y="169"/>
                  <a:pt x="1752" y="131"/>
                </a:cubicBezTo>
                <a:cubicBezTo>
                  <a:pt x="1802" y="93"/>
                  <a:pt x="1885" y="27"/>
                  <a:pt x="1920" y="0"/>
                </a:cubicBezTo>
              </a:path>
            </a:pathLst>
          </a:custGeom>
          <a:noFill/>
          <a:ln cap="flat" cmpd="sng" w="76200">
            <a:solidFill>
              <a:srgbClr val="FF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21"/>
          <p:cNvSpPr txBox="1"/>
          <p:nvPr/>
        </p:nvSpPr>
        <p:spPr>
          <a:xfrm>
            <a:off x="2286000" y="1676401"/>
            <a:ext cx="12192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Arial"/>
                <a:ea typeface="Arial"/>
                <a:cs typeface="Arial"/>
                <a:sym typeface="Arial"/>
              </a:rPr>
              <a:t>lira</a:t>
            </a:r>
            <a:endParaRPr/>
          </a:p>
        </p:txBody>
      </p:sp>
      <p:sp>
        <p:nvSpPr>
          <p:cNvPr id="246" name="Google Shape;246;p21"/>
          <p:cNvSpPr txBox="1"/>
          <p:nvPr/>
        </p:nvSpPr>
        <p:spPr>
          <a:xfrm>
            <a:off x="9677400" y="1752600"/>
            <a:ext cx="1219200" cy="579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Helvetica Neue"/>
                <a:ea typeface="Helvetica Neue"/>
                <a:cs typeface="Helvetica Neue"/>
                <a:sym typeface="Helvetica Neue"/>
              </a:rPr>
              <a:t>won</a:t>
            </a:r>
            <a:endParaRPr/>
          </a:p>
        </p:txBody>
      </p:sp>
      <p:sp>
        <p:nvSpPr>
          <p:cNvPr id="247" name="Google Shape;247;p21"/>
          <p:cNvSpPr/>
          <p:nvPr/>
        </p:nvSpPr>
        <p:spPr>
          <a:xfrm>
            <a:off x="6934201" y="2362200"/>
            <a:ext cx="3071813" cy="2374900"/>
          </a:xfrm>
          <a:custGeom>
            <a:rect b="b" l="l" r="r" t="t"/>
            <a:pathLst>
              <a:path extrusionOk="0" h="1546" w="1935">
                <a:moveTo>
                  <a:pt x="1376" y="0"/>
                </a:moveTo>
                <a:lnTo>
                  <a:pt x="1275" y="80"/>
                </a:lnTo>
                <a:lnTo>
                  <a:pt x="1312" y="92"/>
                </a:lnTo>
                <a:lnTo>
                  <a:pt x="1310" y="166"/>
                </a:lnTo>
                <a:lnTo>
                  <a:pt x="1323" y="206"/>
                </a:lnTo>
                <a:lnTo>
                  <a:pt x="1258" y="248"/>
                </a:lnTo>
                <a:lnTo>
                  <a:pt x="1286" y="328"/>
                </a:lnTo>
                <a:lnTo>
                  <a:pt x="1352" y="299"/>
                </a:lnTo>
                <a:lnTo>
                  <a:pt x="1387" y="299"/>
                </a:lnTo>
                <a:lnTo>
                  <a:pt x="1371" y="339"/>
                </a:lnTo>
                <a:lnTo>
                  <a:pt x="1347" y="381"/>
                </a:lnTo>
                <a:lnTo>
                  <a:pt x="1332" y="423"/>
                </a:lnTo>
                <a:lnTo>
                  <a:pt x="1319" y="457"/>
                </a:lnTo>
                <a:lnTo>
                  <a:pt x="1290" y="478"/>
                </a:lnTo>
                <a:lnTo>
                  <a:pt x="1247" y="476"/>
                </a:lnTo>
                <a:lnTo>
                  <a:pt x="1244" y="518"/>
                </a:lnTo>
                <a:lnTo>
                  <a:pt x="1269" y="535"/>
                </a:lnTo>
                <a:lnTo>
                  <a:pt x="1251" y="598"/>
                </a:lnTo>
                <a:lnTo>
                  <a:pt x="1225" y="611"/>
                </a:lnTo>
                <a:lnTo>
                  <a:pt x="1170" y="659"/>
                </a:lnTo>
                <a:lnTo>
                  <a:pt x="1124" y="691"/>
                </a:lnTo>
                <a:lnTo>
                  <a:pt x="1041" y="701"/>
                </a:lnTo>
                <a:lnTo>
                  <a:pt x="901" y="701"/>
                </a:lnTo>
                <a:lnTo>
                  <a:pt x="871" y="716"/>
                </a:lnTo>
                <a:lnTo>
                  <a:pt x="829" y="737"/>
                </a:lnTo>
                <a:lnTo>
                  <a:pt x="794" y="708"/>
                </a:lnTo>
                <a:lnTo>
                  <a:pt x="753" y="691"/>
                </a:lnTo>
                <a:lnTo>
                  <a:pt x="722" y="678"/>
                </a:lnTo>
                <a:lnTo>
                  <a:pt x="683" y="668"/>
                </a:lnTo>
                <a:lnTo>
                  <a:pt x="582" y="668"/>
                </a:lnTo>
                <a:lnTo>
                  <a:pt x="582" y="636"/>
                </a:lnTo>
                <a:lnTo>
                  <a:pt x="562" y="588"/>
                </a:lnTo>
                <a:lnTo>
                  <a:pt x="521" y="575"/>
                </a:lnTo>
                <a:lnTo>
                  <a:pt x="457" y="564"/>
                </a:lnTo>
                <a:lnTo>
                  <a:pt x="438" y="545"/>
                </a:lnTo>
                <a:lnTo>
                  <a:pt x="392" y="571"/>
                </a:lnTo>
                <a:lnTo>
                  <a:pt x="379" y="626"/>
                </a:lnTo>
                <a:lnTo>
                  <a:pt x="302" y="636"/>
                </a:lnTo>
                <a:lnTo>
                  <a:pt x="226" y="853"/>
                </a:lnTo>
                <a:lnTo>
                  <a:pt x="237" y="864"/>
                </a:lnTo>
                <a:lnTo>
                  <a:pt x="180" y="881"/>
                </a:lnTo>
                <a:lnTo>
                  <a:pt x="143" y="900"/>
                </a:lnTo>
                <a:lnTo>
                  <a:pt x="110" y="918"/>
                </a:lnTo>
                <a:lnTo>
                  <a:pt x="68" y="918"/>
                </a:lnTo>
                <a:lnTo>
                  <a:pt x="35" y="939"/>
                </a:lnTo>
                <a:lnTo>
                  <a:pt x="0" y="965"/>
                </a:lnTo>
                <a:lnTo>
                  <a:pt x="25" y="1011"/>
                </a:lnTo>
                <a:lnTo>
                  <a:pt x="55" y="1041"/>
                </a:lnTo>
                <a:lnTo>
                  <a:pt x="68" y="1057"/>
                </a:lnTo>
                <a:lnTo>
                  <a:pt x="40" y="1062"/>
                </a:lnTo>
                <a:lnTo>
                  <a:pt x="81" y="1127"/>
                </a:lnTo>
                <a:lnTo>
                  <a:pt x="206" y="1127"/>
                </a:lnTo>
                <a:lnTo>
                  <a:pt x="263" y="1169"/>
                </a:lnTo>
                <a:lnTo>
                  <a:pt x="234" y="1192"/>
                </a:lnTo>
                <a:lnTo>
                  <a:pt x="210" y="1203"/>
                </a:lnTo>
                <a:lnTo>
                  <a:pt x="208" y="1230"/>
                </a:lnTo>
                <a:lnTo>
                  <a:pt x="197" y="1266"/>
                </a:lnTo>
                <a:lnTo>
                  <a:pt x="210" y="1294"/>
                </a:lnTo>
                <a:lnTo>
                  <a:pt x="241" y="1338"/>
                </a:lnTo>
                <a:lnTo>
                  <a:pt x="630" y="1407"/>
                </a:lnTo>
                <a:lnTo>
                  <a:pt x="663" y="1403"/>
                </a:lnTo>
                <a:lnTo>
                  <a:pt x="678" y="1407"/>
                </a:lnTo>
                <a:lnTo>
                  <a:pt x="691" y="1392"/>
                </a:lnTo>
                <a:lnTo>
                  <a:pt x="698" y="1374"/>
                </a:lnTo>
                <a:lnTo>
                  <a:pt x="720" y="1363"/>
                </a:lnTo>
                <a:lnTo>
                  <a:pt x="777" y="1386"/>
                </a:lnTo>
                <a:lnTo>
                  <a:pt x="849" y="1333"/>
                </a:lnTo>
                <a:lnTo>
                  <a:pt x="895" y="1281"/>
                </a:lnTo>
                <a:lnTo>
                  <a:pt x="941" y="1315"/>
                </a:lnTo>
                <a:lnTo>
                  <a:pt x="962" y="1313"/>
                </a:lnTo>
                <a:lnTo>
                  <a:pt x="987" y="1327"/>
                </a:lnTo>
                <a:lnTo>
                  <a:pt x="1039" y="1306"/>
                </a:lnTo>
                <a:lnTo>
                  <a:pt x="1065" y="1329"/>
                </a:lnTo>
                <a:lnTo>
                  <a:pt x="1081" y="1359"/>
                </a:lnTo>
                <a:lnTo>
                  <a:pt x="1081" y="1412"/>
                </a:lnTo>
                <a:lnTo>
                  <a:pt x="1074" y="1454"/>
                </a:lnTo>
                <a:lnTo>
                  <a:pt x="1074" y="1489"/>
                </a:lnTo>
                <a:lnTo>
                  <a:pt x="1109" y="1473"/>
                </a:lnTo>
                <a:lnTo>
                  <a:pt x="1113" y="1462"/>
                </a:lnTo>
                <a:lnTo>
                  <a:pt x="1207" y="1546"/>
                </a:lnTo>
                <a:lnTo>
                  <a:pt x="1262" y="1483"/>
                </a:lnTo>
                <a:lnTo>
                  <a:pt x="1290" y="1473"/>
                </a:lnTo>
                <a:lnTo>
                  <a:pt x="1341" y="1456"/>
                </a:lnTo>
                <a:lnTo>
                  <a:pt x="1376" y="1439"/>
                </a:lnTo>
                <a:lnTo>
                  <a:pt x="1404" y="1437"/>
                </a:lnTo>
                <a:lnTo>
                  <a:pt x="1437" y="1416"/>
                </a:lnTo>
                <a:lnTo>
                  <a:pt x="1448" y="1416"/>
                </a:lnTo>
                <a:lnTo>
                  <a:pt x="1450" y="1426"/>
                </a:lnTo>
                <a:lnTo>
                  <a:pt x="1483" y="1439"/>
                </a:lnTo>
                <a:lnTo>
                  <a:pt x="1509" y="1439"/>
                </a:lnTo>
                <a:lnTo>
                  <a:pt x="1531" y="1433"/>
                </a:lnTo>
                <a:lnTo>
                  <a:pt x="1562" y="1424"/>
                </a:lnTo>
                <a:lnTo>
                  <a:pt x="1610" y="1424"/>
                </a:lnTo>
                <a:lnTo>
                  <a:pt x="1610" y="1451"/>
                </a:lnTo>
                <a:lnTo>
                  <a:pt x="1618" y="1458"/>
                </a:lnTo>
                <a:lnTo>
                  <a:pt x="1636" y="1458"/>
                </a:lnTo>
                <a:lnTo>
                  <a:pt x="1653" y="1443"/>
                </a:lnTo>
                <a:lnTo>
                  <a:pt x="1673" y="1416"/>
                </a:lnTo>
                <a:lnTo>
                  <a:pt x="1712" y="1405"/>
                </a:lnTo>
                <a:lnTo>
                  <a:pt x="1728" y="1403"/>
                </a:lnTo>
                <a:lnTo>
                  <a:pt x="1741" y="1392"/>
                </a:lnTo>
                <a:lnTo>
                  <a:pt x="1736" y="1373"/>
                </a:lnTo>
                <a:lnTo>
                  <a:pt x="1754" y="1348"/>
                </a:lnTo>
                <a:lnTo>
                  <a:pt x="1739" y="1327"/>
                </a:lnTo>
                <a:lnTo>
                  <a:pt x="1754" y="1293"/>
                </a:lnTo>
                <a:lnTo>
                  <a:pt x="1780" y="1291"/>
                </a:lnTo>
                <a:lnTo>
                  <a:pt x="1815" y="1279"/>
                </a:lnTo>
                <a:lnTo>
                  <a:pt x="1857" y="1251"/>
                </a:lnTo>
                <a:lnTo>
                  <a:pt x="1868" y="1230"/>
                </a:lnTo>
                <a:lnTo>
                  <a:pt x="1883" y="1192"/>
                </a:lnTo>
                <a:lnTo>
                  <a:pt x="1905" y="1131"/>
                </a:lnTo>
                <a:lnTo>
                  <a:pt x="1909" y="1097"/>
                </a:lnTo>
                <a:lnTo>
                  <a:pt x="1918" y="1062"/>
                </a:lnTo>
                <a:lnTo>
                  <a:pt x="1935" y="1005"/>
                </a:lnTo>
                <a:lnTo>
                  <a:pt x="1918" y="971"/>
                </a:lnTo>
                <a:lnTo>
                  <a:pt x="1918" y="927"/>
                </a:lnTo>
                <a:lnTo>
                  <a:pt x="1907" y="897"/>
                </a:lnTo>
                <a:lnTo>
                  <a:pt x="1881" y="885"/>
                </a:lnTo>
                <a:lnTo>
                  <a:pt x="1881" y="908"/>
                </a:lnTo>
                <a:lnTo>
                  <a:pt x="1857" y="906"/>
                </a:lnTo>
                <a:lnTo>
                  <a:pt x="1857" y="883"/>
                </a:lnTo>
                <a:lnTo>
                  <a:pt x="1870" y="861"/>
                </a:lnTo>
                <a:lnTo>
                  <a:pt x="1870" y="838"/>
                </a:lnTo>
                <a:lnTo>
                  <a:pt x="1841" y="851"/>
                </a:lnTo>
                <a:lnTo>
                  <a:pt x="1804" y="851"/>
                </a:lnTo>
                <a:lnTo>
                  <a:pt x="1793" y="840"/>
                </a:lnTo>
                <a:lnTo>
                  <a:pt x="1813" y="836"/>
                </a:lnTo>
                <a:lnTo>
                  <a:pt x="1833" y="817"/>
                </a:lnTo>
                <a:lnTo>
                  <a:pt x="1868" y="817"/>
                </a:lnTo>
                <a:lnTo>
                  <a:pt x="1839" y="792"/>
                </a:lnTo>
                <a:lnTo>
                  <a:pt x="1787" y="782"/>
                </a:lnTo>
                <a:lnTo>
                  <a:pt x="1741" y="763"/>
                </a:lnTo>
                <a:lnTo>
                  <a:pt x="1719" y="739"/>
                </a:lnTo>
                <a:lnTo>
                  <a:pt x="1701" y="723"/>
                </a:lnTo>
                <a:lnTo>
                  <a:pt x="1701" y="680"/>
                </a:lnTo>
                <a:lnTo>
                  <a:pt x="1717" y="663"/>
                </a:lnTo>
                <a:lnTo>
                  <a:pt x="1725" y="647"/>
                </a:lnTo>
                <a:lnTo>
                  <a:pt x="1752" y="626"/>
                </a:lnTo>
                <a:lnTo>
                  <a:pt x="1754" y="604"/>
                </a:lnTo>
                <a:lnTo>
                  <a:pt x="1741" y="600"/>
                </a:lnTo>
                <a:lnTo>
                  <a:pt x="1721" y="615"/>
                </a:lnTo>
                <a:lnTo>
                  <a:pt x="1662" y="624"/>
                </a:lnTo>
                <a:lnTo>
                  <a:pt x="1660" y="647"/>
                </a:lnTo>
                <a:lnTo>
                  <a:pt x="1649" y="672"/>
                </a:lnTo>
                <a:lnTo>
                  <a:pt x="1581" y="636"/>
                </a:lnTo>
                <a:lnTo>
                  <a:pt x="1570" y="598"/>
                </a:lnTo>
                <a:lnTo>
                  <a:pt x="1583" y="571"/>
                </a:lnTo>
                <a:lnTo>
                  <a:pt x="1594" y="533"/>
                </a:lnTo>
                <a:lnTo>
                  <a:pt x="1612" y="505"/>
                </a:lnTo>
                <a:lnTo>
                  <a:pt x="1636" y="486"/>
                </a:lnTo>
                <a:lnTo>
                  <a:pt x="1660" y="508"/>
                </a:lnTo>
                <a:lnTo>
                  <a:pt x="1660" y="543"/>
                </a:lnTo>
                <a:lnTo>
                  <a:pt x="1673" y="564"/>
                </a:lnTo>
                <a:lnTo>
                  <a:pt x="1677" y="577"/>
                </a:lnTo>
                <a:lnTo>
                  <a:pt x="1728" y="508"/>
                </a:lnTo>
                <a:lnTo>
                  <a:pt x="1728" y="474"/>
                </a:lnTo>
                <a:lnTo>
                  <a:pt x="1741" y="468"/>
                </a:lnTo>
                <a:lnTo>
                  <a:pt x="1741" y="447"/>
                </a:lnTo>
                <a:lnTo>
                  <a:pt x="1752" y="409"/>
                </a:lnTo>
                <a:lnTo>
                  <a:pt x="1743" y="383"/>
                </a:lnTo>
                <a:lnTo>
                  <a:pt x="1758" y="366"/>
                </a:lnTo>
                <a:lnTo>
                  <a:pt x="1809" y="352"/>
                </a:lnTo>
                <a:lnTo>
                  <a:pt x="1765" y="331"/>
                </a:lnTo>
                <a:lnTo>
                  <a:pt x="1793" y="299"/>
                </a:lnTo>
                <a:lnTo>
                  <a:pt x="1813" y="259"/>
                </a:lnTo>
                <a:lnTo>
                  <a:pt x="1841" y="269"/>
                </a:lnTo>
                <a:lnTo>
                  <a:pt x="1844" y="251"/>
                </a:lnTo>
                <a:lnTo>
                  <a:pt x="1826" y="232"/>
                </a:lnTo>
                <a:lnTo>
                  <a:pt x="1780" y="181"/>
                </a:lnTo>
                <a:lnTo>
                  <a:pt x="1767" y="160"/>
                </a:lnTo>
                <a:lnTo>
                  <a:pt x="1802" y="135"/>
                </a:lnTo>
                <a:lnTo>
                  <a:pt x="1793" y="46"/>
                </a:lnTo>
                <a:lnTo>
                  <a:pt x="1752" y="2"/>
                </a:lnTo>
                <a:lnTo>
                  <a:pt x="1725" y="2"/>
                </a:lnTo>
                <a:lnTo>
                  <a:pt x="1717" y="67"/>
                </a:lnTo>
                <a:lnTo>
                  <a:pt x="1673" y="82"/>
                </a:lnTo>
                <a:lnTo>
                  <a:pt x="1621" y="44"/>
                </a:lnTo>
                <a:lnTo>
                  <a:pt x="1518" y="82"/>
                </a:lnTo>
                <a:lnTo>
                  <a:pt x="1450" y="21"/>
                </a:lnTo>
                <a:lnTo>
                  <a:pt x="1376" y="0"/>
                </a:lnTo>
                <a:close/>
              </a:path>
            </a:pathLst>
          </a:custGeom>
          <a:solidFill>
            <a:srgbClr val="CC3300"/>
          </a:solidFill>
          <a:ln cap="flat" cmpd="sng" w="269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21"/>
          <p:cNvSpPr/>
          <p:nvPr/>
        </p:nvSpPr>
        <p:spPr>
          <a:xfrm>
            <a:off x="9982200" y="2819400"/>
            <a:ext cx="204788" cy="247650"/>
          </a:xfrm>
          <a:custGeom>
            <a:rect b="b" l="l" r="r" t="t"/>
            <a:pathLst>
              <a:path extrusionOk="0" h="162" w="129">
                <a:moveTo>
                  <a:pt x="54" y="0"/>
                </a:moveTo>
                <a:lnTo>
                  <a:pt x="0" y="34"/>
                </a:lnTo>
                <a:lnTo>
                  <a:pt x="17" y="57"/>
                </a:lnTo>
                <a:lnTo>
                  <a:pt x="17" y="69"/>
                </a:lnTo>
                <a:lnTo>
                  <a:pt x="0" y="67"/>
                </a:lnTo>
                <a:lnTo>
                  <a:pt x="0" y="93"/>
                </a:lnTo>
                <a:lnTo>
                  <a:pt x="24" y="93"/>
                </a:lnTo>
                <a:lnTo>
                  <a:pt x="41" y="118"/>
                </a:lnTo>
                <a:lnTo>
                  <a:pt x="37" y="139"/>
                </a:lnTo>
                <a:lnTo>
                  <a:pt x="67" y="162"/>
                </a:lnTo>
                <a:lnTo>
                  <a:pt x="129" y="99"/>
                </a:lnTo>
                <a:lnTo>
                  <a:pt x="118" y="34"/>
                </a:lnTo>
                <a:lnTo>
                  <a:pt x="74" y="10"/>
                </a:lnTo>
                <a:lnTo>
                  <a:pt x="54" y="0"/>
                </a:lnTo>
                <a:close/>
              </a:path>
            </a:pathLst>
          </a:custGeom>
          <a:solidFill>
            <a:srgbClr val="0000FF"/>
          </a:solidFill>
          <a:ln cap="flat" cmpd="sng" w="269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21"/>
          <p:cNvSpPr/>
          <p:nvPr/>
        </p:nvSpPr>
        <p:spPr>
          <a:xfrm>
            <a:off x="9753600" y="2446339"/>
            <a:ext cx="311150" cy="439737"/>
          </a:xfrm>
          <a:custGeom>
            <a:rect b="b" l="l" r="r" t="t"/>
            <a:pathLst>
              <a:path extrusionOk="0" h="286" w="196">
                <a:moveTo>
                  <a:pt x="102" y="12"/>
                </a:moveTo>
                <a:lnTo>
                  <a:pt x="76" y="0"/>
                </a:lnTo>
                <a:lnTo>
                  <a:pt x="48" y="46"/>
                </a:lnTo>
                <a:lnTo>
                  <a:pt x="24" y="72"/>
                </a:lnTo>
                <a:lnTo>
                  <a:pt x="63" y="95"/>
                </a:lnTo>
                <a:lnTo>
                  <a:pt x="19" y="107"/>
                </a:lnTo>
                <a:lnTo>
                  <a:pt x="2" y="128"/>
                </a:lnTo>
                <a:lnTo>
                  <a:pt x="13" y="151"/>
                </a:lnTo>
                <a:lnTo>
                  <a:pt x="0" y="190"/>
                </a:lnTo>
                <a:lnTo>
                  <a:pt x="0" y="215"/>
                </a:lnTo>
                <a:lnTo>
                  <a:pt x="39" y="215"/>
                </a:lnTo>
                <a:lnTo>
                  <a:pt x="39" y="227"/>
                </a:lnTo>
                <a:lnTo>
                  <a:pt x="52" y="253"/>
                </a:lnTo>
                <a:lnTo>
                  <a:pt x="39" y="278"/>
                </a:lnTo>
                <a:lnTo>
                  <a:pt x="63" y="286"/>
                </a:lnTo>
                <a:lnTo>
                  <a:pt x="96" y="263"/>
                </a:lnTo>
                <a:lnTo>
                  <a:pt x="144" y="253"/>
                </a:lnTo>
                <a:lnTo>
                  <a:pt x="196" y="221"/>
                </a:lnTo>
                <a:lnTo>
                  <a:pt x="196" y="210"/>
                </a:lnTo>
                <a:lnTo>
                  <a:pt x="155" y="198"/>
                </a:lnTo>
                <a:lnTo>
                  <a:pt x="118" y="194"/>
                </a:lnTo>
                <a:lnTo>
                  <a:pt x="120" y="185"/>
                </a:lnTo>
                <a:lnTo>
                  <a:pt x="100" y="151"/>
                </a:lnTo>
                <a:lnTo>
                  <a:pt x="118" y="141"/>
                </a:lnTo>
                <a:lnTo>
                  <a:pt x="131" y="86"/>
                </a:lnTo>
                <a:lnTo>
                  <a:pt x="100" y="48"/>
                </a:lnTo>
                <a:lnTo>
                  <a:pt x="102" y="12"/>
                </a:lnTo>
                <a:close/>
              </a:path>
            </a:pathLst>
          </a:custGeom>
          <a:solidFill>
            <a:srgbClr val="9F3F00"/>
          </a:solidFill>
          <a:ln cap="flat" cmpd="sng" w="2697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21"/>
          <p:cNvSpPr/>
          <p:nvPr/>
        </p:nvSpPr>
        <p:spPr>
          <a:xfrm>
            <a:off x="3352801" y="3124200"/>
            <a:ext cx="1128713" cy="1092200"/>
          </a:xfrm>
          <a:custGeom>
            <a:rect b="b" l="l" r="r" t="t"/>
            <a:pathLst>
              <a:path extrusionOk="0" h="929" w="1033">
                <a:moveTo>
                  <a:pt x="183" y="314"/>
                </a:moveTo>
                <a:lnTo>
                  <a:pt x="308" y="106"/>
                </a:lnTo>
                <a:lnTo>
                  <a:pt x="391" y="39"/>
                </a:lnTo>
                <a:lnTo>
                  <a:pt x="467" y="20"/>
                </a:lnTo>
                <a:lnTo>
                  <a:pt x="588" y="0"/>
                </a:lnTo>
                <a:lnTo>
                  <a:pt x="658" y="32"/>
                </a:lnTo>
                <a:lnTo>
                  <a:pt x="730" y="63"/>
                </a:lnTo>
                <a:lnTo>
                  <a:pt x="755" y="98"/>
                </a:lnTo>
                <a:lnTo>
                  <a:pt x="732" y="146"/>
                </a:lnTo>
                <a:lnTo>
                  <a:pt x="773" y="181"/>
                </a:lnTo>
                <a:lnTo>
                  <a:pt x="712" y="229"/>
                </a:lnTo>
                <a:lnTo>
                  <a:pt x="648" y="267"/>
                </a:lnTo>
                <a:lnTo>
                  <a:pt x="640" y="301"/>
                </a:lnTo>
                <a:lnTo>
                  <a:pt x="646" y="336"/>
                </a:lnTo>
                <a:lnTo>
                  <a:pt x="679" y="360"/>
                </a:lnTo>
                <a:lnTo>
                  <a:pt x="726" y="370"/>
                </a:lnTo>
                <a:lnTo>
                  <a:pt x="749" y="381"/>
                </a:lnTo>
                <a:lnTo>
                  <a:pt x="763" y="405"/>
                </a:lnTo>
                <a:lnTo>
                  <a:pt x="788" y="440"/>
                </a:lnTo>
                <a:lnTo>
                  <a:pt x="819" y="467"/>
                </a:lnTo>
                <a:lnTo>
                  <a:pt x="883" y="480"/>
                </a:lnTo>
                <a:lnTo>
                  <a:pt x="961" y="510"/>
                </a:lnTo>
                <a:lnTo>
                  <a:pt x="992" y="562"/>
                </a:lnTo>
                <a:lnTo>
                  <a:pt x="973" y="638"/>
                </a:lnTo>
                <a:lnTo>
                  <a:pt x="975" y="680"/>
                </a:lnTo>
                <a:lnTo>
                  <a:pt x="994" y="723"/>
                </a:lnTo>
                <a:lnTo>
                  <a:pt x="1022" y="741"/>
                </a:lnTo>
                <a:lnTo>
                  <a:pt x="1033" y="760"/>
                </a:lnTo>
                <a:lnTo>
                  <a:pt x="967" y="766"/>
                </a:lnTo>
                <a:lnTo>
                  <a:pt x="911" y="787"/>
                </a:lnTo>
                <a:lnTo>
                  <a:pt x="868" y="835"/>
                </a:lnTo>
                <a:lnTo>
                  <a:pt x="845" y="867"/>
                </a:lnTo>
                <a:lnTo>
                  <a:pt x="856" y="893"/>
                </a:lnTo>
                <a:lnTo>
                  <a:pt x="850" y="896"/>
                </a:lnTo>
                <a:lnTo>
                  <a:pt x="833" y="893"/>
                </a:lnTo>
                <a:lnTo>
                  <a:pt x="730" y="929"/>
                </a:lnTo>
                <a:lnTo>
                  <a:pt x="648" y="902"/>
                </a:lnTo>
                <a:lnTo>
                  <a:pt x="531" y="864"/>
                </a:lnTo>
                <a:lnTo>
                  <a:pt x="514" y="766"/>
                </a:lnTo>
                <a:lnTo>
                  <a:pt x="454" y="770"/>
                </a:lnTo>
                <a:lnTo>
                  <a:pt x="469" y="710"/>
                </a:lnTo>
                <a:lnTo>
                  <a:pt x="74" y="517"/>
                </a:lnTo>
                <a:lnTo>
                  <a:pt x="0" y="386"/>
                </a:lnTo>
                <a:lnTo>
                  <a:pt x="183" y="314"/>
                </a:lnTo>
                <a:close/>
              </a:path>
            </a:pathLst>
          </a:custGeom>
          <a:solidFill>
            <a:srgbClr val="008000"/>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21"/>
          <p:cNvSpPr/>
          <p:nvPr/>
        </p:nvSpPr>
        <p:spPr>
          <a:xfrm>
            <a:off x="2819400" y="3733800"/>
            <a:ext cx="2895600" cy="2133600"/>
          </a:xfrm>
          <a:custGeom>
            <a:rect b="b" l="l" r="r" t="t"/>
            <a:pathLst>
              <a:path extrusionOk="0" h="1815" w="2649">
                <a:moveTo>
                  <a:pt x="292" y="29"/>
                </a:moveTo>
                <a:lnTo>
                  <a:pt x="597" y="0"/>
                </a:lnTo>
                <a:lnTo>
                  <a:pt x="996" y="194"/>
                </a:lnTo>
                <a:lnTo>
                  <a:pt x="979" y="251"/>
                </a:lnTo>
                <a:lnTo>
                  <a:pt x="1039" y="250"/>
                </a:lnTo>
                <a:lnTo>
                  <a:pt x="1060" y="346"/>
                </a:lnTo>
                <a:lnTo>
                  <a:pt x="1257" y="413"/>
                </a:lnTo>
                <a:lnTo>
                  <a:pt x="1389" y="375"/>
                </a:lnTo>
                <a:lnTo>
                  <a:pt x="1513" y="389"/>
                </a:lnTo>
                <a:lnTo>
                  <a:pt x="1539" y="413"/>
                </a:lnTo>
                <a:lnTo>
                  <a:pt x="1605" y="413"/>
                </a:lnTo>
                <a:lnTo>
                  <a:pt x="1636" y="456"/>
                </a:lnTo>
                <a:lnTo>
                  <a:pt x="1768" y="558"/>
                </a:lnTo>
                <a:lnTo>
                  <a:pt x="1823" y="618"/>
                </a:lnTo>
                <a:lnTo>
                  <a:pt x="1852" y="669"/>
                </a:lnTo>
                <a:lnTo>
                  <a:pt x="1871" y="728"/>
                </a:lnTo>
                <a:lnTo>
                  <a:pt x="1928" y="773"/>
                </a:lnTo>
                <a:lnTo>
                  <a:pt x="1947" y="838"/>
                </a:lnTo>
                <a:lnTo>
                  <a:pt x="2013" y="859"/>
                </a:lnTo>
                <a:lnTo>
                  <a:pt x="2002" y="933"/>
                </a:lnTo>
                <a:lnTo>
                  <a:pt x="2013" y="992"/>
                </a:lnTo>
                <a:lnTo>
                  <a:pt x="2186" y="989"/>
                </a:lnTo>
                <a:lnTo>
                  <a:pt x="2359" y="936"/>
                </a:lnTo>
                <a:lnTo>
                  <a:pt x="2554" y="881"/>
                </a:lnTo>
                <a:lnTo>
                  <a:pt x="2599" y="929"/>
                </a:lnTo>
                <a:lnTo>
                  <a:pt x="2643" y="989"/>
                </a:lnTo>
                <a:lnTo>
                  <a:pt x="2649" y="1049"/>
                </a:lnTo>
                <a:lnTo>
                  <a:pt x="2620" y="1113"/>
                </a:lnTo>
                <a:lnTo>
                  <a:pt x="2579" y="1179"/>
                </a:lnTo>
                <a:lnTo>
                  <a:pt x="2521" y="1261"/>
                </a:lnTo>
                <a:lnTo>
                  <a:pt x="2447" y="1315"/>
                </a:lnTo>
                <a:lnTo>
                  <a:pt x="2338" y="1376"/>
                </a:lnTo>
                <a:lnTo>
                  <a:pt x="2239" y="1409"/>
                </a:lnTo>
                <a:lnTo>
                  <a:pt x="2149" y="1433"/>
                </a:lnTo>
                <a:lnTo>
                  <a:pt x="1834" y="1528"/>
                </a:lnTo>
                <a:lnTo>
                  <a:pt x="1473" y="1815"/>
                </a:lnTo>
                <a:lnTo>
                  <a:pt x="1325" y="1640"/>
                </a:lnTo>
                <a:lnTo>
                  <a:pt x="1249" y="1651"/>
                </a:lnTo>
                <a:lnTo>
                  <a:pt x="1206" y="1624"/>
                </a:lnTo>
                <a:lnTo>
                  <a:pt x="1171" y="1632"/>
                </a:lnTo>
                <a:lnTo>
                  <a:pt x="1181" y="1673"/>
                </a:lnTo>
                <a:lnTo>
                  <a:pt x="1169" y="1713"/>
                </a:lnTo>
                <a:lnTo>
                  <a:pt x="1136" y="1736"/>
                </a:lnTo>
                <a:lnTo>
                  <a:pt x="1078" y="1744"/>
                </a:lnTo>
                <a:lnTo>
                  <a:pt x="1012" y="1588"/>
                </a:lnTo>
                <a:lnTo>
                  <a:pt x="872" y="1409"/>
                </a:lnTo>
                <a:lnTo>
                  <a:pt x="702" y="1270"/>
                </a:lnTo>
                <a:lnTo>
                  <a:pt x="644" y="1278"/>
                </a:lnTo>
                <a:lnTo>
                  <a:pt x="597" y="1241"/>
                </a:lnTo>
                <a:lnTo>
                  <a:pt x="547" y="1190"/>
                </a:lnTo>
                <a:lnTo>
                  <a:pt x="547" y="1102"/>
                </a:lnTo>
                <a:lnTo>
                  <a:pt x="490" y="1080"/>
                </a:lnTo>
                <a:lnTo>
                  <a:pt x="520" y="1035"/>
                </a:lnTo>
                <a:lnTo>
                  <a:pt x="502" y="1008"/>
                </a:lnTo>
                <a:lnTo>
                  <a:pt x="424" y="859"/>
                </a:lnTo>
                <a:lnTo>
                  <a:pt x="339" y="830"/>
                </a:lnTo>
                <a:lnTo>
                  <a:pt x="313" y="773"/>
                </a:lnTo>
                <a:lnTo>
                  <a:pt x="292" y="712"/>
                </a:lnTo>
                <a:lnTo>
                  <a:pt x="177" y="544"/>
                </a:lnTo>
                <a:lnTo>
                  <a:pt x="123" y="501"/>
                </a:lnTo>
                <a:lnTo>
                  <a:pt x="99" y="446"/>
                </a:lnTo>
                <a:lnTo>
                  <a:pt x="59" y="410"/>
                </a:lnTo>
                <a:lnTo>
                  <a:pt x="0" y="403"/>
                </a:lnTo>
                <a:lnTo>
                  <a:pt x="6" y="370"/>
                </a:lnTo>
                <a:lnTo>
                  <a:pt x="18" y="352"/>
                </a:lnTo>
                <a:lnTo>
                  <a:pt x="10" y="335"/>
                </a:lnTo>
                <a:lnTo>
                  <a:pt x="10" y="304"/>
                </a:lnTo>
                <a:lnTo>
                  <a:pt x="20" y="280"/>
                </a:lnTo>
                <a:lnTo>
                  <a:pt x="82" y="285"/>
                </a:lnTo>
                <a:lnTo>
                  <a:pt x="113" y="280"/>
                </a:lnTo>
                <a:lnTo>
                  <a:pt x="179" y="258"/>
                </a:lnTo>
                <a:lnTo>
                  <a:pt x="273" y="264"/>
                </a:lnTo>
                <a:lnTo>
                  <a:pt x="323" y="235"/>
                </a:lnTo>
                <a:lnTo>
                  <a:pt x="383" y="226"/>
                </a:lnTo>
                <a:lnTo>
                  <a:pt x="415" y="205"/>
                </a:lnTo>
                <a:lnTo>
                  <a:pt x="292" y="29"/>
                </a:lnTo>
                <a:close/>
              </a:path>
            </a:pathLst>
          </a:custGeom>
          <a:solidFill>
            <a:srgbClr val="92D050"/>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21"/>
          <p:cNvSpPr/>
          <p:nvPr/>
        </p:nvSpPr>
        <p:spPr>
          <a:xfrm>
            <a:off x="2895600" y="3048001"/>
            <a:ext cx="977900" cy="620713"/>
          </a:xfrm>
          <a:custGeom>
            <a:rect b="b" l="l" r="r" t="t"/>
            <a:pathLst>
              <a:path extrusionOk="0" h="528" w="895">
                <a:moveTo>
                  <a:pt x="895" y="69"/>
                </a:moveTo>
                <a:lnTo>
                  <a:pt x="854" y="2"/>
                </a:lnTo>
                <a:lnTo>
                  <a:pt x="696" y="42"/>
                </a:lnTo>
                <a:lnTo>
                  <a:pt x="572" y="11"/>
                </a:lnTo>
                <a:lnTo>
                  <a:pt x="434" y="40"/>
                </a:lnTo>
                <a:lnTo>
                  <a:pt x="327" y="26"/>
                </a:lnTo>
                <a:lnTo>
                  <a:pt x="243" y="0"/>
                </a:lnTo>
                <a:lnTo>
                  <a:pt x="198" y="42"/>
                </a:lnTo>
                <a:lnTo>
                  <a:pt x="97" y="35"/>
                </a:lnTo>
                <a:lnTo>
                  <a:pt x="52" y="150"/>
                </a:lnTo>
                <a:lnTo>
                  <a:pt x="33" y="229"/>
                </a:lnTo>
                <a:lnTo>
                  <a:pt x="35" y="266"/>
                </a:lnTo>
                <a:lnTo>
                  <a:pt x="121" y="274"/>
                </a:lnTo>
                <a:lnTo>
                  <a:pt x="140" y="286"/>
                </a:lnTo>
                <a:lnTo>
                  <a:pt x="72" y="341"/>
                </a:lnTo>
                <a:lnTo>
                  <a:pt x="0" y="430"/>
                </a:lnTo>
                <a:lnTo>
                  <a:pt x="0" y="480"/>
                </a:lnTo>
                <a:lnTo>
                  <a:pt x="78" y="480"/>
                </a:lnTo>
                <a:lnTo>
                  <a:pt x="74" y="458"/>
                </a:lnTo>
                <a:lnTo>
                  <a:pt x="245" y="528"/>
                </a:lnTo>
                <a:lnTo>
                  <a:pt x="410" y="437"/>
                </a:lnTo>
                <a:lnTo>
                  <a:pt x="591" y="370"/>
                </a:lnTo>
                <a:lnTo>
                  <a:pt x="685" y="210"/>
                </a:lnTo>
                <a:lnTo>
                  <a:pt x="716" y="160"/>
                </a:lnTo>
                <a:lnTo>
                  <a:pt x="795" y="94"/>
                </a:lnTo>
                <a:lnTo>
                  <a:pt x="869" y="75"/>
                </a:lnTo>
                <a:lnTo>
                  <a:pt x="895" y="69"/>
                </a:lnTo>
                <a:close/>
              </a:path>
            </a:pathLst>
          </a:custGeom>
          <a:solidFill>
            <a:srgbClr val="FCA304"/>
          </a:solidFill>
          <a:ln cap="flat" cmpd="sng" w="254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53" name="Google Shape;253;p21"/>
          <p:cNvCxnSpPr/>
          <p:nvPr/>
        </p:nvCxnSpPr>
        <p:spPr>
          <a:xfrm>
            <a:off x="2209801" y="4267200"/>
            <a:ext cx="346075" cy="0"/>
          </a:xfrm>
          <a:prstGeom prst="straightConnector1">
            <a:avLst/>
          </a:prstGeom>
          <a:noFill/>
          <a:ln cap="flat" cmpd="sng" w="12700">
            <a:solidFill>
              <a:schemeClr val="dk1"/>
            </a:solidFill>
            <a:prstDash val="solid"/>
            <a:round/>
            <a:headEnd len="med" w="med" type="none"/>
            <a:tailEnd len="med" w="med" type="triangle"/>
          </a:ln>
        </p:spPr>
      </p:cxnSp>
      <p:pic>
        <p:nvPicPr>
          <p:cNvPr descr="j0205462" id="254" name="Google Shape;254;p21"/>
          <p:cNvPicPr preferRelativeResize="0"/>
          <p:nvPr/>
        </p:nvPicPr>
        <p:blipFill rotWithShape="1">
          <a:blip r:embed="rId3">
            <a:alphaModFix/>
          </a:blip>
          <a:srcRect b="0" l="0" r="0" t="0"/>
          <a:stretch/>
        </p:blipFill>
        <p:spPr>
          <a:xfrm>
            <a:off x="9372600" y="4953000"/>
            <a:ext cx="1066800" cy="884238"/>
          </a:xfrm>
          <a:prstGeom prst="rect">
            <a:avLst/>
          </a:prstGeom>
          <a:noFill/>
          <a:ln>
            <a:noFill/>
          </a:ln>
        </p:spPr>
      </p:pic>
      <p:sp>
        <p:nvSpPr>
          <p:cNvPr id="255" name="Google Shape;255;p21"/>
          <p:cNvSpPr txBox="1"/>
          <p:nvPr/>
        </p:nvSpPr>
        <p:spPr>
          <a:xfrm>
            <a:off x="9296400" y="4648200"/>
            <a:ext cx="1676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t>
            </a:r>
            <a:r>
              <a:rPr i="1" lang="en-US" sz="1800">
                <a:solidFill>
                  <a:schemeClr val="dk1"/>
                </a:solidFill>
                <a:latin typeface="Corsiva"/>
                <a:ea typeface="Corsiva"/>
                <a:cs typeface="Corsiva"/>
                <a:sym typeface="Corsiva"/>
              </a:rPr>
              <a:t> </a:t>
            </a:r>
            <a:r>
              <a:rPr lang="en-US" sz="1800">
                <a:solidFill>
                  <a:schemeClr val="dk1"/>
                </a:solidFill>
                <a:latin typeface="Corsiva"/>
                <a:ea typeface="Corsiva"/>
                <a:cs typeface="Corsiva"/>
                <a:sym typeface="Corsiva"/>
              </a:rPr>
              <a:t>       </a:t>
            </a:r>
            <a:r>
              <a:rPr lang="en-US" sz="1800">
                <a:solidFill>
                  <a:schemeClr val="dk1"/>
                </a:solidFill>
                <a:latin typeface="Helvetica Neue"/>
                <a:ea typeface="Helvetica Neue"/>
                <a:cs typeface="Helvetica Neue"/>
                <a:sym typeface="Helvetica Neue"/>
              </a:rPr>
              <a:t>Won </a:t>
            </a:r>
            <a:endParaRPr sz="1800">
              <a:solidFill>
                <a:schemeClr val="dk1"/>
              </a:solidFill>
              <a:latin typeface="Helvetica Neue"/>
              <a:ea typeface="Helvetica Neue"/>
              <a:cs typeface="Helvetica Neue"/>
              <a:sym typeface="Helvetica Neue"/>
            </a:endParaRPr>
          </a:p>
        </p:txBody>
      </p:sp>
      <p:cxnSp>
        <p:nvCxnSpPr>
          <p:cNvPr id="256" name="Google Shape;256;p21"/>
          <p:cNvCxnSpPr/>
          <p:nvPr/>
        </p:nvCxnSpPr>
        <p:spPr>
          <a:xfrm>
            <a:off x="9529483" y="4809565"/>
            <a:ext cx="304800" cy="0"/>
          </a:xfrm>
          <a:prstGeom prst="straightConnector1">
            <a:avLst/>
          </a:prstGeom>
          <a:noFill/>
          <a:ln cap="flat" cmpd="sng" w="12700">
            <a:solidFill>
              <a:schemeClr val="dk1"/>
            </a:solidFill>
            <a:prstDash val="solid"/>
            <a:round/>
            <a:headEnd len="med" w="med" type="none"/>
            <a:tailEnd len="med" w="med" type="triangle"/>
          </a:ln>
        </p:spPr>
      </p:cxnSp>
      <p:sp>
        <p:nvSpPr>
          <p:cNvPr id="257" name="Google Shape;257;p21"/>
          <p:cNvSpPr/>
          <p:nvPr/>
        </p:nvSpPr>
        <p:spPr>
          <a:xfrm>
            <a:off x="10134600" y="3124200"/>
            <a:ext cx="266700" cy="1371600"/>
          </a:xfrm>
          <a:custGeom>
            <a:rect b="b" l="l" r="r" t="t"/>
            <a:pathLst>
              <a:path extrusionOk="0" h="864" w="168">
                <a:moveTo>
                  <a:pt x="96" y="864"/>
                </a:moveTo>
                <a:cubicBezTo>
                  <a:pt x="116" y="832"/>
                  <a:pt x="136" y="800"/>
                  <a:pt x="144" y="720"/>
                </a:cubicBezTo>
                <a:cubicBezTo>
                  <a:pt x="152" y="640"/>
                  <a:pt x="168" y="504"/>
                  <a:pt x="144" y="384"/>
                </a:cubicBezTo>
                <a:cubicBezTo>
                  <a:pt x="120" y="264"/>
                  <a:pt x="24" y="64"/>
                  <a:pt x="0" y="0"/>
                </a:cubicBezTo>
              </a:path>
            </a:pathLst>
          </a:custGeom>
          <a:noFill/>
          <a:ln cap="flat" cmpd="sng" w="76200">
            <a:solidFill>
              <a:srgbClr val="FF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21"/>
          <p:cNvSpPr txBox="1"/>
          <p:nvPr/>
        </p:nvSpPr>
        <p:spPr>
          <a:xfrm>
            <a:off x="1638300" y="4091265"/>
            <a:ext cx="1447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Lira        $</a:t>
            </a:r>
            <a:endParaRPr/>
          </a:p>
        </p:txBody>
      </p:sp>
      <p:sp>
        <p:nvSpPr>
          <p:cNvPr id="259" name="Google Shape;259;p21"/>
          <p:cNvSpPr/>
          <p:nvPr/>
        </p:nvSpPr>
        <p:spPr>
          <a:xfrm>
            <a:off x="1848317" y="2362200"/>
            <a:ext cx="495300" cy="838200"/>
          </a:xfrm>
          <a:custGeom>
            <a:rect b="b" l="l" r="r" t="t"/>
            <a:pathLst>
              <a:path extrusionOk="0" h="528" w="312">
                <a:moveTo>
                  <a:pt x="312" y="0"/>
                </a:moveTo>
                <a:cubicBezTo>
                  <a:pt x="264" y="0"/>
                  <a:pt x="216" y="0"/>
                  <a:pt x="168" y="48"/>
                </a:cubicBezTo>
                <a:cubicBezTo>
                  <a:pt x="120" y="96"/>
                  <a:pt x="48" y="208"/>
                  <a:pt x="24" y="288"/>
                </a:cubicBezTo>
                <a:cubicBezTo>
                  <a:pt x="0" y="368"/>
                  <a:pt x="24" y="488"/>
                  <a:pt x="24" y="528"/>
                </a:cubicBezTo>
              </a:path>
            </a:pathLst>
          </a:custGeom>
          <a:noFill/>
          <a:ln cap="flat" cmpd="sng" w="76200">
            <a:solidFill>
              <a:srgbClr val="FF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21">
            <a:hlinkClick action="ppaction://hlinkshowjump?jump=previousslide"/>
          </p:cNvPr>
          <p:cNvSpPr/>
          <p:nvPr/>
        </p:nvSpPr>
        <p:spPr>
          <a:xfrm>
            <a:off x="9525000" y="6364941"/>
            <a:ext cx="334690" cy="182562"/>
          </a:xfrm>
          <a:custGeom>
            <a:rect b="b" l="l" r="r" t="t"/>
            <a:pathLst>
              <a:path extrusionOk="0" h="120000" w="120000">
                <a:moveTo>
                  <a:pt x="0" y="0"/>
                </a:moveTo>
                <a:lnTo>
                  <a:pt x="120000" y="0"/>
                </a:lnTo>
                <a:lnTo>
                  <a:pt x="120000" y="120000"/>
                </a:lnTo>
                <a:lnTo>
                  <a:pt x="0" y="120000"/>
                </a:lnTo>
                <a:close/>
                <a:moveTo>
                  <a:pt x="35454" y="60000"/>
                </a:moveTo>
                <a:lnTo>
                  <a:pt x="84546" y="15000"/>
                </a:lnTo>
                <a:lnTo>
                  <a:pt x="84546" y="105000"/>
                </a:lnTo>
                <a:close/>
              </a:path>
              <a:path extrusionOk="0" fill="darken" h="120000" w="120000">
                <a:moveTo>
                  <a:pt x="35454" y="60000"/>
                </a:moveTo>
                <a:lnTo>
                  <a:pt x="84546" y="15000"/>
                </a:lnTo>
                <a:lnTo>
                  <a:pt x="84546" y="105000"/>
                </a:lnTo>
                <a:close/>
              </a:path>
              <a:path extrusionOk="0" fill="none" h="120000" w="120000">
                <a:moveTo>
                  <a:pt x="35454" y="60000"/>
                </a:moveTo>
                <a:lnTo>
                  <a:pt x="84546" y="15000"/>
                </a:lnTo>
                <a:lnTo>
                  <a:pt x="84546" y="105000"/>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descr="j0205462" id="261" name="Google Shape;261;p21"/>
          <p:cNvPicPr preferRelativeResize="0"/>
          <p:nvPr/>
        </p:nvPicPr>
        <p:blipFill rotWithShape="1">
          <a:blip r:embed="rId3">
            <a:alphaModFix/>
          </a:blip>
          <a:srcRect b="0" l="0" r="0" t="0"/>
          <a:stretch/>
        </p:blipFill>
        <p:spPr>
          <a:xfrm>
            <a:off x="1693069" y="3100389"/>
            <a:ext cx="1066800" cy="884237"/>
          </a:xfrm>
          <a:prstGeom prst="rect">
            <a:avLst/>
          </a:prstGeom>
          <a:noFill/>
          <a:ln>
            <a:noFill/>
          </a:ln>
        </p:spPr>
      </p:pic>
      <p:sp>
        <p:nvSpPr>
          <p:cNvPr id="262" name="Google Shape;26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3" name="Google Shape;263;p21"/>
          <p:cNvPicPr preferRelativeResize="0"/>
          <p:nvPr/>
        </p:nvPicPr>
        <p:blipFill rotWithShape="1">
          <a:blip r:embed="rId4">
            <a:alphaModFix/>
          </a:blip>
          <a:srcRect b="0" l="0" r="0" t="0"/>
          <a:stretch/>
        </p:blipFill>
        <p:spPr>
          <a:xfrm>
            <a:off x="5730477" y="1343144"/>
            <a:ext cx="1493045" cy="149304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2"/>
          <p:cNvSpPr txBox="1"/>
          <p:nvPr>
            <p:ph type="title"/>
          </p:nvPr>
        </p:nvSpPr>
        <p:spPr>
          <a:xfrm>
            <a:off x="1184400" y="0"/>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Forex daily volume</a:t>
            </a:r>
            <a:endParaRPr/>
          </a:p>
        </p:txBody>
      </p:sp>
      <p:pic>
        <p:nvPicPr>
          <p:cNvPr id="270" name="Google Shape;270;p22"/>
          <p:cNvPicPr preferRelativeResize="0"/>
          <p:nvPr>
            <p:ph idx="1" type="body"/>
          </p:nvPr>
        </p:nvPicPr>
        <p:blipFill rotWithShape="1">
          <a:blip r:embed="rId3">
            <a:alphaModFix/>
          </a:blip>
          <a:srcRect b="0" l="0" r="0" t="0"/>
          <a:stretch/>
        </p:blipFill>
        <p:spPr>
          <a:xfrm>
            <a:off x="479369" y="1776146"/>
            <a:ext cx="6643687" cy="4097871"/>
          </a:xfrm>
          <a:prstGeom prst="rect">
            <a:avLst/>
          </a:prstGeom>
          <a:noFill/>
          <a:ln>
            <a:noFill/>
          </a:ln>
        </p:spPr>
      </p:pic>
      <p:sp>
        <p:nvSpPr>
          <p:cNvPr id="271" name="Google Shape;27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2" name="Google Shape;272;p22">
            <a:hlinkClick action="ppaction://hlinksldjump" r:id="rId4"/>
          </p:cNvPr>
          <p:cNvSpPr/>
          <p:nvPr/>
        </p:nvSpPr>
        <p:spPr>
          <a:xfrm>
            <a:off x="9525000" y="6324600"/>
            <a:ext cx="334690" cy="214312"/>
          </a:xfrm>
          <a:custGeom>
            <a:rect b="b" l="l" r="r" t="t"/>
            <a:pathLst>
              <a:path extrusionOk="0" h="120000" w="120000">
                <a:moveTo>
                  <a:pt x="0" y="0"/>
                </a:moveTo>
                <a:lnTo>
                  <a:pt x="120000" y="0"/>
                </a:lnTo>
                <a:lnTo>
                  <a:pt x="120000" y="120000"/>
                </a:lnTo>
                <a:lnTo>
                  <a:pt x="0" y="120000"/>
                </a:lnTo>
                <a:close/>
                <a:moveTo>
                  <a:pt x="31185" y="60000"/>
                </a:moveTo>
                <a:lnTo>
                  <a:pt x="88815" y="15000"/>
                </a:lnTo>
                <a:lnTo>
                  <a:pt x="88815" y="105000"/>
                </a:lnTo>
                <a:close/>
              </a:path>
              <a:path extrusionOk="0" fill="darken" h="120000" w="120000">
                <a:moveTo>
                  <a:pt x="31185" y="60000"/>
                </a:moveTo>
                <a:lnTo>
                  <a:pt x="88815" y="15000"/>
                </a:lnTo>
                <a:lnTo>
                  <a:pt x="88815" y="105000"/>
                </a:lnTo>
                <a:close/>
              </a:path>
              <a:path extrusionOk="0" fill="none" h="120000" w="120000">
                <a:moveTo>
                  <a:pt x="31185" y="60000"/>
                </a:moveTo>
                <a:lnTo>
                  <a:pt x="88815" y="15000"/>
                </a:lnTo>
                <a:lnTo>
                  <a:pt x="88815" y="105000"/>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73" name="Google Shape;273;p22"/>
          <p:cNvSpPr/>
          <p:nvPr/>
        </p:nvSpPr>
        <p:spPr>
          <a:xfrm>
            <a:off x="7182204" y="2576944"/>
            <a:ext cx="4588626" cy="216621"/>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http://b-i.forbesimg.com/billconerly/files/2013/10/World-Currency-Reserves-Total.png" id="279" name="Google Shape;279;p23"/>
          <p:cNvPicPr preferRelativeResize="0"/>
          <p:nvPr/>
        </p:nvPicPr>
        <p:blipFill rotWithShape="1">
          <a:blip r:embed="rId3">
            <a:alphaModFix/>
          </a:blip>
          <a:srcRect b="0" l="0" r="0" t="0"/>
          <a:stretch/>
        </p:blipFill>
        <p:spPr>
          <a:xfrm>
            <a:off x="6172522" y="2209799"/>
            <a:ext cx="5003828" cy="3827929"/>
          </a:xfrm>
          <a:prstGeom prst="rect">
            <a:avLst/>
          </a:prstGeom>
          <a:noFill/>
          <a:ln cap="flat" cmpd="sng" w="9525">
            <a:solidFill>
              <a:schemeClr val="dk1"/>
            </a:solidFill>
            <a:prstDash val="solid"/>
            <a:round/>
            <a:headEnd len="sm" w="sm" type="none"/>
            <a:tailEnd len="sm" w="sm" type="none"/>
          </a:ln>
          <a:effectLst>
            <a:outerShdw blurRad="50800" rotWithShape="0" algn="tl" dir="2700000" dist="38100">
              <a:srgbClr val="000000">
                <a:alpha val="40000"/>
              </a:srgbClr>
            </a:outerShdw>
          </a:effectLst>
        </p:spPr>
      </p:pic>
      <p:pic>
        <p:nvPicPr>
          <p:cNvPr descr="http://b-i.forbesimg.com/billconerly/files/2013/10/World-Currency-Reserves.png" id="280" name="Google Shape;280;p23"/>
          <p:cNvPicPr preferRelativeResize="0"/>
          <p:nvPr/>
        </p:nvPicPr>
        <p:blipFill rotWithShape="1">
          <a:blip r:embed="rId4">
            <a:alphaModFix/>
          </a:blip>
          <a:srcRect b="0" l="0" r="0" t="0"/>
          <a:stretch/>
        </p:blipFill>
        <p:spPr>
          <a:xfrm>
            <a:off x="711171" y="2209799"/>
            <a:ext cx="5003829" cy="3827929"/>
          </a:xfrm>
          <a:prstGeom prst="rect">
            <a:avLst/>
          </a:prstGeom>
          <a:noFill/>
          <a:ln>
            <a:noFill/>
          </a:ln>
          <a:effectLst>
            <a:outerShdw blurRad="50800" rotWithShape="0" algn="tl" dir="2700000" dist="38100">
              <a:srgbClr val="000000">
                <a:alpha val="40000"/>
              </a:srgbClr>
            </a:outerShdw>
          </a:effectLst>
        </p:spPr>
      </p:pic>
      <p:sp>
        <p:nvSpPr>
          <p:cNvPr id="281" name="Google Shape;281;p23"/>
          <p:cNvSpPr txBox="1"/>
          <p:nvPr>
            <p:ph type="title"/>
          </p:nvPr>
        </p:nvSpPr>
        <p:spPr>
          <a:xfrm>
            <a:off x="1144059" y="0"/>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Dollar reserves</a:t>
            </a:r>
            <a:endParaRPr/>
          </a:p>
        </p:txBody>
      </p:sp>
      <p:sp>
        <p:nvSpPr>
          <p:cNvPr id="282" name="Google Shape;28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4"/>
          <p:cNvSpPr txBox="1"/>
          <p:nvPr>
            <p:ph type="title"/>
          </p:nvPr>
        </p:nvSpPr>
        <p:spPr>
          <a:xfrm>
            <a:off x="1255190" y="279682"/>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Spot Market</a:t>
            </a:r>
            <a:endParaRPr/>
          </a:p>
        </p:txBody>
      </p:sp>
      <p:sp>
        <p:nvSpPr>
          <p:cNvPr id="289" name="Google Shape;289;p24"/>
          <p:cNvSpPr txBox="1"/>
          <p:nvPr>
            <p:ph idx="1" type="body"/>
          </p:nvPr>
        </p:nvSpPr>
        <p:spPr>
          <a:xfrm>
            <a:off x="2209800" y="1676400"/>
            <a:ext cx="9144000" cy="4329112"/>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600"/>
              <a:buChar char="•"/>
            </a:pPr>
            <a:r>
              <a:rPr lang="en-US" sz="3600"/>
              <a:t> </a:t>
            </a:r>
            <a:r>
              <a:rPr lang="en-US" sz="2800"/>
              <a:t>Market to buy or sell currency 	</a:t>
            </a:r>
            <a:r>
              <a:rPr b="1" i="1" lang="en-US" sz="2800" u="sng">
                <a:solidFill>
                  <a:schemeClr val="accent4"/>
                </a:solidFill>
              </a:rPr>
              <a:t>NOW</a:t>
            </a:r>
            <a:r>
              <a:rPr i="1" lang="en-US" sz="2800">
                <a:solidFill>
                  <a:schemeClr val="accent4"/>
                </a:solidFill>
              </a:rPr>
              <a:t> </a:t>
            </a:r>
            <a:endParaRPr/>
          </a:p>
          <a:p>
            <a:pPr indent="-228600" lvl="0" marL="228600" rtl="0" algn="l">
              <a:lnSpc>
                <a:spcPct val="90000"/>
              </a:lnSpc>
              <a:spcBef>
                <a:spcPts val="3400"/>
              </a:spcBef>
              <a:spcAft>
                <a:spcPts val="0"/>
              </a:spcAft>
              <a:buClr>
                <a:schemeClr val="dk1"/>
              </a:buClr>
              <a:buSzPts val="2800"/>
              <a:buChar char="•"/>
            </a:pPr>
            <a:r>
              <a:rPr lang="en-US" sz="2800"/>
              <a:t> Rate is “</a:t>
            </a:r>
            <a:r>
              <a:rPr lang="en-US" sz="2800" u="sng">
                <a:solidFill>
                  <a:schemeClr val="hlink"/>
                </a:solidFill>
                <a:hlinkClick r:id="rId3"/>
              </a:rPr>
              <a:t>SPOT rate</a:t>
            </a:r>
            <a:r>
              <a:rPr lang="en-US" sz="2800"/>
              <a:t>” </a:t>
            </a:r>
            <a:endParaRPr sz="2800"/>
          </a:p>
          <a:p>
            <a:pPr indent="-228600" lvl="0" marL="228600" rtl="0" algn="l">
              <a:lnSpc>
                <a:spcPct val="90000"/>
              </a:lnSpc>
              <a:spcBef>
                <a:spcPts val="3400"/>
              </a:spcBef>
              <a:spcAft>
                <a:spcPts val="0"/>
              </a:spcAft>
              <a:buClr>
                <a:schemeClr val="dk1"/>
              </a:buClr>
              <a:buSzPts val="2800"/>
              <a:buChar char="•"/>
            </a:pPr>
            <a:r>
              <a:rPr lang="en-US" sz="2800"/>
              <a:t> 33% of forex transactions… (</a:t>
            </a:r>
            <a:r>
              <a:rPr i="1" lang="en-US" sz="2000"/>
              <a:t>excluding forex swaps* ) </a:t>
            </a:r>
            <a:endParaRPr/>
          </a:p>
          <a:p>
            <a:pPr indent="-228600" lvl="0" marL="228600" rtl="0" algn="l">
              <a:lnSpc>
                <a:spcPct val="90000"/>
              </a:lnSpc>
              <a:spcBef>
                <a:spcPts val="3400"/>
              </a:spcBef>
              <a:spcAft>
                <a:spcPts val="0"/>
              </a:spcAft>
              <a:buClr>
                <a:schemeClr val="dk1"/>
              </a:buClr>
              <a:buSzPts val="2800"/>
              <a:buChar char="•"/>
            </a:pPr>
            <a:r>
              <a:rPr lang="en-US" sz="2800"/>
              <a:t>Most volatile because related to passive FDI/speculation</a:t>
            </a:r>
            <a:endParaRPr sz="2800"/>
          </a:p>
        </p:txBody>
      </p:sp>
      <p:sp>
        <p:nvSpPr>
          <p:cNvPr id="290" name="Google Shape;290;p24"/>
          <p:cNvSpPr txBox="1"/>
          <p:nvPr/>
        </p:nvSpPr>
        <p:spPr>
          <a:xfrm>
            <a:off x="2524335" y="5733300"/>
            <a:ext cx="710492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chemeClr val="dk1"/>
                </a:solidFill>
                <a:latin typeface="Calibri"/>
                <a:ea typeface="Calibri"/>
                <a:cs typeface="Calibri"/>
                <a:sym typeface="Calibri"/>
              </a:rPr>
              <a:t>*A “swap” is a currency exchange at two different future periods</a:t>
            </a:r>
            <a:endParaRPr/>
          </a:p>
        </p:txBody>
      </p:sp>
      <p:sp>
        <p:nvSpPr>
          <p:cNvPr id="291" name="Google Shape;29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92" name="Google Shape;292;p24">
            <a:hlinkClick r:id="rId4"/>
          </p:cNvPr>
          <p:cNvSpPr/>
          <p:nvPr/>
        </p:nvSpPr>
        <p:spPr>
          <a:xfrm>
            <a:off x="5600700" y="2726871"/>
            <a:ext cx="212272" cy="244929"/>
          </a:xfrm>
          <a:prstGeom prst="ellipse">
            <a:avLst/>
          </a:prstGeom>
          <a:solidFill>
            <a:srgbClr val="548135"/>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animEffect filter="fade" transition="in">
                                      <p:cBhvr>
                                        <p:cTn dur="500"/>
                                        <p:tgtEl>
                                          <p:spTgt spid="2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animEffect filter="fade" transition="in">
                                      <p:cBhvr>
                                        <p:cTn dur="500"/>
                                        <p:tgtEl>
                                          <p:spTgt spid="2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2" st="2"/>
                                            </p:txEl>
                                          </p:spTgt>
                                        </p:tgtEl>
                                        <p:attrNameLst>
                                          <p:attrName>style.visibility</p:attrName>
                                        </p:attrNameLst>
                                      </p:cBhvr>
                                      <p:to>
                                        <p:strVal val="visible"/>
                                      </p:to>
                                    </p:set>
                                    <p:animEffect filter="fade" transition="in">
                                      <p:cBhvr>
                                        <p:cTn dur="500"/>
                                        <p:tgtEl>
                                          <p:spTgt spid="2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3" st="3"/>
                                            </p:txEl>
                                          </p:spTgt>
                                        </p:tgtEl>
                                        <p:attrNameLst>
                                          <p:attrName>style.visibility</p:attrName>
                                        </p:attrNameLst>
                                      </p:cBhvr>
                                      <p:to>
                                        <p:strVal val="visible"/>
                                      </p:to>
                                    </p:set>
                                    <p:animEffect filter="fade" transition="in">
                                      <p:cBhvr>
                                        <p:cTn dur="500"/>
                                        <p:tgtEl>
                                          <p:spTgt spid="2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animEffect filter="fade" transition="in">
                                      <p:cBhvr>
                                        <p:cTn dur="500"/>
                                        <p:tgtEl>
                                          <p:spTgt spid="29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5"/>
          <p:cNvSpPr txBox="1"/>
          <p:nvPr>
            <p:ph type="title"/>
          </p:nvPr>
        </p:nvSpPr>
        <p:spPr>
          <a:xfrm>
            <a:off x="1129553" y="55063"/>
            <a:ext cx="9533965" cy="1000930"/>
          </a:xfrm>
          <a:prstGeom prst="rect">
            <a:avLst/>
          </a:prstGeom>
          <a:noFill/>
          <a:ln>
            <a:noFill/>
          </a:ln>
        </p:spPr>
        <p:txBody>
          <a:bodyPr anchorCtr="0" anchor="t" bIns="44450" lIns="90475" spcFirstLastPara="1" rIns="90475" wrap="square" tIns="44450">
            <a:normAutofit fontScale="90000"/>
          </a:bodyPr>
          <a:lstStyle/>
          <a:p>
            <a:pPr indent="0" lvl="0" marL="0" rtl="0" algn="l">
              <a:lnSpc>
                <a:spcPct val="90909"/>
              </a:lnSpc>
              <a:spcBef>
                <a:spcPts val="0"/>
              </a:spcBef>
              <a:spcAft>
                <a:spcPts val="0"/>
              </a:spcAft>
              <a:buClr>
                <a:schemeClr val="dk1"/>
              </a:buClr>
              <a:buSzPct val="122222"/>
              <a:buFont typeface="Calibri"/>
              <a:buNone/>
            </a:pPr>
            <a:r>
              <a:rPr lang="en-US"/>
              <a:t>Spot market doesn’t fit needs of commercial interests:</a:t>
            </a:r>
            <a:endParaRPr sz="3600"/>
          </a:p>
        </p:txBody>
      </p:sp>
      <p:sp>
        <p:nvSpPr>
          <p:cNvPr id="299" name="Google Shape;299;p25"/>
          <p:cNvSpPr txBox="1"/>
          <p:nvPr>
            <p:ph idx="1" type="body"/>
          </p:nvPr>
        </p:nvSpPr>
        <p:spPr>
          <a:xfrm>
            <a:off x="2209801" y="3733800"/>
            <a:ext cx="7762875" cy="2362200"/>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600"/>
              <a:buFont typeface="Calibri"/>
              <a:buNone/>
            </a:pPr>
            <a:r>
              <a:rPr lang="en-US" sz="3600"/>
              <a:t>What would be effect of a change in currency exchange rates?</a:t>
            </a:r>
            <a:endParaRPr/>
          </a:p>
          <a:p>
            <a:pPr indent="0" lvl="0" marL="0" rtl="0" algn="l">
              <a:lnSpc>
                <a:spcPct val="90000"/>
              </a:lnSpc>
              <a:spcBef>
                <a:spcPts val="1000"/>
              </a:spcBef>
              <a:spcAft>
                <a:spcPts val="0"/>
              </a:spcAft>
              <a:buClr>
                <a:schemeClr val="dk1"/>
              </a:buClr>
              <a:buSzPts val="3600"/>
              <a:buNone/>
            </a:pPr>
            <a:r>
              <a:rPr b="1" lang="en-US" sz="3600"/>
              <a:t>Foreign exchange “exposure”</a:t>
            </a:r>
            <a:r>
              <a:rPr b="1" lang="en-US" sz="4000"/>
              <a:t> </a:t>
            </a:r>
            <a:r>
              <a:rPr i="1" lang="en-US"/>
              <a:t>(transaction exposure)</a:t>
            </a:r>
            <a:endParaRPr/>
          </a:p>
        </p:txBody>
      </p:sp>
      <p:sp>
        <p:nvSpPr>
          <p:cNvPr id="300" name="Google Shape;300;p25"/>
          <p:cNvSpPr txBox="1"/>
          <p:nvPr/>
        </p:nvSpPr>
        <p:spPr>
          <a:xfrm>
            <a:off x="2178690" y="1700775"/>
            <a:ext cx="7681000" cy="184665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Arial"/>
                <a:ea typeface="Arial"/>
                <a:cs typeface="Arial"/>
                <a:sym typeface="Arial"/>
              </a:rPr>
              <a:t>What if firm does something today that will require foreign currency at a future time? </a:t>
            </a:r>
            <a:br>
              <a:rPr lang="en-US" sz="2400">
                <a:solidFill>
                  <a:schemeClr val="dk1"/>
                </a:solidFill>
                <a:latin typeface="Arial"/>
                <a:ea typeface="Arial"/>
                <a:cs typeface="Arial"/>
                <a:sym typeface="Arial"/>
              </a:rPr>
            </a:br>
            <a:br>
              <a:rPr lang="en-US" sz="1800">
                <a:solidFill>
                  <a:srgbClr val="FF0000"/>
                </a:solidFill>
                <a:latin typeface="Arial"/>
                <a:ea typeface="Arial"/>
                <a:cs typeface="Arial"/>
                <a:sym typeface="Arial"/>
              </a:rPr>
            </a:br>
            <a:r>
              <a:rPr lang="en-US" sz="2400">
                <a:solidFill>
                  <a:schemeClr val="dk1"/>
                </a:solidFill>
                <a:latin typeface="Calibri"/>
                <a:ea typeface="Calibri"/>
                <a:cs typeface="Calibri"/>
                <a:sym typeface="Calibri"/>
              </a:rPr>
              <a:t>(i.e., an agreement to purchase goods for future delivery or a decision to purchase/invest in a foreign company)</a:t>
            </a:r>
            <a:endParaRPr/>
          </a:p>
        </p:txBody>
      </p:sp>
      <p:sp>
        <p:nvSpPr>
          <p:cNvPr id="301" name="Google Shape;30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animEffect filter="fade" transition="in">
                                      <p:cBhvr>
                                        <p:cTn dur="500"/>
                                        <p:tgtEl>
                                          <p:spTgt spid="2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animEffect filter="fade" transition="in">
                                      <p:cBhvr>
                                        <p:cTn dur="500"/>
                                        <p:tgtEl>
                                          <p:spTgt spid="29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6"/>
          <p:cNvSpPr txBox="1"/>
          <p:nvPr>
            <p:ph type="title"/>
          </p:nvPr>
        </p:nvSpPr>
        <p:spPr>
          <a:xfrm>
            <a:off x="1166076" y="230776"/>
            <a:ext cx="7772400" cy="8382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Example of Risk</a:t>
            </a:r>
            <a:endParaRPr>
              <a:solidFill>
                <a:srgbClr val="0000FF"/>
              </a:solidFill>
            </a:endParaRPr>
          </a:p>
        </p:txBody>
      </p:sp>
      <p:sp>
        <p:nvSpPr>
          <p:cNvPr id="308" name="Google Shape;308;p26"/>
          <p:cNvSpPr txBox="1"/>
          <p:nvPr>
            <p:ph idx="1" type="body"/>
          </p:nvPr>
        </p:nvSpPr>
        <p:spPr>
          <a:xfrm>
            <a:off x="2286000" y="1752600"/>
            <a:ext cx="8001000" cy="4267200"/>
          </a:xfrm>
          <a:prstGeom prst="rect">
            <a:avLst/>
          </a:prstGeom>
          <a:noFill/>
          <a:ln>
            <a:noFill/>
          </a:ln>
        </p:spPr>
        <p:txBody>
          <a:bodyPr anchorCtr="0" anchor="t" bIns="44450" lIns="90475" spcFirstLastPara="1" rIns="90475" wrap="square" tIns="44450">
            <a:noAutofit/>
          </a:bodyPr>
          <a:lstStyle/>
          <a:p>
            <a:pPr indent="-228600" lvl="0" marL="228600" rtl="0" algn="l">
              <a:lnSpc>
                <a:spcPct val="80000"/>
              </a:lnSpc>
              <a:spcBef>
                <a:spcPts val="0"/>
              </a:spcBef>
              <a:spcAft>
                <a:spcPts val="0"/>
              </a:spcAft>
              <a:buClr>
                <a:schemeClr val="dk1"/>
              </a:buClr>
              <a:buSzPts val="2800"/>
              <a:buChar char="•"/>
            </a:pPr>
            <a:r>
              <a:rPr lang="en-US" sz="2800"/>
              <a:t>US importer buys ball bearings from a German producer, Price = €870,000 payable upon delivery in 90 days</a:t>
            </a:r>
            <a:endParaRPr/>
          </a:p>
          <a:p>
            <a:pPr indent="-228600" lvl="0" marL="228600" rtl="0" algn="l">
              <a:lnSpc>
                <a:spcPct val="80000"/>
              </a:lnSpc>
              <a:spcBef>
                <a:spcPts val="2400"/>
              </a:spcBef>
              <a:spcAft>
                <a:spcPts val="0"/>
              </a:spcAft>
              <a:buClr>
                <a:schemeClr val="dk1"/>
              </a:buClr>
              <a:buSzPts val="2800"/>
              <a:buChar char="•"/>
            </a:pPr>
            <a:r>
              <a:rPr lang="en-US" sz="2800"/>
              <a:t>Suppose the exchange rate is $1 = €0.87 (1.15 $/€)</a:t>
            </a:r>
            <a:endParaRPr/>
          </a:p>
          <a:p>
            <a:pPr indent="-228600" lvl="0" marL="228600" rtl="0" algn="l">
              <a:lnSpc>
                <a:spcPct val="80000"/>
              </a:lnSpc>
              <a:spcBef>
                <a:spcPts val="2400"/>
              </a:spcBef>
              <a:spcAft>
                <a:spcPts val="0"/>
              </a:spcAft>
              <a:buClr>
                <a:schemeClr val="dk1"/>
              </a:buClr>
              <a:buSzPts val="2800"/>
              <a:buChar char="•"/>
            </a:pPr>
            <a:r>
              <a:rPr lang="en-US" sz="2800"/>
              <a:t>$ cost of purchase = $1,000,000</a:t>
            </a:r>
            <a:endParaRPr/>
          </a:p>
          <a:p>
            <a:pPr indent="-228600" lvl="0" marL="228600" rtl="0" algn="l">
              <a:lnSpc>
                <a:spcPct val="80000"/>
              </a:lnSpc>
              <a:spcBef>
                <a:spcPts val="2400"/>
              </a:spcBef>
              <a:spcAft>
                <a:spcPts val="0"/>
              </a:spcAft>
              <a:buClr>
                <a:schemeClr val="dk1"/>
              </a:buClr>
              <a:buSzPts val="2800"/>
              <a:buChar char="•"/>
            </a:pPr>
            <a:r>
              <a:rPr lang="en-US" sz="2800"/>
              <a:t>Suppose spot rate changes to </a:t>
            </a:r>
            <a:r>
              <a:rPr lang="en-US" sz="2800">
                <a:solidFill>
                  <a:srgbClr val="FF0000"/>
                </a:solidFill>
              </a:rPr>
              <a:t>€0.85 </a:t>
            </a:r>
            <a:r>
              <a:rPr lang="en-US" sz="2800"/>
              <a:t>/$ (Euro appreciates/ revalues)…</a:t>
            </a:r>
            <a:endParaRPr/>
          </a:p>
          <a:p>
            <a:pPr indent="-228600" lvl="0" marL="228600" rtl="0" algn="l">
              <a:lnSpc>
                <a:spcPct val="80000"/>
              </a:lnSpc>
              <a:spcBef>
                <a:spcPts val="2400"/>
              </a:spcBef>
              <a:spcAft>
                <a:spcPts val="0"/>
              </a:spcAft>
              <a:buClr>
                <a:schemeClr val="dk1"/>
              </a:buClr>
              <a:buSzPts val="2800"/>
              <a:buChar char="•"/>
            </a:pPr>
            <a:r>
              <a:rPr lang="en-US" sz="2800"/>
              <a:t>new $ cost in 90 days = $1,023,529</a:t>
            </a:r>
            <a:endParaRPr/>
          </a:p>
          <a:p>
            <a:pPr indent="-228600" lvl="0" marL="228600" rtl="0" algn="l">
              <a:lnSpc>
                <a:spcPct val="80000"/>
              </a:lnSpc>
              <a:spcBef>
                <a:spcPts val="2400"/>
              </a:spcBef>
              <a:spcAft>
                <a:spcPts val="0"/>
              </a:spcAft>
              <a:buClr>
                <a:schemeClr val="dk1"/>
              </a:buClr>
              <a:buSzPts val="2800"/>
              <a:buChar char="•"/>
            </a:pPr>
            <a:r>
              <a:rPr lang="en-US" sz="2800"/>
              <a:t>US importer must pay $23,529 more than planned</a:t>
            </a:r>
            <a:endParaRPr/>
          </a:p>
        </p:txBody>
      </p:sp>
      <p:sp>
        <p:nvSpPr>
          <p:cNvPr id="309" name="Google Shape;30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Effect filter="fade" transition="in">
                                      <p:cBhvr>
                                        <p:cTn dur="500"/>
                                        <p:tgtEl>
                                          <p:spTgt spid="3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animEffect filter="fade" transition="in">
                                      <p:cBhvr>
                                        <p:cTn dur="500"/>
                                        <p:tgtEl>
                                          <p:spTgt spid="3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animEffect filter="fade" transition="in">
                                      <p:cBhvr>
                                        <p:cTn dur="500"/>
                                        <p:tgtEl>
                                          <p:spTgt spid="3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animEffect filter="fade" transition="in">
                                      <p:cBhvr>
                                        <p:cTn dur="500"/>
                                        <p:tgtEl>
                                          <p:spTgt spid="3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animEffect filter="fade" transition="in">
                                      <p:cBhvr>
                                        <p:cTn dur="500"/>
                                        <p:tgtEl>
                                          <p:spTgt spid="3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animEffect filter="fade" transition="in">
                                      <p:cBhvr>
                                        <p:cTn dur="500"/>
                                        <p:tgtEl>
                                          <p:spTgt spid="30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7"/>
          <p:cNvSpPr txBox="1"/>
          <p:nvPr>
            <p:ph type="title"/>
          </p:nvPr>
        </p:nvSpPr>
        <p:spPr>
          <a:xfrm>
            <a:off x="1177587" y="246651"/>
            <a:ext cx="7772400" cy="822325"/>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Example of Risk</a:t>
            </a:r>
            <a:endParaRPr>
              <a:solidFill>
                <a:srgbClr val="0000FF"/>
              </a:solidFill>
            </a:endParaRPr>
          </a:p>
        </p:txBody>
      </p:sp>
      <p:sp>
        <p:nvSpPr>
          <p:cNvPr id="316" name="Google Shape;316;p27"/>
          <p:cNvSpPr txBox="1"/>
          <p:nvPr>
            <p:ph idx="1" type="body"/>
          </p:nvPr>
        </p:nvSpPr>
        <p:spPr>
          <a:xfrm>
            <a:off x="1828800" y="1828800"/>
            <a:ext cx="8839200" cy="4800600"/>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rgbClr val="7F7F7F"/>
              </a:buClr>
              <a:buSzPts val="2800"/>
              <a:buChar char="•"/>
            </a:pPr>
            <a:r>
              <a:rPr lang="en-US" sz="2800">
                <a:solidFill>
                  <a:srgbClr val="7F7F7F"/>
                </a:solidFill>
              </a:rPr>
              <a:t>US importer buys ball bearings from a German producer, Price = € 870,000 payable upon delivery in 90 days</a:t>
            </a:r>
            <a:endParaRPr/>
          </a:p>
          <a:p>
            <a:pPr indent="-228600" lvl="0" marL="228600" rtl="0" algn="l">
              <a:lnSpc>
                <a:spcPct val="80000"/>
              </a:lnSpc>
              <a:spcBef>
                <a:spcPts val="2400"/>
              </a:spcBef>
              <a:spcAft>
                <a:spcPts val="0"/>
              </a:spcAft>
              <a:buClr>
                <a:srgbClr val="7F7F7F"/>
              </a:buClr>
              <a:buSzPts val="2800"/>
              <a:buChar char="•"/>
            </a:pPr>
            <a:r>
              <a:rPr lang="en-US" sz="2800">
                <a:solidFill>
                  <a:srgbClr val="7F7F7F"/>
                </a:solidFill>
              </a:rPr>
              <a:t>Suppose the exchange rate is $1 = €0.87 (1.15 $/€)</a:t>
            </a:r>
            <a:endParaRPr/>
          </a:p>
          <a:p>
            <a:pPr indent="-228600" lvl="0" marL="228600" rtl="0" algn="l">
              <a:lnSpc>
                <a:spcPct val="90000"/>
              </a:lnSpc>
              <a:spcBef>
                <a:spcPts val="2400"/>
              </a:spcBef>
              <a:spcAft>
                <a:spcPts val="0"/>
              </a:spcAft>
              <a:buClr>
                <a:srgbClr val="7F7F7F"/>
              </a:buClr>
              <a:buSzPts val="2800"/>
              <a:buChar char="•"/>
            </a:pPr>
            <a:r>
              <a:rPr lang="en-US" sz="2800">
                <a:solidFill>
                  <a:srgbClr val="7F7F7F"/>
                </a:solidFill>
              </a:rPr>
              <a:t>$ cost of purchase = $1,000,000</a:t>
            </a:r>
            <a:endParaRPr/>
          </a:p>
          <a:p>
            <a:pPr indent="-228600" lvl="0" marL="228600" rtl="0" algn="l">
              <a:lnSpc>
                <a:spcPct val="90000"/>
              </a:lnSpc>
              <a:spcBef>
                <a:spcPts val="2400"/>
              </a:spcBef>
              <a:spcAft>
                <a:spcPts val="0"/>
              </a:spcAft>
              <a:buClr>
                <a:schemeClr val="dk1"/>
              </a:buClr>
              <a:buSzPts val="2800"/>
              <a:buChar char="•"/>
            </a:pPr>
            <a:r>
              <a:rPr lang="en-US" sz="2800"/>
              <a:t>If rate changes to  </a:t>
            </a:r>
            <a:r>
              <a:rPr lang="en-US" sz="2800">
                <a:solidFill>
                  <a:srgbClr val="FF0000"/>
                </a:solidFill>
              </a:rPr>
              <a:t>€0.89 </a:t>
            </a:r>
            <a:r>
              <a:rPr lang="en-US" sz="2800"/>
              <a:t>/$ (Euro depreciates/ devalues)</a:t>
            </a:r>
            <a:endParaRPr/>
          </a:p>
          <a:p>
            <a:pPr indent="-228600" lvl="0" marL="228600" rtl="0" algn="l">
              <a:lnSpc>
                <a:spcPct val="90000"/>
              </a:lnSpc>
              <a:spcBef>
                <a:spcPts val="2400"/>
              </a:spcBef>
              <a:spcAft>
                <a:spcPts val="0"/>
              </a:spcAft>
              <a:buClr>
                <a:schemeClr val="dk1"/>
              </a:buClr>
              <a:buSzPts val="2800"/>
              <a:buChar char="•"/>
            </a:pPr>
            <a:r>
              <a:rPr lang="en-US" sz="2800"/>
              <a:t>new $ cost = $977,528</a:t>
            </a:r>
            <a:endParaRPr/>
          </a:p>
          <a:p>
            <a:pPr indent="-228600" lvl="0" marL="228600" rtl="0" algn="l">
              <a:lnSpc>
                <a:spcPct val="90000"/>
              </a:lnSpc>
              <a:spcBef>
                <a:spcPts val="2400"/>
              </a:spcBef>
              <a:spcAft>
                <a:spcPts val="0"/>
              </a:spcAft>
              <a:buClr>
                <a:schemeClr val="dk1"/>
              </a:buClr>
              <a:buSzPts val="2800"/>
              <a:buChar char="•"/>
            </a:pPr>
            <a:r>
              <a:rPr lang="en-US" sz="2800"/>
              <a:t>US importer “saves” $22,472</a:t>
            </a:r>
            <a:endParaRPr/>
          </a:p>
        </p:txBody>
      </p:sp>
      <p:sp>
        <p:nvSpPr>
          <p:cNvPr id="317" name="Google Shape;31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0" st="0"/>
                                            </p:txEl>
                                          </p:spTgt>
                                        </p:tgtEl>
                                        <p:attrNameLst>
                                          <p:attrName>style.visibility</p:attrName>
                                        </p:attrNameLst>
                                      </p:cBhvr>
                                      <p:to>
                                        <p:strVal val="visible"/>
                                      </p:to>
                                    </p:set>
                                    <p:animEffect filter="fade" transition="in">
                                      <p:cBhvr>
                                        <p:cTn dur="500"/>
                                        <p:tgtEl>
                                          <p:spTgt spid="3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1" st="1"/>
                                            </p:txEl>
                                          </p:spTgt>
                                        </p:tgtEl>
                                        <p:attrNameLst>
                                          <p:attrName>style.visibility</p:attrName>
                                        </p:attrNameLst>
                                      </p:cBhvr>
                                      <p:to>
                                        <p:strVal val="visible"/>
                                      </p:to>
                                    </p:set>
                                    <p:animEffect filter="fade" transition="in">
                                      <p:cBhvr>
                                        <p:cTn dur="500"/>
                                        <p:tgtEl>
                                          <p:spTgt spid="3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2" st="2"/>
                                            </p:txEl>
                                          </p:spTgt>
                                        </p:tgtEl>
                                        <p:attrNameLst>
                                          <p:attrName>style.visibility</p:attrName>
                                        </p:attrNameLst>
                                      </p:cBhvr>
                                      <p:to>
                                        <p:strVal val="visible"/>
                                      </p:to>
                                    </p:set>
                                    <p:animEffect filter="fade" transition="in">
                                      <p:cBhvr>
                                        <p:cTn dur="500"/>
                                        <p:tgtEl>
                                          <p:spTgt spid="3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3" st="3"/>
                                            </p:txEl>
                                          </p:spTgt>
                                        </p:tgtEl>
                                        <p:attrNameLst>
                                          <p:attrName>style.visibility</p:attrName>
                                        </p:attrNameLst>
                                      </p:cBhvr>
                                      <p:to>
                                        <p:strVal val="visible"/>
                                      </p:to>
                                    </p:set>
                                    <p:animEffect filter="fade" transition="in">
                                      <p:cBhvr>
                                        <p:cTn dur="500"/>
                                        <p:tgtEl>
                                          <p:spTgt spid="3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4" st="4"/>
                                            </p:txEl>
                                          </p:spTgt>
                                        </p:tgtEl>
                                        <p:attrNameLst>
                                          <p:attrName>style.visibility</p:attrName>
                                        </p:attrNameLst>
                                      </p:cBhvr>
                                      <p:to>
                                        <p:strVal val="visible"/>
                                      </p:to>
                                    </p:set>
                                    <p:animEffect filter="fade" transition="in">
                                      <p:cBhvr>
                                        <p:cTn dur="500"/>
                                        <p:tgtEl>
                                          <p:spTgt spid="3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xEl>
                                              <p:pRg end="5" st="5"/>
                                            </p:txEl>
                                          </p:spTgt>
                                        </p:tgtEl>
                                        <p:attrNameLst>
                                          <p:attrName>style.visibility</p:attrName>
                                        </p:attrNameLst>
                                      </p:cBhvr>
                                      <p:to>
                                        <p:strVal val="visible"/>
                                      </p:to>
                                    </p:set>
                                    <p:animEffect filter="fade" transition="in">
                                      <p:cBhvr>
                                        <p:cTn dur="500"/>
                                        <p:tgtEl>
                                          <p:spTgt spid="31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8"/>
          <p:cNvSpPr txBox="1"/>
          <p:nvPr>
            <p:ph type="title"/>
          </p:nvPr>
        </p:nvSpPr>
        <p:spPr>
          <a:xfrm>
            <a:off x="1199559" y="-120487"/>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to deal with this risk:</a:t>
            </a:r>
            <a:endParaRPr/>
          </a:p>
        </p:txBody>
      </p:sp>
      <p:sp>
        <p:nvSpPr>
          <p:cNvPr id="324" name="Google Shape;324;p28"/>
          <p:cNvSpPr txBox="1"/>
          <p:nvPr>
            <p:ph idx="1" type="body"/>
          </p:nvPr>
        </p:nvSpPr>
        <p:spPr>
          <a:xfrm>
            <a:off x="1199559" y="1700776"/>
            <a:ext cx="10015288" cy="456191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200"/>
              <a:buChar char="•"/>
            </a:pPr>
            <a:r>
              <a:rPr lang="en-US"/>
              <a:t>Accept risk, take the chance</a:t>
            </a:r>
            <a:endParaRPr/>
          </a:p>
          <a:p>
            <a:pPr indent="-228600" lvl="1" marL="685800" rtl="0" algn="l">
              <a:lnSpc>
                <a:spcPct val="90000"/>
              </a:lnSpc>
              <a:spcBef>
                <a:spcPts val="1200"/>
              </a:spcBef>
              <a:spcAft>
                <a:spcPts val="0"/>
              </a:spcAft>
              <a:buClr>
                <a:schemeClr val="dk1"/>
              </a:buClr>
              <a:buSzPts val="2800"/>
              <a:buChar char="•"/>
            </a:pPr>
            <a:r>
              <a:rPr i="1" lang="en-US"/>
              <a:t>companies prefer not to speculate</a:t>
            </a:r>
            <a:endParaRPr/>
          </a:p>
          <a:p>
            <a:pPr indent="-228600" lvl="0" marL="228600" rtl="0" algn="l">
              <a:lnSpc>
                <a:spcPct val="90000"/>
              </a:lnSpc>
              <a:spcBef>
                <a:spcPts val="1800"/>
              </a:spcBef>
              <a:spcAft>
                <a:spcPts val="0"/>
              </a:spcAft>
              <a:buClr>
                <a:schemeClr val="dk1"/>
              </a:buClr>
              <a:buSzPts val="3200"/>
              <a:buChar char="•"/>
            </a:pPr>
            <a:r>
              <a:rPr lang="en-US"/>
              <a:t>Buy currency (Euro/dollars) at time of initial transaction </a:t>
            </a:r>
            <a:endParaRPr/>
          </a:p>
          <a:p>
            <a:pPr indent="-228600" lvl="1" marL="685800" rtl="0" algn="l">
              <a:lnSpc>
                <a:spcPct val="90000"/>
              </a:lnSpc>
              <a:spcBef>
                <a:spcPts val="1200"/>
              </a:spcBef>
              <a:spcAft>
                <a:spcPts val="0"/>
              </a:spcAft>
              <a:buClr>
                <a:schemeClr val="dk1"/>
              </a:buClr>
              <a:buSzPts val="2800"/>
              <a:buChar char="•"/>
            </a:pPr>
            <a:r>
              <a:rPr i="1" lang="en-US"/>
              <a:t>ties up working capital </a:t>
            </a:r>
            <a:endParaRPr/>
          </a:p>
          <a:p>
            <a:pPr indent="-228600" lvl="1" marL="685800" rtl="0" algn="l">
              <a:lnSpc>
                <a:spcPct val="90000"/>
              </a:lnSpc>
              <a:spcBef>
                <a:spcPts val="1800"/>
              </a:spcBef>
              <a:spcAft>
                <a:spcPts val="0"/>
              </a:spcAft>
              <a:buClr>
                <a:schemeClr val="dk1"/>
              </a:buClr>
              <a:buSzPts val="2800"/>
              <a:buNone/>
            </a:pPr>
            <a:r>
              <a:t/>
            </a:r>
            <a:endParaRPr i="1"/>
          </a:p>
          <a:p>
            <a:pPr indent="-228600" lvl="1" marL="685800" rtl="0" algn="l">
              <a:lnSpc>
                <a:spcPct val="90000"/>
              </a:lnSpc>
              <a:spcBef>
                <a:spcPts val="1800"/>
              </a:spcBef>
              <a:spcAft>
                <a:spcPts val="0"/>
              </a:spcAft>
              <a:buClr>
                <a:schemeClr val="dk1"/>
              </a:buClr>
              <a:buSzPts val="2800"/>
              <a:buNone/>
            </a:pPr>
            <a:r>
              <a:rPr b="1" lang="en-US"/>
              <a:t>ANSWER:</a:t>
            </a:r>
            <a:r>
              <a:rPr lang="en-US"/>
              <a:t>   Use the </a:t>
            </a:r>
            <a:r>
              <a:rPr i="1" lang="en-US" u="sng">
                <a:solidFill>
                  <a:schemeClr val="dk2"/>
                </a:solidFill>
              </a:rPr>
              <a:t>FORWARD MARKET</a:t>
            </a:r>
            <a:r>
              <a:rPr i="1" lang="en-US"/>
              <a:t>  </a:t>
            </a:r>
            <a:r>
              <a:rPr lang="en-US"/>
              <a:t>to eliminate risk:  </a:t>
            </a:r>
            <a:endParaRPr/>
          </a:p>
          <a:p>
            <a:pPr indent="-228600" lvl="0" marL="228600" rtl="0" algn="ctr">
              <a:lnSpc>
                <a:spcPct val="90000"/>
              </a:lnSpc>
              <a:spcBef>
                <a:spcPts val="1800"/>
              </a:spcBef>
              <a:spcAft>
                <a:spcPts val="0"/>
              </a:spcAft>
              <a:buClr>
                <a:schemeClr val="dk1"/>
              </a:buClr>
              <a:buSzPts val="3200"/>
              <a:buNone/>
            </a:pPr>
            <a:r>
              <a:rPr b="1" lang="en-US"/>
              <a:t>…</a:t>
            </a:r>
            <a:r>
              <a:rPr b="1" i="1" lang="en-US"/>
              <a:t>HEDGING</a:t>
            </a:r>
            <a:endParaRPr b="1"/>
          </a:p>
        </p:txBody>
      </p:sp>
      <p:sp>
        <p:nvSpPr>
          <p:cNvPr id="325" name="Google Shape;32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5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500"/>
                                        <p:tgtEl>
                                          <p:spTgt spid="3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Effect filter="fade" transition="in">
                                      <p:cBhvr>
                                        <p:cTn dur="500"/>
                                        <p:tgtEl>
                                          <p:spTgt spid="3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3" st="3"/>
                                            </p:txEl>
                                          </p:spTgt>
                                        </p:tgtEl>
                                        <p:attrNameLst>
                                          <p:attrName>style.visibility</p:attrName>
                                        </p:attrNameLst>
                                      </p:cBhvr>
                                      <p:to>
                                        <p:strVal val="visible"/>
                                      </p:to>
                                    </p:set>
                                    <p:animEffect filter="fade" transition="in">
                                      <p:cBhvr>
                                        <p:cTn dur="500"/>
                                        <p:tgtEl>
                                          <p:spTgt spid="3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4" st="4"/>
                                            </p:txEl>
                                          </p:spTgt>
                                        </p:tgtEl>
                                        <p:attrNameLst>
                                          <p:attrName>style.visibility</p:attrName>
                                        </p:attrNameLst>
                                      </p:cBhvr>
                                      <p:to>
                                        <p:strVal val="visible"/>
                                      </p:to>
                                    </p:set>
                                    <p:animEffect filter="fade" transition="in">
                                      <p:cBhvr>
                                        <p:cTn dur="500"/>
                                        <p:tgtEl>
                                          <p:spTgt spid="3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5" st="5"/>
                                            </p:txEl>
                                          </p:spTgt>
                                        </p:tgtEl>
                                        <p:attrNameLst>
                                          <p:attrName>style.visibility</p:attrName>
                                        </p:attrNameLst>
                                      </p:cBhvr>
                                      <p:to>
                                        <p:strVal val="visible"/>
                                      </p:to>
                                    </p:set>
                                    <p:animEffect filter="fade" transition="in">
                                      <p:cBhvr>
                                        <p:cTn dur="500"/>
                                        <p:tgtEl>
                                          <p:spTgt spid="3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6" st="6"/>
                                            </p:txEl>
                                          </p:spTgt>
                                        </p:tgtEl>
                                        <p:attrNameLst>
                                          <p:attrName>style.visibility</p:attrName>
                                        </p:attrNameLst>
                                      </p:cBhvr>
                                      <p:to>
                                        <p:strVal val="visible"/>
                                      </p:to>
                                    </p:set>
                                    <p:animEffect filter="fade" transition="in">
                                      <p:cBhvr>
                                        <p:cTn dur="500"/>
                                        <p:tgtEl>
                                          <p:spTgt spid="3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9"/>
          <p:cNvSpPr txBox="1"/>
          <p:nvPr>
            <p:ph type="title"/>
          </p:nvPr>
        </p:nvSpPr>
        <p:spPr>
          <a:xfrm>
            <a:off x="1169894" y="249445"/>
            <a:ext cx="9036423"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Forward Market (Futures and Options)</a:t>
            </a:r>
            <a:endParaRPr/>
          </a:p>
        </p:txBody>
      </p:sp>
      <p:sp>
        <p:nvSpPr>
          <p:cNvPr id="332" name="Google Shape;332;p29"/>
          <p:cNvSpPr txBox="1"/>
          <p:nvPr>
            <p:ph idx="1" type="body"/>
          </p:nvPr>
        </p:nvSpPr>
        <p:spPr>
          <a:xfrm>
            <a:off x="1927690" y="1822752"/>
            <a:ext cx="7762875" cy="4191000"/>
          </a:xfrm>
          <a:prstGeom prst="rect">
            <a:avLst/>
          </a:prstGeom>
          <a:noFill/>
          <a:ln>
            <a:noFill/>
          </a:ln>
        </p:spPr>
        <p:txBody>
          <a:bodyPr anchorCtr="0" anchor="t" bIns="44450" lIns="90475" spcFirstLastPara="1" rIns="90475" wrap="square" tIns="44450">
            <a:noAutofit/>
          </a:bodyPr>
          <a:lstStyle/>
          <a:p>
            <a:pPr indent="-228600" lvl="0" marL="228600" rtl="0" algn="l">
              <a:lnSpc>
                <a:spcPct val="90000"/>
              </a:lnSpc>
              <a:spcBef>
                <a:spcPts val="0"/>
              </a:spcBef>
              <a:spcAft>
                <a:spcPts val="0"/>
              </a:spcAft>
              <a:buClr>
                <a:schemeClr val="dk1"/>
              </a:buClr>
              <a:buSzPts val="3600"/>
              <a:buChar char="•"/>
            </a:pPr>
            <a:r>
              <a:rPr lang="en-US" sz="3600"/>
              <a:t> Contract </a:t>
            </a:r>
            <a:r>
              <a:rPr lang="en-US" sz="3600">
                <a:solidFill>
                  <a:srgbClr val="0000FF"/>
                </a:solidFill>
              </a:rPr>
              <a:t>NOW</a:t>
            </a:r>
            <a:r>
              <a:rPr lang="en-US" sz="3600"/>
              <a:t> to buy/sell foreign currency at future date… (actual rate set now – but money exchanged later)</a:t>
            </a:r>
            <a:endParaRPr/>
          </a:p>
          <a:p>
            <a:pPr indent="-228600" lvl="0" marL="228600" rtl="0" algn="l">
              <a:lnSpc>
                <a:spcPct val="90000"/>
              </a:lnSpc>
              <a:spcBef>
                <a:spcPts val="3000"/>
              </a:spcBef>
              <a:spcAft>
                <a:spcPts val="0"/>
              </a:spcAft>
              <a:buClr>
                <a:schemeClr val="dk1"/>
              </a:buClr>
              <a:buSzPts val="3600"/>
              <a:buChar char="•"/>
            </a:pPr>
            <a:r>
              <a:rPr lang="en-US" sz="3600"/>
              <a:t> Used to mitigate risk (and with speculation and arbitrage)</a:t>
            </a:r>
            <a:endParaRPr/>
          </a:p>
          <a:p>
            <a:pPr indent="-228600" lvl="0" marL="228600" rtl="0" algn="l">
              <a:lnSpc>
                <a:spcPct val="90000"/>
              </a:lnSpc>
              <a:spcBef>
                <a:spcPts val="3000"/>
              </a:spcBef>
              <a:spcAft>
                <a:spcPts val="0"/>
              </a:spcAft>
              <a:buClr>
                <a:schemeClr val="dk1"/>
              </a:buClr>
              <a:buSzPts val="3600"/>
              <a:buChar char="•"/>
            </a:pPr>
            <a:r>
              <a:rPr lang="en-US" sz="3600"/>
              <a:t> 66% of forex transactions (excluding swaps)</a:t>
            </a:r>
            <a:endParaRPr sz="3600"/>
          </a:p>
        </p:txBody>
      </p:sp>
      <p:sp>
        <p:nvSpPr>
          <p:cNvPr id="333" name="Google Shape;333;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animEffect filter="fade" transition="in">
                                      <p:cBhvr>
                                        <p:cTn dur="500"/>
                                        <p:tgtEl>
                                          <p:spTgt spid="3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animEffect filter="fade" transition="in">
                                      <p:cBhvr>
                                        <p:cTn dur="500"/>
                                        <p:tgtEl>
                                          <p:spTgt spid="3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animEffect filter="fade" transition="in">
                                      <p:cBhvr>
                                        <p:cTn dur="500"/>
                                        <p:tgtEl>
                                          <p:spTgt spid="33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0"/>
          <p:cNvSpPr txBox="1"/>
          <p:nvPr>
            <p:ph type="title"/>
          </p:nvPr>
        </p:nvSpPr>
        <p:spPr>
          <a:xfrm>
            <a:off x="1210235" y="55064"/>
            <a:ext cx="9340745" cy="746125"/>
          </a:xfrm>
          <a:prstGeom prst="rect">
            <a:avLst/>
          </a:prstGeom>
          <a:noFill/>
          <a:ln>
            <a:noFill/>
          </a:ln>
        </p:spPr>
        <p:txBody>
          <a:bodyPr anchorCtr="0" anchor="t" bIns="44450" lIns="90475" spcFirstLastPara="1" rIns="90475" wrap="square" tIns="4445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Forward Market – Two forms:   Futures and Options</a:t>
            </a:r>
            <a:endParaRPr/>
          </a:p>
        </p:txBody>
      </p:sp>
      <p:sp>
        <p:nvSpPr>
          <p:cNvPr id="340" name="Google Shape;340;p30"/>
          <p:cNvSpPr txBox="1"/>
          <p:nvPr>
            <p:ph idx="1" type="body"/>
          </p:nvPr>
        </p:nvSpPr>
        <p:spPr>
          <a:xfrm>
            <a:off x="900953" y="2059245"/>
            <a:ext cx="10623176" cy="4662230"/>
          </a:xfrm>
          <a:prstGeom prst="rect">
            <a:avLst/>
          </a:prstGeom>
          <a:noFill/>
          <a:ln>
            <a:noFill/>
          </a:ln>
        </p:spPr>
        <p:txBody>
          <a:bodyPr anchorCtr="0" anchor="t" bIns="44450" lIns="90475" spcFirstLastPara="1" rIns="90475" wrap="square" tIns="44450">
            <a:normAutofit/>
          </a:bodyPr>
          <a:lstStyle/>
          <a:p>
            <a:pPr indent="-228600" lvl="0" marL="228600" rtl="0" algn="l">
              <a:lnSpc>
                <a:spcPct val="80000"/>
              </a:lnSpc>
              <a:spcBef>
                <a:spcPts val="0"/>
              </a:spcBef>
              <a:spcAft>
                <a:spcPts val="0"/>
              </a:spcAft>
              <a:buClr>
                <a:schemeClr val="dk1"/>
              </a:buClr>
              <a:buSzPts val="2800"/>
              <a:buChar char="•"/>
            </a:pPr>
            <a:r>
              <a:rPr i="1" lang="en-US" sz="2800"/>
              <a:t>Future</a:t>
            </a:r>
            <a:r>
              <a:rPr lang="en-US" sz="2800"/>
              <a:t>:  A PROMISE to buy/sell currency at given price at a future date (30, 90, 180 days standard – though any length possible)</a:t>
            </a:r>
            <a:endParaRPr/>
          </a:p>
          <a:p>
            <a:pPr indent="-228600" lvl="0" marL="228600" rtl="0" algn="l">
              <a:lnSpc>
                <a:spcPct val="80000"/>
              </a:lnSpc>
              <a:spcBef>
                <a:spcPts val="3000"/>
              </a:spcBef>
              <a:spcAft>
                <a:spcPts val="0"/>
              </a:spcAft>
              <a:buClr>
                <a:schemeClr val="dk1"/>
              </a:buClr>
              <a:buSzPts val="2800"/>
              <a:buChar char="•"/>
            </a:pPr>
            <a:r>
              <a:rPr i="1" lang="en-US" sz="2800"/>
              <a:t>Option/choice</a:t>
            </a:r>
            <a:r>
              <a:rPr lang="en-US" sz="2800"/>
              <a:t> to buy or sell as above - but not  an obligation </a:t>
            </a:r>
            <a:endParaRPr/>
          </a:p>
          <a:p>
            <a:pPr indent="-228600" lvl="0" marL="228600" rtl="0" algn="l">
              <a:lnSpc>
                <a:spcPct val="80000"/>
              </a:lnSpc>
              <a:spcBef>
                <a:spcPts val="3000"/>
              </a:spcBef>
              <a:spcAft>
                <a:spcPts val="0"/>
              </a:spcAft>
              <a:buClr>
                <a:schemeClr val="dk1"/>
              </a:buClr>
              <a:buSzPts val="2800"/>
              <a:buChar char="•"/>
            </a:pPr>
            <a:r>
              <a:rPr lang="en-US" sz="2800"/>
              <a:t>Rate is FORWARD rate (typical rate quote is for a FUTURE… Options cost more)</a:t>
            </a:r>
            <a:endParaRPr sz="2800"/>
          </a:p>
          <a:p>
            <a:pPr indent="-228600" lvl="0" marL="228600" rtl="0" algn="l">
              <a:lnSpc>
                <a:spcPct val="80000"/>
              </a:lnSpc>
              <a:spcBef>
                <a:spcPts val="3000"/>
              </a:spcBef>
              <a:spcAft>
                <a:spcPts val="0"/>
              </a:spcAft>
              <a:buClr>
                <a:schemeClr val="dk1"/>
              </a:buClr>
              <a:buSzPts val="2800"/>
              <a:buNone/>
            </a:pPr>
            <a:r>
              <a:rPr lang="en-US" sz="2800"/>
              <a:t>(e.g., </a:t>
            </a:r>
            <a:r>
              <a:rPr i="1" lang="en-US" sz="2800">
                <a:solidFill>
                  <a:srgbClr val="0000FF"/>
                </a:solidFill>
              </a:rPr>
              <a:t>to buy €870,000 in 90 days at $1 = €.87</a:t>
            </a:r>
            <a:r>
              <a:rPr i="1" lang="en-US" sz="2800"/>
              <a:t>)  </a:t>
            </a:r>
            <a:endParaRPr i="1" sz="1200"/>
          </a:p>
        </p:txBody>
      </p:sp>
      <p:sp>
        <p:nvSpPr>
          <p:cNvPr id="341" name="Google Shape;341;p30">
            <a:hlinkClick r:id="rId3"/>
          </p:cNvPr>
          <p:cNvSpPr/>
          <p:nvPr/>
        </p:nvSpPr>
        <p:spPr>
          <a:xfrm>
            <a:off x="3505200" y="5943600"/>
            <a:ext cx="304800" cy="152400"/>
          </a:xfrm>
          <a:custGeom>
            <a:rect b="b" l="l" r="r" t="t"/>
            <a:pathLst>
              <a:path extrusionOk="0" h="120000" w="120000">
                <a:moveTo>
                  <a:pt x="0" y="0"/>
                </a:moveTo>
                <a:lnTo>
                  <a:pt x="120000" y="0"/>
                </a:lnTo>
                <a:lnTo>
                  <a:pt x="120000" y="120000"/>
                </a:lnTo>
                <a:lnTo>
                  <a:pt x="0" y="120000"/>
                </a:lnTo>
                <a:close/>
                <a:moveTo>
                  <a:pt x="60000" y="15000"/>
                </a:moveTo>
                <a:lnTo>
                  <a:pt x="60000" y="15000"/>
                </a:lnTo>
                <a:cubicBezTo>
                  <a:pt x="72426" y="15000"/>
                  <a:pt x="82500" y="35147"/>
                  <a:pt x="82500" y="60000"/>
                </a:cubicBezTo>
                <a:cubicBezTo>
                  <a:pt x="82500" y="84853"/>
                  <a:pt x="72426" y="105000"/>
                  <a:pt x="60000" y="105000"/>
                </a:cubicBezTo>
                <a:cubicBezTo>
                  <a:pt x="47574" y="105000"/>
                  <a:pt x="37500" y="84853"/>
                  <a:pt x="37500" y="60000"/>
                </a:cubicBezTo>
                <a:cubicBezTo>
                  <a:pt x="37500" y="35147"/>
                  <a:pt x="47574" y="15000"/>
                  <a:pt x="60000" y="15000"/>
                </a:cubicBezTo>
                <a:close/>
              </a:path>
              <a:path extrusionOk="0" fill="darken" h="120000" w="120000">
                <a:moveTo>
                  <a:pt x="60000" y="15000"/>
                </a:moveTo>
                <a:lnTo>
                  <a:pt x="60000" y="15000"/>
                </a:lnTo>
                <a:cubicBezTo>
                  <a:pt x="72426" y="15000"/>
                  <a:pt x="82500" y="35147"/>
                  <a:pt x="82500" y="60000"/>
                </a:cubicBezTo>
                <a:cubicBezTo>
                  <a:pt x="82500" y="84853"/>
                  <a:pt x="72426" y="105000"/>
                  <a:pt x="60000" y="105000"/>
                </a:cubicBezTo>
                <a:cubicBezTo>
                  <a:pt x="47574" y="105000"/>
                  <a:pt x="37500" y="84853"/>
                  <a:pt x="37500" y="60000"/>
                </a:cubicBezTo>
                <a:cubicBezTo>
                  <a:pt x="37500" y="35147"/>
                  <a:pt x="47574" y="15000"/>
                  <a:pt x="60000" y="15000"/>
                </a:cubicBezTo>
                <a:close/>
                <a:moveTo>
                  <a:pt x="60000" y="17813"/>
                </a:moveTo>
                <a:cubicBezTo>
                  <a:pt x="62330" y="17813"/>
                  <a:pt x="64219" y="21590"/>
                  <a:pt x="64219" y="26250"/>
                </a:cubicBezTo>
                <a:cubicBezTo>
                  <a:pt x="64219" y="30910"/>
                  <a:pt x="62330" y="34688"/>
                  <a:pt x="60000" y="34688"/>
                </a:cubicBezTo>
                <a:cubicBezTo>
                  <a:pt x="57670" y="34688"/>
                  <a:pt x="55781" y="30910"/>
                  <a:pt x="55781" y="26250"/>
                </a:cubicBezTo>
                <a:cubicBezTo>
                  <a:pt x="55781" y="21590"/>
                  <a:pt x="57670" y="17813"/>
                  <a:pt x="60000" y="17813"/>
                </a:cubicBezTo>
                <a:moveTo>
                  <a:pt x="51563" y="43125"/>
                </a:moveTo>
                <a:lnTo>
                  <a:pt x="51563" y="48750"/>
                </a:lnTo>
                <a:lnTo>
                  <a:pt x="55781" y="48750"/>
                </a:lnTo>
                <a:lnTo>
                  <a:pt x="55781" y="88125"/>
                </a:lnTo>
                <a:lnTo>
                  <a:pt x="51563" y="88125"/>
                </a:lnTo>
                <a:lnTo>
                  <a:pt x="51563" y="93750"/>
                </a:lnTo>
                <a:lnTo>
                  <a:pt x="68438" y="93750"/>
                </a:lnTo>
                <a:lnTo>
                  <a:pt x="68438" y="88125"/>
                </a:lnTo>
                <a:lnTo>
                  <a:pt x="64219" y="88125"/>
                </a:lnTo>
                <a:lnTo>
                  <a:pt x="64219" y="43125"/>
                </a:lnTo>
                <a:close/>
              </a:path>
              <a:path extrusionOk="0" fill="lighten" h="120000" w="120000">
                <a:moveTo>
                  <a:pt x="60000" y="17813"/>
                </a:moveTo>
                <a:cubicBezTo>
                  <a:pt x="62330" y="17813"/>
                  <a:pt x="64219" y="21590"/>
                  <a:pt x="64219" y="26250"/>
                </a:cubicBezTo>
                <a:cubicBezTo>
                  <a:pt x="64219" y="30910"/>
                  <a:pt x="62330" y="34688"/>
                  <a:pt x="60000" y="34688"/>
                </a:cubicBezTo>
                <a:cubicBezTo>
                  <a:pt x="57670" y="34688"/>
                  <a:pt x="55781" y="30910"/>
                  <a:pt x="55781" y="26250"/>
                </a:cubicBezTo>
                <a:cubicBezTo>
                  <a:pt x="55781" y="21590"/>
                  <a:pt x="57670" y="17813"/>
                  <a:pt x="60000" y="17813"/>
                </a:cubicBezTo>
                <a:moveTo>
                  <a:pt x="51563" y="43125"/>
                </a:moveTo>
                <a:lnTo>
                  <a:pt x="64219" y="43125"/>
                </a:lnTo>
                <a:lnTo>
                  <a:pt x="64219" y="88125"/>
                </a:lnTo>
                <a:lnTo>
                  <a:pt x="68438" y="88125"/>
                </a:lnTo>
                <a:lnTo>
                  <a:pt x="68438" y="93750"/>
                </a:lnTo>
                <a:lnTo>
                  <a:pt x="51563" y="93750"/>
                </a:lnTo>
                <a:lnTo>
                  <a:pt x="51563" y="88125"/>
                </a:lnTo>
                <a:lnTo>
                  <a:pt x="55781" y="88125"/>
                </a:lnTo>
                <a:lnTo>
                  <a:pt x="55781" y="48750"/>
                </a:lnTo>
                <a:lnTo>
                  <a:pt x="51563" y="48750"/>
                </a:lnTo>
                <a:close/>
              </a:path>
              <a:path extrusionOk="0" fill="none" h="120000" w="120000">
                <a:moveTo>
                  <a:pt x="60000" y="15000"/>
                </a:moveTo>
                <a:lnTo>
                  <a:pt x="60000" y="15000"/>
                </a:lnTo>
                <a:cubicBezTo>
                  <a:pt x="72426" y="15000"/>
                  <a:pt x="82500" y="35147"/>
                  <a:pt x="82500" y="60000"/>
                </a:cubicBezTo>
                <a:cubicBezTo>
                  <a:pt x="82500" y="84853"/>
                  <a:pt x="72426" y="105000"/>
                  <a:pt x="60000" y="105000"/>
                </a:cubicBezTo>
                <a:cubicBezTo>
                  <a:pt x="47574" y="105000"/>
                  <a:pt x="37500" y="84853"/>
                  <a:pt x="37500" y="60000"/>
                </a:cubicBezTo>
                <a:cubicBezTo>
                  <a:pt x="37500" y="35147"/>
                  <a:pt x="47574" y="15000"/>
                  <a:pt x="60000" y="15000"/>
                </a:cubicBezTo>
                <a:close/>
                <a:moveTo>
                  <a:pt x="60000" y="17813"/>
                </a:moveTo>
                <a:cubicBezTo>
                  <a:pt x="62330" y="17813"/>
                  <a:pt x="64219" y="21590"/>
                  <a:pt x="64219" y="26250"/>
                </a:cubicBezTo>
                <a:cubicBezTo>
                  <a:pt x="64219" y="30910"/>
                  <a:pt x="62330" y="34688"/>
                  <a:pt x="60000" y="34688"/>
                </a:cubicBezTo>
                <a:cubicBezTo>
                  <a:pt x="57670" y="34688"/>
                  <a:pt x="55781" y="30910"/>
                  <a:pt x="55781" y="26250"/>
                </a:cubicBezTo>
                <a:cubicBezTo>
                  <a:pt x="55781" y="21590"/>
                  <a:pt x="57670" y="17813"/>
                  <a:pt x="60000" y="17813"/>
                </a:cubicBezTo>
                <a:moveTo>
                  <a:pt x="51563" y="43125"/>
                </a:moveTo>
                <a:lnTo>
                  <a:pt x="64219" y="43125"/>
                </a:lnTo>
                <a:lnTo>
                  <a:pt x="64219" y="88125"/>
                </a:lnTo>
                <a:lnTo>
                  <a:pt x="68438" y="88125"/>
                </a:lnTo>
                <a:lnTo>
                  <a:pt x="68438" y="93750"/>
                </a:lnTo>
                <a:lnTo>
                  <a:pt x="51563" y="93750"/>
                </a:lnTo>
                <a:lnTo>
                  <a:pt x="51563" y="88125"/>
                </a:lnTo>
                <a:lnTo>
                  <a:pt x="55781" y="88125"/>
                </a:lnTo>
                <a:lnTo>
                  <a:pt x="55781" y="48750"/>
                </a:lnTo>
                <a:lnTo>
                  <a:pt x="51563" y="48750"/>
                </a:lnTo>
                <a:close/>
              </a:path>
              <a:path extrusionOk="0" fill="none" h="120000" w="120000">
                <a:moveTo>
                  <a:pt x="0" y="0"/>
                </a:moveTo>
                <a:lnTo>
                  <a:pt x="120000" y="0"/>
                </a:lnTo>
                <a:lnTo>
                  <a:pt x="120000" y="120000"/>
                </a:lnTo>
                <a:lnTo>
                  <a:pt x="0" y="120000"/>
                </a:lnTo>
                <a:close/>
              </a:path>
            </a:pathLst>
          </a:custGeom>
          <a:solidFill>
            <a:schemeClr val="accent1"/>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animEffect filter="fade" transition="in">
                                      <p:cBhvr>
                                        <p:cTn dur="500"/>
                                        <p:tgtEl>
                                          <p:spTgt spid="3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1" st="1"/>
                                            </p:txEl>
                                          </p:spTgt>
                                        </p:tgtEl>
                                        <p:attrNameLst>
                                          <p:attrName>style.visibility</p:attrName>
                                        </p:attrNameLst>
                                      </p:cBhvr>
                                      <p:to>
                                        <p:strVal val="visible"/>
                                      </p:to>
                                    </p:set>
                                    <p:animEffect filter="fade" transition="in">
                                      <p:cBhvr>
                                        <p:cTn dur="500"/>
                                        <p:tgtEl>
                                          <p:spTgt spid="3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2" st="2"/>
                                            </p:txEl>
                                          </p:spTgt>
                                        </p:tgtEl>
                                        <p:attrNameLst>
                                          <p:attrName>style.visibility</p:attrName>
                                        </p:attrNameLst>
                                      </p:cBhvr>
                                      <p:to>
                                        <p:strVal val="visible"/>
                                      </p:to>
                                    </p:set>
                                    <p:animEffect filter="fade" transition="in">
                                      <p:cBhvr>
                                        <p:cTn dur="500"/>
                                        <p:tgtEl>
                                          <p:spTgt spid="3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3" st="3"/>
                                            </p:txEl>
                                          </p:spTgt>
                                        </p:tgtEl>
                                        <p:attrNameLst>
                                          <p:attrName>style.visibility</p:attrName>
                                        </p:attrNameLst>
                                      </p:cBhvr>
                                      <p:to>
                                        <p:strVal val="visible"/>
                                      </p:to>
                                    </p:set>
                                    <p:animEffect filter="fade" transition="in">
                                      <p:cBhvr>
                                        <p:cTn dur="500"/>
                                        <p:tgtEl>
                                          <p:spTgt spid="340">
                                            <p:txEl>
                                              <p:pRg end="3" st="3"/>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1"/>
          <p:cNvSpPr txBox="1"/>
          <p:nvPr>
            <p:ph type="title"/>
          </p:nvPr>
        </p:nvSpPr>
        <p:spPr>
          <a:xfrm>
            <a:off x="1169894" y="0"/>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Hedging - trade</a:t>
            </a:r>
            <a:endParaRPr/>
          </a:p>
        </p:txBody>
      </p:sp>
      <p:sp>
        <p:nvSpPr>
          <p:cNvPr id="349" name="Google Shape;349;p31"/>
          <p:cNvSpPr txBox="1"/>
          <p:nvPr>
            <p:ph idx="1" type="body"/>
          </p:nvPr>
        </p:nvSpPr>
        <p:spPr>
          <a:xfrm>
            <a:off x="927847" y="1746782"/>
            <a:ext cx="10034927" cy="4609567"/>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600"/>
              <a:buChar char="•"/>
            </a:pPr>
            <a:r>
              <a:rPr lang="en-US" sz="3600"/>
              <a:t>Buying currency in the forward market to eliminate uncertainly (risk) in currency value</a:t>
            </a:r>
            <a:endParaRPr/>
          </a:p>
          <a:p>
            <a:pPr indent="-228600" lvl="1" marL="685800" rtl="0" algn="l">
              <a:lnSpc>
                <a:spcPct val="90000"/>
              </a:lnSpc>
              <a:spcBef>
                <a:spcPts val="2400"/>
              </a:spcBef>
              <a:spcAft>
                <a:spcPts val="0"/>
              </a:spcAft>
              <a:buClr>
                <a:schemeClr val="dk1"/>
              </a:buClr>
              <a:buSzPts val="3200"/>
              <a:buChar char="•"/>
            </a:pPr>
            <a:r>
              <a:rPr lang="en-US" sz="3200"/>
              <a:t>US importer buys ball bearings from a German producer, Price = €870,000 payable in Euros upon delivery in 90 days</a:t>
            </a:r>
            <a:endParaRPr/>
          </a:p>
          <a:p>
            <a:pPr indent="-228600" lvl="1" marL="685800" rtl="0" algn="l">
              <a:lnSpc>
                <a:spcPct val="90000"/>
              </a:lnSpc>
              <a:spcBef>
                <a:spcPts val="2400"/>
              </a:spcBef>
              <a:spcAft>
                <a:spcPts val="0"/>
              </a:spcAft>
              <a:buClr>
                <a:schemeClr val="dk1"/>
              </a:buClr>
              <a:buSzPts val="3200"/>
              <a:buChar char="•"/>
            </a:pPr>
            <a:r>
              <a:rPr lang="en-US" sz="3200"/>
              <a:t>Buy €870,000 in Forward market for 0.85 €/$:  Cost is $1,023,529 whether dollar appreciates or depreciates</a:t>
            </a:r>
            <a:endParaRPr/>
          </a:p>
          <a:p>
            <a:pPr indent="0" lvl="0" marL="228600" rtl="0" algn="l">
              <a:lnSpc>
                <a:spcPct val="90000"/>
              </a:lnSpc>
              <a:spcBef>
                <a:spcPts val="2400"/>
              </a:spcBef>
              <a:spcAft>
                <a:spcPts val="0"/>
              </a:spcAft>
              <a:buClr>
                <a:schemeClr val="dk1"/>
              </a:buClr>
              <a:buSzPts val="3600"/>
              <a:buNone/>
            </a:pPr>
            <a:r>
              <a:t/>
            </a:r>
            <a:endParaRPr sz="3600"/>
          </a:p>
        </p:txBody>
      </p:sp>
      <p:sp>
        <p:nvSpPr>
          <p:cNvPr id="350" name="Google Shape;350;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0" st="0"/>
                                            </p:txEl>
                                          </p:spTgt>
                                        </p:tgtEl>
                                        <p:attrNameLst>
                                          <p:attrName>style.visibility</p:attrName>
                                        </p:attrNameLst>
                                      </p:cBhvr>
                                      <p:to>
                                        <p:strVal val="visible"/>
                                      </p:to>
                                    </p:set>
                                    <p:animEffect filter="fade" transition="in">
                                      <p:cBhvr>
                                        <p:cTn dur="500"/>
                                        <p:tgtEl>
                                          <p:spTgt spid="3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1" st="1"/>
                                            </p:txEl>
                                          </p:spTgt>
                                        </p:tgtEl>
                                        <p:attrNameLst>
                                          <p:attrName>style.visibility</p:attrName>
                                        </p:attrNameLst>
                                      </p:cBhvr>
                                      <p:to>
                                        <p:strVal val="visible"/>
                                      </p:to>
                                    </p:set>
                                    <p:animEffect filter="fade" transition="in">
                                      <p:cBhvr>
                                        <p:cTn dur="500"/>
                                        <p:tgtEl>
                                          <p:spTgt spid="3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2" st="2"/>
                                            </p:txEl>
                                          </p:spTgt>
                                        </p:tgtEl>
                                        <p:attrNameLst>
                                          <p:attrName>style.visibility</p:attrName>
                                        </p:attrNameLst>
                                      </p:cBhvr>
                                      <p:to>
                                        <p:strVal val="visible"/>
                                      </p:to>
                                    </p:set>
                                    <p:animEffect filter="fade" transition="in">
                                      <p:cBhvr>
                                        <p:cTn dur="500"/>
                                        <p:tgtEl>
                                          <p:spTgt spid="3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9">
                                            <p:txEl>
                                              <p:pRg end="3" st="3"/>
                                            </p:txEl>
                                          </p:spTgt>
                                        </p:tgtEl>
                                        <p:attrNameLst>
                                          <p:attrName>style.visibility</p:attrName>
                                        </p:attrNameLst>
                                      </p:cBhvr>
                                      <p:to>
                                        <p:strVal val="visible"/>
                                      </p:to>
                                    </p:set>
                                    <p:animEffect filter="fade" transition="in">
                                      <p:cBhvr>
                                        <p:cTn dur="500"/>
                                        <p:tgtEl>
                                          <p:spTgt spid="34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2"/>
          <p:cNvSpPr txBox="1"/>
          <p:nvPr>
            <p:ph type="title"/>
          </p:nvPr>
        </p:nvSpPr>
        <p:spPr>
          <a:xfrm>
            <a:off x="1264194" y="-61277"/>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Hedging example</a:t>
            </a:r>
            <a:endParaRPr/>
          </a:p>
        </p:txBody>
      </p:sp>
      <p:sp>
        <p:nvSpPr>
          <p:cNvPr id="357" name="Google Shape;357;p32"/>
          <p:cNvSpPr txBox="1"/>
          <p:nvPr>
            <p:ph idx="1" type="body"/>
          </p:nvPr>
        </p:nvSpPr>
        <p:spPr>
          <a:xfrm>
            <a:off x="995081" y="1631709"/>
            <a:ext cx="10061993" cy="4114800"/>
          </a:xfrm>
          <a:prstGeom prst="rect">
            <a:avLst/>
          </a:prstGeom>
          <a:noFill/>
          <a:ln>
            <a:noFill/>
          </a:ln>
        </p:spPr>
        <p:txBody>
          <a:bodyPr anchorCtr="0" anchor="t" bIns="45700" lIns="91425" spcFirstLastPara="1" rIns="91425" wrap="square" tIns="45700">
            <a:normAutofit/>
          </a:bodyPr>
          <a:lstStyle/>
          <a:p>
            <a:pPr indent="-228600" lvl="1" marL="685800" rtl="0" algn="l">
              <a:lnSpc>
                <a:spcPct val="90000"/>
              </a:lnSpc>
              <a:spcBef>
                <a:spcPts val="0"/>
              </a:spcBef>
              <a:spcAft>
                <a:spcPts val="0"/>
              </a:spcAft>
              <a:buClr>
                <a:schemeClr val="dk1"/>
              </a:buClr>
              <a:buSzPts val="2800"/>
              <a:buChar char="•"/>
            </a:pPr>
            <a:r>
              <a:rPr lang="en-US"/>
              <a:t>US importer buys ball bearings from a German producer, Price = €870,000 payable in Euros upon delivery in 90 days</a:t>
            </a:r>
            <a:endParaRPr/>
          </a:p>
          <a:p>
            <a:pPr indent="-228600" lvl="1" marL="685800" rtl="0" algn="l">
              <a:lnSpc>
                <a:spcPct val="90000"/>
              </a:lnSpc>
              <a:spcBef>
                <a:spcPts val="1800"/>
              </a:spcBef>
              <a:spcAft>
                <a:spcPts val="0"/>
              </a:spcAft>
              <a:buClr>
                <a:schemeClr val="dk1"/>
              </a:buClr>
              <a:buSzPts val="2800"/>
              <a:buChar char="•"/>
            </a:pPr>
            <a:r>
              <a:rPr lang="en-US"/>
              <a:t>Buy €870,000 in Forward market for 0.85 €/$:  Cost is   $1,023,529 whether dollar appreciates or depreciates</a:t>
            </a:r>
            <a:endParaRPr/>
          </a:p>
          <a:p>
            <a:pPr indent="-228600" lvl="1" marL="685800" rtl="0" algn="l">
              <a:lnSpc>
                <a:spcPct val="90000"/>
              </a:lnSpc>
              <a:spcBef>
                <a:spcPts val="1800"/>
              </a:spcBef>
              <a:spcAft>
                <a:spcPts val="0"/>
              </a:spcAft>
              <a:buClr>
                <a:schemeClr val="dk1"/>
              </a:buClr>
              <a:buSzPts val="2800"/>
              <a:buNone/>
            </a:pPr>
            <a:r>
              <a:rPr lang="en-US"/>
              <a:t>T1:  Makes deal AND buys Euros in Forward Market</a:t>
            </a:r>
            <a:endParaRPr/>
          </a:p>
          <a:p>
            <a:pPr indent="-228600" lvl="1" marL="685800" rtl="0" algn="l">
              <a:lnSpc>
                <a:spcPct val="90000"/>
              </a:lnSpc>
              <a:spcBef>
                <a:spcPts val="1800"/>
              </a:spcBef>
              <a:spcAft>
                <a:spcPts val="0"/>
              </a:spcAft>
              <a:buClr>
                <a:schemeClr val="dk1"/>
              </a:buClr>
              <a:buSzPts val="2800"/>
              <a:buNone/>
            </a:pPr>
            <a:r>
              <a:rPr lang="en-US"/>
              <a:t>T2:  Pays for Euros AND goods</a:t>
            </a:r>
            <a:endParaRPr/>
          </a:p>
        </p:txBody>
      </p:sp>
      <p:cxnSp>
        <p:nvCxnSpPr>
          <p:cNvPr id="358" name="Google Shape;358;p32"/>
          <p:cNvCxnSpPr/>
          <p:nvPr/>
        </p:nvCxnSpPr>
        <p:spPr>
          <a:xfrm>
            <a:off x="3265035" y="5410200"/>
            <a:ext cx="5410200" cy="4"/>
          </a:xfrm>
          <a:prstGeom prst="straightConnector1">
            <a:avLst/>
          </a:prstGeom>
          <a:noFill/>
          <a:ln cap="flat" cmpd="sng" w="38100">
            <a:solidFill>
              <a:schemeClr val="dk1"/>
            </a:solidFill>
            <a:prstDash val="solid"/>
            <a:round/>
            <a:headEnd len="med" w="med" type="none"/>
            <a:tailEnd len="med" w="med" type="triangle"/>
          </a:ln>
        </p:spPr>
      </p:cxnSp>
      <p:grpSp>
        <p:nvGrpSpPr>
          <p:cNvPr id="359" name="Google Shape;359;p32"/>
          <p:cNvGrpSpPr/>
          <p:nvPr/>
        </p:nvGrpSpPr>
        <p:grpSpPr>
          <a:xfrm>
            <a:off x="3417435" y="5486404"/>
            <a:ext cx="609600" cy="674688"/>
            <a:chOff x="816" y="3456"/>
            <a:chExt cx="384" cy="425"/>
          </a:xfrm>
        </p:grpSpPr>
        <p:sp>
          <p:nvSpPr>
            <p:cNvPr id="360" name="Google Shape;360;p32"/>
            <p:cNvSpPr txBox="1"/>
            <p:nvPr/>
          </p:nvSpPr>
          <p:spPr>
            <a:xfrm>
              <a:off x="816" y="3648"/>
              <a:ext cx="384" cy="233"/>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T1</a:t>
              </a:r>
              <a:endParaRPr/>
            </a:p>
          </p:txBody>
        </p:sp>
        <p:cxnSp>
          <p:nvCxnSpPr>
            <p:cNvPr id="361" name="Google Shape;361;p32"/>
            <p:cNvCxnSpPr/>
            <p:nvPr/>
          </p:nvCxnSpPr>
          <p:spPr>
            <a:xfrm rot="10800000">
              <a:off x="960" y="3456"/>
              <a:ext cx="0" cy="192"/>
            </a:xfrm>
            <a:prstGeom prst="straightConnector1">
              <a:avLst/>
            </a:prstGeom>
            <a:noFill/>
            <a:ln cap="flat" cmpd="sng" w="12700">
              <a:solidFill>
                <a:schemeClr val="dk1"/>
              </a:solidFill>
              <a:prstDash val="solid"/>
              <a:round/>
              <a:headEnd len="med" w="med" type="none"/>
              <a:tailEnd len="med" w="med" type="triangle"/>
            </a:ln>
          </p:spPr>
        </p:cxnSp>
      </p:grpSp>
      <p:sp>
        <p:nvSpPr>
          <p:cNvPr id="362" name="Google Shape;362;p32"/>
          <p:cNvSpPr txBox="1"/>
          <p:nvPr/>
        </p:nvSpPr>
        <p:spPr>
          <a:xfrm>
            <a:off x="8004793" y="5826144"/>
            <a:ext cx="609600" cy="369888"/>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T2</a:t>
            </a:r>
            <a:endParaRPr/>
          </a:p>
        </p:txBody>
      </p:sp>
      <p:cxnSp>
        <p:nvCxnSpPr>
          <p:cNvPr id="363" name="Google Shape;363;p32"/>
          <p:cNvCxnSpPr/>
          <p:nvPr/>
        </p:nvCxnSpPr>
        <p:spPr>
          <a:xfrm rot="10800000">
            <a:off x="8309593" y="5486404"/>
            <a:ext cx="0" cy="304800"/>
          </a:xfrm>
          <a:prstGeom prst="straightConnector1">
            <a:avLst/>
          </a:prstGeom>
          <a:noFill/>
          <a:ln cap="flat" cmpd="sng" w="12700">
            <a:solidFill>
              <a:schemeClr val="dk1"/>
            </a:solidFill>
            <a:prstDash val="solid"/>
            <a:round/>
            <a:headEnd len="med" w="med" type="none"/>
            <a:tailEnd len="med" w="med" type="triangle"/>
          </a:ln>
        </p:spPr>
      </p:cxnSp>
      <p:cxnSp>
        <p:nvCxnSpPr>
          <p:cNvPr id="364" name="Google Shape;364;p32"/>
          <p:cNvCxnSpPr/>
          <p:nvPr/>
        </p:nvCxnSpPr>
        <p:spPr>
          <a:xfrm>
            <a:off x="6770235" y="5992906"/>
            <a:ext cx="1219200" cy="0"/>
          </a:xfrm>
          <a:prstGeom prst="straightConnector1">
            <a:avLst/>
          </a:prstGeom>
          <a:noFill/>
          <a:ln cap="flat" cmpd="sng" w="38100">
            <a:solidFill>
              <a:schemeClr val="dk1"/>
            </a:solidFill>
            <a:prstDash val="solid"/>
            <a:round/>
            <a:headEnd len="med" w="med" type="none"/>
            <a:tailEnd len="med" w="med" type="triangle"/>
          </a:ln>
        </p:spPr>
      </p:cxnSp>
      <p:cxnSp>
        <p:nvCxnSpPr>
          <p:cNvPr id="365" name="Google Shape;365;p32"/>
          <p:cNvCxnSpPr/>
          <p:nvPr/>
        </p:nvCxnSpPr>
        <p:spPr>
          <a:xfrm>
            <a:off x="4027035" y="5992906"/>
            <a:ext cx="1524000" cy="0"/>
          </a:xfrm>
          <a:prstGeom prst="straightConnector1">
            <a:avLst/>
          </a:prstGeom>
          <a:noFill/>
          <a:ln cap="flat" cmpd="sng" w="38100">
            <a:solidFill>
              <a:schemeClr val="dk1"/>
            </a:solidFill>
            <a:prstDash val="solid"/>
            <a:round/>
            <a:headEnd len="med" w="med" type="none"/>
            <a:tailEnd len="med" w="med" type="none"/>
          </a:ln>
        </p:spPr>
      </p:cxnSp>
      <p:sp>
        <p:nvSpPr>
          <p:cNvPr id="366" name="Google Shape;366;p32"/>
          <p:cNvSpPr txBox="1"/>
          <p:nvPr/>
        </p:nvSpPr>
        <p:spPr>
          <a:xfrm>
            <a:off x="5551035" y="5795682"/>
            <a:ext cx="1219200" cy="369332"/>
          </a:xfrm>
          <a:prstGeom prst="rect">
            <a:avLst/>
          </a:prstGeom>
          <a:noFill/>
          <a:ln cap="flat" cmpd="sng" w="381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90 days</a:t>
            </a:r>
            <a:endParaRPr/>
          </a:p>
        </p:txBody>
      </p:sp>
      <p:sp>
        <p:nvSpPr>
          <p:cNvPr id="367" name="Google Shape;36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500"/>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animEffect filter="fade" transition="in">
                                      <p:cBhvr>
                                        <p:cTn dur="500"/>
                                        <p:tgtEl>
                                          <p:spTgt spid="3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animEffect filter="fade" transition="in">
                                      <p:cBhvr>
                                        <p:cTn dur="500"/>
                                        <p:tgtEl>
                                          <p:spTgt spid="3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animEffect filter="fade" transition="in">
                                      <p:cBhvr>
                                        <p:cTn dur="500"/>
                                        <p:tgtEl>
                                          <p:spTgt spid="3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3"/>
          <p:cNvSpPr txBox="1"/>
          <p:nvPr>
            <p:ph idx="1" type="body"/>
          </p:nvPr>
        </p:nvSpPr>
        <p:spPr>
          <a:xfrm>
            <a:off x="1447800" y="1730188"/>
            <a:ext cx="7772400" cy="41148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600"/>
              <a:buNone/>
            </a:pPr>
            <a:r>
              <a:rPr i="1" lang="en-US" sz="3600"/>
              <a:t>Normally there is a difference between Spot and Forward rates…</a:t>
            </a:r>
            <a:r>
              <a:rPr i="1" lang="en-US"/>
              <a:t> </a:t>
            </a:r>
            <a:endParaRPr/>
          </a:p>
          <a:p>
            <a:pPr indent="-228600" lvl="0" marL="228600" rtl="0" algn="l">
              <a:lnSpc>
                <a:spcPct val="90000"/>
              </a:lnSpc>
              <a:spcBef>
                <a:spcPts val="2400"/>
              </a:spcBef>
              <a:spcAft>
                <a:spcPts val="0"/>
              </a:spcAft>
              <a:buClr>
                <a:schemeClr val="dk1"/>
              </a:buClr>
              <a:buSzPts val="3200"/>
              <a:buChar char="•"/>
            </a:pPr>
            <a:r>
              <a:rPr lang="en-US"/>
              <a:t>Can be selling at </a:t>
            </a:r>
            <a:r>
              <a:rPr b="1" lang="en-US"/>
              <a:t>discount</a:t>
            </a:r>
            <a:r>
              <a:rPr lang="en-US"/>
              <a:t> or </a:t>
            </a:r>
            <a:r>
              <a:rPr b="1" lang="en-US"/>
              <a:t>premium</a:t>
            </a:r>
            <a:endParaRPr/>
          </a:p>
          <a:p>
            <a:pPr indent="-228600" lvl="0" marL="228600" rtl="0" algn="l">
              <a:lnSpc>
                <a:spcPct val="90000"/>
              </a:lnSpc>
              <a:spcBef>
                <a:spcPts val="2400"/>
              </a:spcBef>
              <a:spcAft>
                <a:spcPts val="0"/>
              </a:spcAft>
              <a:buClr>
                <a:schemeClr val="dk1"/>
              </a:buClr>
              <a:buSzPts val="3200"/>
              <a:buChar char="•"/>
            </a:pPr>
            <a:r>
              <a:rPr lang="en-US"/>
              <a:t>Caused by interest rate differences, and/or inflation rates, trade patterns, etc.</a:t>
            </a:r>
            <a:endParaRPr/>
          </a:p>
          <a:p>
            <a:pPr indent="-228600" lvl="0" marL="228600" rtl="0" algn="l">
              <a:lnSpc>
                <a:spcPct val="90000"/>
              </a:lnSpc>
              <a:spcBef>
                <a:spcPts val="2400"/>
              </a:spcBef>
              <a:spcAft>
                <a:spcPts val="0"/>
              </a:spcAft>
              <a:buClr>
                <a:schemeClr val="dk1"/>
              </a:buClr>
              <a:buSzPts val="3200"/>
              <a:buChar char="•"/>
            </a:pPr>
            <a:r>
              <a:rPr lang="en-US"/>
              <a:t>Determined by </a:t>
            </a:r>
            <a:r>
              <a:rPr i="1" lang="en-US">
                <a:solidFill>
                  <a:srgbClr val="0000FF"/>
                </a:solidFill>
              </a:rPr>
              <a:t>expectations  </a:t>
            </a:r>
            <a:r>
              <a:rPr lang="en-US"/>
              <a:t>about currency movements</a:t>
            </a:r>
            <a:endParaRPr/>
          </a:p>
          <a:p>
            <a:pPr indent="-228600" lvl="0" marL="228600" rtl="0" algn="l">
              <a:lnSpc>
                <a:spcPct val="90000"/>
              </a:lnSpc>
              <a:spcBef>
                <a:spcPts val="2400"/>
              </a:spcBef>
              <a:spcAft>
                <a:spcPts val="0"/>
              </a:spcAft>
              <a:buClr>
                <a:schemeClr val="dk1"/>
              </a:buClr>
              <a:buSzPts val="3200"/>
              <a:buChar char="•"/>
            </a:pPr>
            <a:r>
              <a:rPr lang="en-US"/>
              <a:t>Eurocurrency rates</a:t>
            </a:r>
            <a:endParaRPr/>
          </a:p>
          <a:p>
            <a:pPr indent="-228600" lvl="0" marL="228600" rtl="0" algn="l">
              <a:lnSpc>
                <a:spcPct val="90000"/>
              </a:lnSpc>
              <a:spcBef>
                <a:spcPts val="2400"/>
              </a:spcBef>
              <a:spcAft>
                <a:spcPts val="0"/>
              </a:spcAft>
              <a:buClr>
                <a:schemeClr val="dk1"/>
              </a:buClr>
              <a:buSzPts val="2400"/>
              <a:buNone/>
            </a:pPr>
            <a:r>
              <a:t/>
            </a:r>
            <a:endParaRPr i="1" sz="2400">
              <a:solidFill>
                <a:srgbClr val="0000FF"/>
              </a:solidFill>
            </a:endParaRPr>
          </a:p>
          <a:p>
            <a:pPr indent="-76200" lvl="0" marL="228600" rtl="0" algn="l">
              <a:lnSpc>
                <a:spcPct val="90000"/>
              </a:lnSpc>
              <a:spcBef>
                <a:spcPts val="2400"/>
              </a:spcBef>
              <a:spcAft>
                <a:spcPts val="0"/>
              </a:spcAft>
              <a:buClr>
                <a:schemeClr val="dk1"/>
              </a:buClr>
              <a:buSzPts val="2400"/>
              <a:buNone/>
            </a:pPr>
            <a:r>
              <a:t/>
            </a:r>
            <a:endParaRPr i="1" sz="2400">
              <a:solidFill>
                <a:srgbClr val="0000FF"/>
              </a:solidFill>
            </a:endParaRPr>
          </a:p>
        </p:txBody>
      </p:sp>
      <p:sp>
        <p:nvSpPr>
          <p:cNvPr id="374" name="Google Shape;37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0" st="0"/>
                                            </p:txEl>
                                          </p:spTgt>
                                        </p:tgtEl>
                                        <p:attrNameLst>
                                          <p:attrName>style.visibility</p:attrName>
                                        </p:attrNameLst>
                                      </p:cBhvr>
                                      <p:to>
                                        <p:strVal val="visible"/>
                                      </p:to>
                                    </p:set>
                                    <p:animEffect filter="fade" transition="in">
                                      <p:cBhvr>
                                        <p:cTn dur="500"/>
                                        <p:tgtEl>
                                          <p:spTgt spid="3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1" st="1"/>
                                            </p:txEl>
                                          </p:spTgt>
                                        </p:tgtEl>
                                        <p:attrNameLst>
                                          <p:attrName>style.visibility</p:attrName>
                                        </p:attrNameLst>
                                      </p:cBhvr>
                                      <p:to>
                                        <p:strVal val="visible"/>
                                      </p:to>
                                    </p:set>
                                    <p:animEffect filter="fade" transition="in">
                                      <p:cBhvr>
                                        <p:cTn dur="500"/>
                                        <p:tgtEl>
                                          <p:spTgt spid="3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2" st="2"/>
                                            </p:txEl>
                                          </p:spTgt>
                                        </p:tgtEl>
                                        <p:attrNameLst>
                                          <p:attrName>style.visibility</p:attrName>
                                        </p:attrNameLst>
                                      </p:cBhvr>
                                      <p:to>
                                        <p:strVal val="visible"/>
                                      </p:to>
                                    </p:set>
                                    <p:animEffect filter="fade" transition="in">
                                      <p:cBhvr>
                                        <p:cTn dur="500"/>
                                        <p:tgtEl>
                                          <p:spTgt spid="3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3" st="3"/>
                                            </p:txEl>
                                          </p:spTgt>
                                        </p:tgtEl>
                                        <p:attrNameLst>
                                          <p:attrName>style.visibility</p:attrName>
                                        </p:attrNameLst>
                                      </p:cBhvr>
                                      <p:to>
                                        <p:strVal val="visible"/>
                                      </p:to>
                                    </p:set>
                                    <p:animEffect filter="fade" transition="in">
                                      <p:cBhvr>
                                        <p:cTn dur="500"/>
                                        <p:tgtEl>
                                          <p:spTgt spid="3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4" st="4"/>
                                            </p:txEl>
                                          </p:spTgt>
                                        </p:tgtEl>
                                        <p:attrNameLst>
                                          <p:attrName>style.visibility</p:attrName>
                                        </p:attrNameLst>
                                      </p:cBhvr>
                                      <p:to>
                                        <p:strVal val="visible"/>
                                      </p:to>
                                    </p:set>
                                    <p:animEffect filter="fade" transition="in">
                                      <p:cBhvr>
                                        <p:cTn dur="500"/>
                                        <p:tgtEl>
                                          <p:spTgt spid="3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5" st="5"/>
                                            </p:txEl>
                                          </p:spTgt>
                                        </p:tgtEl>
                                        <p:attrNameLst>
                                          <p:attrName>style.visibility</p:attrName>
                                        </p:attrNameLst>
                                      </p:cBhvr>
                                      <p:to>
                                        <p:strVal val="visible"/>
                                      </p:to>
                                    </p:set>
                                    <p:animEffect filter="fade" transition="in">
                                      <p:cBhvr>
                                        <p:cTn dur="500"/>
                                        <p:tgtEl>
                                          <p:spTgt spid="3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xEl>
                                              <p:pRg end="6" st="6"/>
                                            </p:txEl>
                                          </p:spTgt>
                                        </p:tgtEl>
                                        <p:attrNameLst>
                                          <p:attrName>style.visibility</p:attrName>
                                        </p:attrNameLst>
                                      </p:cBhvr>
                                      <p:to>
                                        <p:strVal val="visible"/>
                                      </p:to>
                                    </p:set>
                                    <p:animEffect filter="fade" transition="in">
                                      <p:cBhvr>
                                        <p:cTn dur="500"/>
                                        <p:tgtEl>
                                          <p:spTgt spid="37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4"/>
          <p:cNvSpPr txBox="1"/>
          <p:nvPr>
            <p:ph type="title"/>
          </p:nvPr>
        </p:nvSpPr>
        <p:spPr>
          <a:xfrm>
            <a:off x="1622582" y="1393694"/>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3200"/>
              <a:buFont typeface="Arial"/>
              <a:buNone/>
            </a:pPr>
            <a:r>
              <a:rPr lang="en-US" sz="3200">
                <a:latin typeface="Arial"/>
                <a:ea typeface="Arial"/>
                <a:cs typeface="Arial"/>
                <a:sym typeface="Arial"/>
              </a:rPr>
              <a:t>Calculation of ANNUALIZED Premium or Discount (forward rate):</a:t>
            </a:r>
            <a:endParaRPr/>
          </a:p>
        </p:txBody>
      </p:sp>
      <p:sp>
        <p:nvSpPr>
          <p:cNvPr id="381" name="Google Shape;381;p34"/>
          <p:cNvSpPr txBox="1"/>
          <p:nvPr>
            <p:ph idx="1" type="body"/>
          </p:nvPr>
        </p:nvSpPr>
        <p:spPr>
          <a:xfrm>
            <a:off x="2133600" y="2698304"/>
            <a:ext cx="7772400" cy="3496436"/>
          </a:xfrm>
          <a:prstGeom prst="rect">
            <a:avLst/>
          </a:prstGeom>
          <a:noFill/>
          <a:ln>
            <a:noFill/>
          </a:ln>
        </p:spPr>
        <p:txBody>
          <a:bodyPr anchorCtr="0" anchor="t" bIns="44450" lIns="90475" spcFirstLastPara="1" rIns="90475" wrap="square" tIns="44450">
            <a:normAutofit lnSpcReduction="10000"/>
          </a:bodyPr>
          <a:lstStyle/>
          <a:p>
            <a:pPr indent="-228600" lvl="0" marL="228600" rtl="0" algn="l">
              <a:lnSpc>
                <a:spcPct val="90000"/>
              </a:lnSpc>
              <a:spcBef>
                <a:spcPts val="0"/>
              </a:spcBef>
              <a:spcAft>
                <a:spcPts val="0"/>
              </a:spcAft>
              <a:buClr>
                <a:schemeClr val="dk1"/>
              </a:buClr>
              <a:buSzPts val="3200"/>
              <a:buFont typeface="Calibri"/>
              <a:buNone/>
            </a:pPr>
            <a:r>
              <a:rPr b="1" lang="en-US"/>
              <a:t>                  </a:t>
            </a:r>
            <a:r>
              <a:rPr lang="en-US" sz="3600" u="sng"/>
              <a:t>P(s) - P(f)</a:t>
            </a:r>
            <a:endParaRPr/>
          </a:p>
          <a:p>
            <a:pPr indent="-228600" lvl="1" marL="685800" rtl="0" algn="l">
              <a:lnSpc>
                <a:spcPct val="90000"/>
              </a:lnSpc>
              <a:spcBef>
                <a:spcPts val="500"/>
              </a:spcBef>
              <a:spcAft>
                <a:spcPts val="0"/>
              </a:spcAft>
              <a:buClr>
                <a:schemeClr val="dk1"/>
              </a:buClr>
              <a:buSzPts val="3600"/>
              <a:buFont typeface="Calibri"/>
              <a:buNone/>
            </a:pPr>
            <a:r>
              <a:rPr lang="en-US" sz="3600"/>
              <a:t>                 P(s)</a:t>
            </a:r>
            <a:endParaRPr/>
          </a:p>
          <a:p>
            <a:pPr indent="-228600" lvl="1" marL="685800" rtl="0" algn="l">
              <a:lnSpc>
                <a:spcPct val="90000"/>
              </a:lnSpc>
              <a:spcBef>
                <a:spcPts val="500"/>
              </a:spcBef>
              <a:spcAft>
                <a:spcPts val="0"/>
              </a:spcAft>
              <a:buClr>
                <a:schemeClr val="dk1"/>
              </a:buClr>
              <a:buSzPts val="3200"/>
              <a:buFont typeface="Calibri"/>
              <a:buNone/>
            </a:pPr>
            <a:r>
              <a:rPr i="1" lang="en-US" sz="3200"/>
              <a:t>where:</a:t>
            </a:r>
            <a:endParaRPr/>
          </a:p>
          <a:p>
            <a:pPr indent="-228600" lvl="1" marL="685800" rtl="0" algn="l">
              <a:lnSpc>
                <a:spcPct val="90000"/>
              </a:lnSpc>
              <a:spcBef>
                <a:spcPts val="500"/>
              </a:spcBef>
              <a:spcAft>
                <a:spcPts val="0"/>
              </a:spcAft>
              <a:buClr>
                <a:schemeClr val="dk1"/>
              </a:buClr>
              <a:buSzPts val="3600"/>
              <a:buNone/>
            </a:pPr>
            <a:r>
              <a:rPr lang="en-US" sz="3600"/>
              <a:t>P(s) = spot price</a:t>
            </a:r>
            <a:endParaRPr/>
          </a:p>
          <a:p>
            <a:pPr indent="-228600" lvl="1" marL="685800" rtl="0" algn="l">
              <a:lnSpc>
                <a:spcPct val="90000"/>
              </a:lnSpc>
              <a:spcBef>
                <a:spcPts val="500"/>
              </a:spcBef>
              <a:spcAft>
                <a:spcPts val="0"/>
              </a:spcAft>
              <a:buClr>
                <a:schemeClr val="dk1"/>
              </a:buClr>
              <a:buSzPts val="3600"/>
              <a:buFont typeface="Calibri"/>
              <a:buNone/>
            </a:pPr>
            <a:r>
              <a:rPr lang="en-US" sz="3600"/>
              <a:t>P(f) = forward price</a:t>
            </a:r>
            <a:endParaRPr/>
          </a:p>
          <a:p>
            <a:pPr indent="-228600" lvl="1" marL="685800" rtl="0" algn="l">
              <a:lnSpc>
                <a:spcPct val="90000"/>
              </a:lnSpc>
              <a:spcBef>
                <a:spcPts val="500"/>
              </a:spcBef>
              <a:spcAft>
                <a:spcPts val="0"/>
              </a:spcAft>
              <a:buClr>
                <a:schemeClr val="dk1"/>
              </a:buClr>
              <a:buSzPts val="3600"/>
              <a:buFont typeface="Times New Roman"/>
              <a:buNone/>
            </a:pPr>
            <a:r>
              <a:rPr b="1" i="1" lang="en-US" sz="3600">
                <a:latin typeface="Times New Roman"/>
                <a:ea typeface="Times New Roman"/>
                <a:cs typeface="Times New Roman"/>
                <a:sym typeface="Times New Roman"/>
              </a:rPr>
              <a:t>n</a:t>
            </a:r>
            <a:r>
              <a:rPr i="1" lang="en-US" sz="3600">
                <a:latin typeface="Times New Roman"/>
                <a:ea typeface="Times New Roman"/>
                <a:cs typeface="Times New Roman"/>
                <a:sym typeface="Times New Roman"/>
              </a:rPr>
              <a:t> </a:t>
            </a:r>
            <a:r>
              <a:rPr i="1" lang="en-US" sz="3600"/>
              <a:t>  </a:t>
            </a:r>
            <a:r>
              <a:rPr lang="en-US" sz="3600"/>
              <a:t>= # periods in a year</a:t>
            </a:r>
            <a:endParaRPr/>
          </a:p>
          <a:p>
            <a:pPr indent="-228600" lvl="1" marL="685800" rtl="0" algn="l">
              <a:lnSpc>
                <a:spcPct val="90000"/>
              </a:lnSpc>
              <a:spcBef>
                <a:spcPts val="500"/>
              </a:spcBef>
              <a:spcAft>
                <a:spcPts val="0"/>
              </a:spcAft>
              <a:buClr>
                <a:schemeClr val="dk1"/>
              </a:buClr>
              <a:buSzPts val="3600"/>
              <a:buFont typeface="Calibri"/>
              <a:buNone/>
            </a:pPr>
            <a:r>
              <a:rPr lang="en-US" sz="3600"/>
              <a:t>Expressed as a </a:t>
            </a:r>
            <a:r>
              <a:rPr b="1" lang="en-US" sz="3600"/>
              <a:t>percentage</a:t>
            </a:r>
            <a:endParaRPr b="1" sz="3600"/>
          </a:p>
        </p:txBody>
      </p:sp>
      <p:sp>
        <p:nvSpPr>
          <p:cNvPr id="382" name="Google Shape;382;p34"/>
          <p:cNvSpPr/>
          <p:nvPr/>
        </p:nvSpPr>
        <p:spPr>
          <a:xfrm>
            <a:off x="5648840" y="2698304"/>
            <a:ext cx="1600200" cy="6858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3600">
                <a:solidFill>
                  <a:schemeClr val="dk1"/>
                </a:solidFill>
                <a:latin typeface="Book Antiqua"/>
                <a:ea typeface="Book Antiqua"/>
                <a:cs typeface="Book Antiqua"/>
                <a:sym typeface="Book Antiqua"/>
              </a:rPr>
              <a:t>x  </a:t>
            </a:r>
            <a:r>
              <a:rPr b="1" i="1" lang="en-US" sz="3600">
                <a:solidFill>
                  <a:schemeClr val="dk1"/>
                </a:solidFill>
                <a:latin typeface="Book Antiqua"/>
                <a:ea typeface="Book Antiqua"/>
                <a:cs typeface="Book Antiqua"/>
                <a:sym typeface="Book Antiqua"/>
              </a:rPr>
              <a:t>n</a:t>
            </a:r>
            <a:endParaRPr/>
          </a:p>
        </p:txBody>
      </p:sp>
      <p:sp>
        <p:nvSpPr>
          <p:cNvPr id="383" name="Google Shape;38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4" name="Google Shape;384;p34"/>
          <p:cNvSpPr txBox="1"/>
          <p:nvPr/>
        </p:nvSpPr>
        <p:spPr>
          <a:xfrm>
            <a:off x="1246948" y="250694"/>
            <a:ext cx="9133424" cy="1143000"/>
          </a:xfrm>
          <a:prstGeom prst="rect">
            <a:avLst/>
          </a:prstGeom>
          <a:noFill/>
          <a:ln>
            <a:noFill/>
          </a:ln>
        </p:spPr>
        <p:txBody>
          <a:bodyPr anchorCtr="0" anchor="t" bIns="44450" lIns="90475" spcFirstLastPara="1" rIns="90475" wrap="square" tIns="44450">
            <a:normAutofit/>
          </a:bodyPr>
          <a:lstStyle/>
          <a:p>
            <a:pPr indent="0" lvl="0" marL="0" marR="0" rtl="0" algn="l">
              <a:lnSpc>
                <a:spcPct val="90000"/>
              </a:lnSpc>
              <a:spcBef>
                <a:spcPts val="0"/>
              </a:spcBef>
              <a:spcAft>
                <a:spcPts val="0"/>
              </a:spcAft>
              <a:buClr>
                <a:schemeClr val="dk1"/>
              </a:buClr>
              <a:buSzPts val="3200"/>
              <a:buFont typeface="Arial"/>
              <a:buNone/>
            </a:pPr>
            <a:r>
              <a:rPr lang="en-US" sz="3200">
                <a:solidFill>
                  <a:schemeClr val="dk1"/>
                </a:solidFill>
                <a:latin typeface="Arial"/>
                <a:ea typeface="Arial"/>
                <a:cs typeface="Arial"/>
                <a:sym typeface="Arial"/>
              </a:rPr>
              <a:t>Comparing rates for different periods is confusing</a:t>
            </a:r>
            <a:endParaRPr sz="32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0" st="0"/>
                                            </p:txEl>
                                          </p:spTgt>
                                        </p:tgtEl>
                                        <p:attrNameLst>
                                          <p:attrName>style.visibility</p:attrName>
                                        </p:attrNameLst>
                                      </p:cBhvr>
                                      <p:to>
                                        <p:strVal val="visible"/>
                                      </p:to>
                                    </p:set>
                                    <p:animEffect filter="fade" transition="in">
                                      <p:cBhvr>
                                        <p:cTn dur="500"/>
                                        <p:tgtEl>
                                          <p:spTgt spid="3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1" st="1"/>
                                            </p:txEl>
                                          </p:spTgt>
                                        </p:tgtEl>
                                        <p:attrNameLst>
                                          <p:attrName>style.visibility</p:attrName>
                                        </p:attrNameLst>
                                      </p:cBhvr>
                                      <p:to>
                                        <p:strVal val="visible"/>
                                      </p:to>
                                    </p:set>
                                    <p:animEffect filter="fade" transition="in">
                                      <p:cBhvr>
                                        <p:cTn dur="500"/>
                                        <p:tgtEl>
                                          <p:spTgt spid="3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2" st="2"/>
                                            </p:txEl>
                                          </p:spTgt>
                                        </p:tgtEl>
                                        <p:attrNameLst>
                                          <p:attrName>style.visibility</p:attrName>
                                        </p:attrNameLst>
                                      </p:cBhvr>
                                      <p:to>
                                        <p:strVal val="visible"/>
                                      </p:to>
                                    </p:set>
                                    <p:animEffect filter="fade" transition="in">
                                      <p:cBhvr>
                                        <p:cTn dur="500"/>
                                        <p:tgtEl>
                                          <p:spTgt spid="3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3" st="3"/>
                                            </p:txEl>
                                          </p:spTgt>
                                        </p:tgtEl>
                                        <p:attrNameLst>
                                          <p:attrName>style.visibility</p:attrName>
                                        </p:attrNameLst>
                                      </p:cBhvr>
                                      <p:to>
                                        <p:strVal val="visible"/>
                                      </p:to>
                                    </p:set>
                                    <p:animEffect filter="fade" transition="in">
                                      <p:cBhvr>
                                        <p:cTn dur="500"/>
                                        <p:tgtEl>
                                          <p:spTgt spid="3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4" st="4"/>
                                            </p:txEl>
                                          </p:spTgt>
                                        </p:tgtEl>
                                        <p:attrNameLst>
                                          <p:attrName>style.visibility</p:attrName>
                                        </p:attrNameLst>
                                      </p:cBhvr>
                                      <p:to>
                                        <p:strVal val="visible"/>
                                      </p:to>
                                    </p:set>
                                    <p:animEffect filter="fade" transition="in">
                                      <p:cBhvr>
                                        <p:cTn dur="500"/>
                                        <p:tgtEl>
                                          <p:spTgt spid="3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5" st="5"/>
                                            </p:txEl>
                                          </p:spTgt>
                                        </p:tgtEl>
                                        <p:attrNameLst>
                                          <p:attrName>style.visibility</p:attrName>
                                        </p:attrNameLst>
                                      </p:cBhvr>
                                      <p:to>
                                        <p:strVal val="visible"/>
                                      </p:to>
                                    </p:set>
                                    <p:animEffect filter="fade" transition="in">
                                      <p:cBhvr>
                                        <p:cTn dur="500"/>
                                        <p:tgtEl>
                                          <p:spTgt spid="38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xEl>
                                              <p:pRg end="6" st="6"/>
                                            </p:txEl>
                                          </p:spTgt>
                                        </p:tgtEl>
                                        <p:attrNameLst>
                                          <p:attrName>style.visibility</p:attrName>
                                        </p:attrNameLst>
                                      </p:cBhvr>
                                      <p:to>
                                        <p:strVal val="visible"/>
                                      </p:to>
                                    </p:set>
                                    <p:animEffect filter="fade" transition="in">
                                      <p:cBhvr>
                                        <p:cTn dur="500"/>
                                        <p:tgtEl>
                                          <p:spTgt spid="381">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5"/>
          <p:cNvSpPr txBox="1"/>
          <p:nvPr>
            <p:ph type="title"/>
          </p:nvPr>
        </p:nvSpPr>
        <p:spPr>
          <a:xfrm>
            <a:off x="798489" y="1457775"/>
            <a:ext cx="10959922" cy="1219200"/>
          </a:xfrm>
          <a:prstGeom prst="rect">
            <a:avLst/>
          </a:prstGeom>
          <a:noFill/>
          <a:ln>
            <a:noFill/>
          </a:ln>
        </p:spPr>
        <p:txBody>
          <a:bodyPr anchorCtr="0" anchor="t" bIns="44450" lIns="90475" spcFirstLastPara="1" rIns="90475" wrap="square" tIns="44450">
            <a:normAutofit/>
          </a:bodyPr>
          <a:lstStyle/>
          <a:p>
            <a:pPr indent="0" lvl="0" marL="0" rtl="0" algn="l">
              <a:lnSpc>
                <a:spcPct val="80000"/>
              </a:lnSpc>
              <a:spcBef>
                <a:spcPts val="0"/>
              </a:spcBef>
              <a:spcAft>
                <a:spcPts val="0"/>
              </a:spcAft>
              <a:buClr>
                <a:schemeClr val="dk1"/>
              </a:buClr>
              <a:buSzPts val="3200"/>
              <a:buFont typeface="Arial"/>
              <a:buNone/>
            </a:pPr>
            <a:r>
              <a:rPr lang="en-US" sz="3200">
                <a:solidFill>
                  <a:schemeClr val="dk1"/>
                </a:solidFill>
                <a:latin typeface="Arial"/>
                <a:ea typeface="Arial"/>
                <a:cs typeface="Arial"/>
                <a:sym typeface="Arial"/>
              </a:rPr>
              <a:t>If spot is $= € 0.87, &amp; 90-day forward rate is $= € 0.89 :</a:t>
            </a:r>
            <a:endParaRPr/>
          </a:p>
        </p:txBody>
      </p:sp>
      <p:sp>
        <p:nvSpPr>
          <p:cNvPr id="391" name="Google Shape;391;p35"/>
          <p:cNvSpPr txBox="1"/>
          <p:nvPr>
            <p:ph idx="1" type="body"/>
          </p:nvPr>
        </p:nvSpPr>
        <p:spPr>
          <a:xfrm>
            <a:off x="1790700" y="2395471"/>
            <a:ext cx="9563100" cy="444459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600"/>
              <a:buFont typeface="Calibri"/>
              <a:buNone/>
            </a:pPr>
            <a:r>
              <a:rPr b="1" lang="en-US" sz="3600"/>
              <a:t>				</a:t>
            </a:r>
            <a:r>
              <a:rPr lang="en-US" sz="3600" u="sng"/>
              <a:t>P(s) - P(f)</a:t>
            </a:r>
            <a:endParaRPr/>
          </a:p>
          <a:p>
            <a:pPr indent="-228600" lvl="1" marL="685800" rtl="0" algn="l">
              <a:lnSpc>
                <a:spcPct val="90000"/>
              </a:lnSpc>
              <a:spcBef>
                <a:spcPts val="500"/>
              </a:spcBef>
              <a:spcAft>
                <a:spcPts val="0"/>
              </a:spcAft>
              <a:buClr>
                <a:schemeClr val="dk1"/>
              </a:buClr>
              <a:buSzPts val="3600"/>
              <a:buFont typeface="Calibri"/>
              <a:buNone/>
            </a:pPr>
            <a:r>
              <a:rPr lang="en-US" sz="3600"/>
              <a:t>		                       P(s)</a:t>
            </a:r>
            <a:endParaRPr/>
          </a:p>
          <a:p>
            <a:pPr indent="-228600" lvl="1" marL="685800" rtl="0" algn="l">
              <a:lnSpc>
                <a:spcPct val="90000"/>
              </a:lnSpc>
              <a:spcBef>
                <a:spcPts val="500"/>
              </a:spcBef>
              <a:spcAft>
                <a:spcPts val="0"/>
              </a:spcAft>
              <a:buClr>
                <a:schemeClr val="dk1"/>
              </a:buClr>
              <a:buSzPts val="1800"/>
              <a:buFont typeface="Calibri"/>
              <a:buNone/>
            </a:pPr>
            <a:r>
              <a:rPr lang="en-US" sz="1800"/>
              <a:t>	</a:t>
            </a:r>
            <a:endParaRPr/>
          </a:p>
          <a:p>
            <a:pPr indent="-228600" lvl="1" marL="685800" rtl="0" algn="l">
              <a:lnSpc>
                <a:spcPct val="90000"/>
              </a:lnSpc>
              <a:spcBef>
                <a:spcPts val="500"/>
              </a:spcBef>
              <a:spcAft>
                <a:spcPts val="0"/>
              </a:spcAft>
              <a:buClr>
                <a:schemeClr val="dk1"/>
              </a:buClr>
              <a:buSzPts val="2800"/>
              <a:buNone/>
            </a:pPr>
            <a:r>
              <a:rPr lang="en-US"/>
              <a:t>P(s) = 0.87            P(f) = 0.89      </a:t>
            </a:r>
            <a:r>
              <a:rPr b="1" i="1" lang="en-US" sz="3200">
                <a:latin typeface="Book Antiqua"/>
                <a:ea typeface="Book Antiqua"/>
                <a:cs typeface="Book Antiqua"/>
                <a:sym typeface="Book Antiqua"/>
              </a:rPr>
              <a:t>n</a:t>
            </a:r>
            <a:r>
              <a:rPr b="1" i="1" lang="en-US" sz="3200"/>
              <a:t> </a:t>
            </a:r>
            <a:r>
              <a:rPr i="1" lang="en-US"/>
              <a:t> </a:t>
            </a:r>
            <a:r>
              <a:rPr lang="en-US"/>
              <a:t>= 4 (4 90-day periods/year)</a:t>
            </a:r>
            <a:endParaRPr/>
          </a:p>
          <a:p>
            <a:pPr indent="-228600" lvl="1" marL="685800" rtl="0" algn="l">
              <a:lnSpc>
                <a:spcPct val="90000"/>
              </a:lnSpc>
              <a:spcBef>
                <a:spcPts val="500"/>
              </a:spcBef>
              <a:spcAft>
                <a:spcPts val="0"/>
              </a:spcAft>
              <a:buClr>
                <a:schemeClr val="dk1"/>
              </a:buClr>
              <a:buSzPts val="1800"/>
              <a:buFont typeface="Calibri"/>
              <a:buNone/>
            </a:pPr>
            <a:r>
              <a:t/>
            </a:r>
            <a:endParaRPr sz="1800"/>
          </a:p>
          <a:p>
            <a:pPr indent="-228600" lvl="0" marL="228600" rtl="0" algn="l">
              <a:lnSpc>
                <a:spcPct val="90000"/>
              </a:lnSpc>
              <a:spcBef>
                <a:spcPts val="1000"/>
              </a:spcBef>
              <a:spcAft>
                <a:spcPts val="0"/>
              </a:spcAft>
              <a:buClr>
                <a:schemeClr val="dk1"/>
              </a:buClr>
              <a:buSzPts val="3600"/>
              <a:buFont typeface="Calibri"/>
              <a:buNone/>
            </a:pPr>
            <a:r>
              <a:rPr lang="en-US" sz="3600"/>
              <a:t>		</a:t>
            </a:r>
            <a:r>
              <a:rPr lang="en-US" u="sng"/>
              <a:t>0.87 – 0.89</a:t>
            </a:r>
            <a:endParaRPr/>
          </a:p>
          <a:p>
            <a:pPr indent="-228600" lvl="1" marL="685800" rtl="0" algn="l">
              <a:lnSpc>
                <a:spcPct val="90000"/>
              </a:lnSpc>
              <a:spcBef>
                <a:spcPts val="500"/>
              </a:spcBef>
              <a:spcAft>
                <a:spcPts val="0"/>
              </a:spcAft>
              <a:buClr>
                <a:schemeClr val="dk1"/>
              </a:buClr>
              <a:buSzPts val="3200"/>
              <a:buFont typeface="Calibri"/>
              <a:buNone/>
            </a:pPr>
            <a:r>
              <a:rPr lang="en-US" sz="3200"/>
              <a:t>           0.87</a:t>
            </a:r>
            <a:endParaRPr sz="3200"/>
          </a:p>
          <a:p>
            <a:pPr indent="-228600" lvl="1" marL="685800" rtl="0" algn="l">
              <a:lnSpc>
                <a:spcPct val="90000"/>
              </a:lnSpc>
              <a:spcBef>
                <a:spcPts val="500"/>
              </a:spcBef>
              <a:spcAft>
                <a:spcPts val="0"/>
              </a:spcAft>
              <a:buClr>
                <a:schemeClr val="dk1"/>
              </a:buClr>
              <a:buSzPts val="3600"/>
              <a:buFont typeface="Calibri"/>
              <a:buNone/>
            </a:pPr>
            <a:r>
              <a:rPr i="1" lang="en-US" sz="3600"/>
              <a:t>Euro is Selling at an 9.2% </a:t>
            </a:r>
            <a:r>
              <a:rPr i="1" lang="en-US" sz="3600" u="sng"/>
              <a:t>discount</a:t>
            </a:r>
            <a:endParaRPr/>
          </a:p>
        </p:txBody>
      </p:sp>
      <p:sp>
        <p:nvSpPr>
          <p:cNvPr id="392" name="Google Shape;392;p35"/>
          <p:cNvSpPr/>
          <p:nvPr/>
        </p:nvSpPr>
        <p:spPr>
          <a:xfrm>
            <a:off x="4561227" y="4800492"/>
            <a:ext cx="4356318" cy="6858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3200">
                <a:solidFill>
                  <a:schemeClr val="dk1"/>
                </a:solidFill>
                <a:latin typeface="Book Antiqua"/>
                <a:ea typeface="Book Antiqua"/>
                <a:cs typeface="Book Antiqua"/>
                <a:sym typeface="Book Antiqua"/>
              </a:rPr>
              <a:t>= -</a:t>
            </a:r>
            <a:r>
              <a:rPr b="1" i="1" lang="en-US" sz="3200">
                <a:solidFill>
                  <a:schemeClr val="dk1"/>
                </a:solidFill>
                <a:latin typeface="Book Antiqua"/>
                <a:ea typeface="Book Antiqua"/>
                <a:cs typeface="Book Antiqua"/>
                <a:sym typeface="Book Antiqua"/>
              </a:rPr>
              <a:t>.023 </a:t>
            </a:r>
            <a:r>
              <a:rPr b="1" lang="en-US" sz="3200">
                <a:solidFill>
                  <a:schemeClr val="dk1"/>
                </a:solidFill>
                <a:latin typeface="Book Antiqua"/>
                <a:ea typeface="Book Antiqua"/>
                <a:cs typeface="Book Antiqua"/>
                <a:sym typeface="Book Antiqua"/>
              </a:rPr>
              <a:t>x  </a:t>
            </a:r>
            <a:r>
              <a:rPr b="1" i="1" lang="en-US" sz="3200">
                <a:solidFill>
                  <a:schemeClr val="dk1"/>
                </a:solidFill>
                <a:latin typeface="Book Antiqua"/>
                <a:ea typeface="Book Antiqua"/>
                <a:cs typeface="Book Antiqua"/>
                <a:sym typeface="Book Antiqua"/>
              </a:rPr>
              <a:t>4  =  </a:t>
            </a:r>
            <a:r>
              <a:rPr b="1" i="1" lang="en-US" sz="3200">
                <a:solidFill>
                  <a:srgbClr val="FF0000"/>
                </a:solidFill>
                <a:latin typeface="Book Antiqua"/>
                <a:ea typeface="Book Antiqua"/>
                <a:cs typeface="Book Antiqua"/>
                <a:sym typeface="Book Antiqua"/>
              </a:rPr>
              <a:t>-</a:t>
            </a:r>
            <a:r>
              <a:rPr b="1" i="1" lang="en-US" sz="3200">
                <a:solidFill>
                  <a:schemeClr val="dk1"/>
                </a:solidFill>
                <a:latin typeface="Book Antiqua"/>
                <a:ea typeface="Book Antiqua"/>
                <a:cs typeface="Book Antiqua"/>
                <a:sym typeface="Book Antiqua"/>
              </a:rPr>
              <a:t>.092</a:t>
            </a:r>
            <a:endParaRPr b="1" i="1" sz="3200">
              <a:solidFill>
                <a:schemeClr val="dk1"/>
              </a:solidFill>
              <a:latin typeface="Book Antiqua"/>
              <a:ea typeface="Book Antiqua"/>
              <a:cs typeface="Book Antiqua"/>
              <a:sym typeface="Book Antiqua"/>
            </a:endParaRPr>
          </a:p>
        </p:txBody>
      </p:sp>
      <p:sp>
        <p:nvSpPr>
          <p:cNvPr id="393" name="Google Shape;393;p35"/>
          <p:cNvSpPr/>
          <p:nvPr/>
        </p:nvSpPr>
        <p:spPr>
          <a:xfrm>
            <a:off x="6597796" y="2487433"/>
            <a:ext cx="900889" cy="643766"/>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600">
                <a:solidFill>
                  <a:schemeClr val="dk1"/>
                </a:solidFill>
                <a:latin typeface="Book Antiqua"/>
                <a:ea typeface="Book Antiqua"/>
                <a:cs typeface="Book Antiqua"/>
                <a:sym typeface="Book Antiqua"/>
              </a:rPr>
              <a:t>x  </a:t>
            </a:r>
            <a:r>
              <a:rPr b="1" i="1" lang="en-US" sz="3600">
                <a:solidFill>
                  <a:schemeClr val="dk1"/>
                </a:solidFill>
                <a:latin typeface="Book Antiqua"/>
                <a:ea typeface="Book Antiqua"/>
                <a:cs typeface="Book Antiqua"/>
                <a:sym typeface="Book Antiqua"/>
              </a:rPr>
              <a:t>n</a:t>
            </a:r>
            <a:endParaRPr/>
          </a:p>
        </p:txBody>
      </p:sp>
      <p:sp>
        <p:nvSpPr>
          <p:cNvPr id="394" name="Google Shape;394;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5" name="Google Shape;395;p35"/>
          <p:cNvSpPr txBox="1"/>
          <p:nvPr/>
        </p:nvSpPr>
        <p:spPr>
          <a:xfrm>
            <a:off x="1339403" y="218941"/>
            <a:ext cx="84452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Example 1</a:t>
            </a:r>
            <a:endParaRPr sz="3600">
              <a:solidFill>
                <a:schemeClr val="dk1"/>
              </a:solidFill>
              <a:latin typeface="Calibri"/>
              <a:ea typeface="Calibri"/>
              <a:cs typeface="Calibri"/>
              <a:sym typeface="Calibri"/>
            </a:endParaRPr>
          </a:p>
        </p:txBody>
      </p:sp>
      <p:sp>
        <p:nvSpPr>
          <p:cNvPr id="396" name="Google Shape;396;p35"/>
          <p:cNvSpPr/>
          <p:nvPr/>
        </p:nvSpPr>
        <p:spPr>
          <a:xfrm>
            <a:off x="7322674" y="4800492"/>
            <a:ext cx="4572000" cy="6858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i="1" lang="en-US" sz="3200">
                <a:solidFill>
                  <a:srgbClr val="FF0000"/>
                </a:solidFill>
                <a:latin typeface="Book Antiqua"/>
                <a:ea typeface="Book Antiqua"/>
                <a:cs typeface="Book Antiqua"/>
                <a:sym typeface="Book Antiqua"/>
              </a:rPr>
              <a:t>-</a:t>
            </a:r>
            <a:r>
              <a:rPr b="1" i="1" lang="en-US" sz="3200">
                <a:solidFill>
                  <a:schemeClr val="dk1"/>
                </a:solidFill>
                <a:latin typeface="Book Antiqua"/>
                <a:ea typeface="Book Antiqua"/>
                <a:cs typeface="Book Antiqua"/>
                <a:sym typeface="Book Antiqua"/>
              </a:rPr>
              <a:t>9.2%</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xEl>
                                              <p:pRg end="0" st="0"/>
                                            </p:txEl>
                                          </p:spTgt>
                                        </p:tgtEl>
                                        <p:attrNameLst>
                                          <p:attrName>style.visibility</p:attrName>
                                        </p:attrNameLst>
                                      </p:cBhvr>
                                      <p:to>
                                        <p:strVal val="visible"/>
                                      </p:to>
                                    </p:set>
                                    <p:animEffect filter="fade" transition="in">
                                      <p:cBhvr>
                                        <p:cTn dur="500"/>
                                        <p:tgtEl>
                                          <p:spTgt spid="3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xEl>
                                              <p:pRg end="1" st="1"/>
                                            </p:txEl>
                                          </p:spTgt>
                                        </p:tgtEl>
                                        <p:attrNameLst>
                                          <p:attrName>style.visibility</p:attrName>
                                        </p:attrNameLst>
                                      </p:cBhvr>
                                      <p:to>
                                        <p:strVal val="visible"/>
                                      </p:to>
                                    </p:set>
                                    <p:animEffect filter="fade" transition="in">
                                      <p:cBhvr>
                                        <p:cTn dur="500"/>
                                        <p:tgtEl>
                                          <p:spTgt spid="3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xEl>
                                              <p:pRg end="2" st="2"/>
                                            </p:txEl>
                                          </p:spTgt>
                                        </p:tgtEl>
                                        <p:attrNameLst>
                                          <p:attrName>style.visibility</p:attrName>
                                        </p:attrNameLst>
                                      </p:cBhvr>
                                      <p:to>
                                        <p:strVal val="visible"/>
                                      </p:to>
                                    </p:set>
                                    <p:animEffect filter="fade" transition="in">
                                      <p:cBhvr>
                                        <p:cTn dur="500"/>
                                        <p:tgtEl>
                                          <p:spTgt spid="3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xEl>
                                              <p:pRg end="3" st="3"/>
                                            </p:txEl>
                                          </p:spTgt>
                                        </p:tgtEl>
                                        <p:attrNameLst>
                                          <p:attrName>style.visibility</p:attrName>
                                        </p:attrNameLst>
                                      </p:cBhvr>
                                      <p:to>
                                        <p:strVal val="visible"/>
                                      </p:to>
                                    </p:set>
                                    <p:animEffect filter="fade" transition="in">
                                      <p:cBhvr>
                                        <p:cTn dur="500"/>
                                        <p:tgtEl>
                                          <p:spTgt spid="3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xEl>
                                              <p:pRg end="4" st="4"/>
                                            </p:txEl>
                                          </p:spTgt>
                                        </p:tgtEl>
                                        <p:attrNameLst>
                                          <p:attrName>style.visibility</p:attrName>
                                        </p:attrNameLst>
                                      </p:cBhvr>
                                      <p:to>
                                        <p:strVal val="visible"/>
                                      </p:to>
                                    </p:set>
                                    <p:animEffect filter="fade" transition="in">
                                      <p:cBhvr>
                                        <p:cTn dur="500"/>
                                        <p:tgtEl>
                                          <p:spTgt spid="3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xEl>
                                              <p:pRg end="5" st="5"/>
                                            </p:txEl>
                                          </p:spTgt>
                                        </p:tgtEl>
                                        <p:attrNameLst>
                                          <p:attrName>style.visibility</p:attrName>
                                        </p:attrNameLst>
                                      </p:cBhvr>
                                      <p:to>
                                        <p:strVal val="visible"/>
                                      </p:to>
                                    </p:set>
                                    <p:animEffect filter="fade" transition="in">
                                      <p:cBhvr>
                                        <p:cTn dur="500"/>
                                        <p:tgtEl>
                                          <p:spTgt spid="3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xEl>
                                              <p:pRg end="6" st="6"/>
                                            </p:txEl>
                                          </p:spTgt>
                                        </p:tgtEl>
                                        <p:attrNameLst>
                                          <p:attrName>style.visibility</p:attrName>
                                        </p:attrNameLst>
                                      </p:cBhvr>
                                      <p:to>
                                        <p:strVal val="visible"/>
                                      </p:to>
                                    </p:set>
                                    <p:animEffect filter="fade" transition="in">
                                      <p:cBhvr>
                                        <p:cTn dur="500"/>
                                        <p:tgtEl>
                                          <p:spTgt spid="3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xEl>
                                              <p:pRg end="7" st="7"/>
                                            </p:txEl>
                                          </p:spTgt>
                                        </p:tgtEl>
                                        <p:attrNameLst>
                                          <p:attrName>style.visibility</p:attrName>
                                        </p:attrNameLst>
                                      </p:cBhvr>
                                      <p:to>
                                        <p:strVal val="visible"/>
                                      </p:to>
                                    </p:set>
                                    <p:animEffect filter="fade" transition="in">
                                      <p:cBhvr>
                                        <p:cTn dur="500"/>
                                        <p:tgtEl>
                                          <p:spTgt spid="391">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6"/>
          <p:cNvSpPr txBox="1"/>
          <p:nvPr>
            <p:ph type="title"/>
          </p:nvPr>
        </p:nvSpPr>
        <p:spPr>
          <a:xfrm>
            <a:off x="630687" y="1452268"/>
            <a:ext cx="11140225" cy="1143000"/>
          </a:xfrm>
          <a:prstGeom prst="rect">
            <a:avLst/>
          </a:prstGeom>
          <a:noFill/>
          <a:ln>
            <a:noFill/>
          </a:ln>
        </p:spPr>
        <p:txBody>
          <a:bodyPr anchorCtr="0" anchor="t" bIns="44450" lIns="90475" spcFirstLastPara="1" rIns="90475" wrap="square" tIns="44450">
            <a:normAutofit/>
          </a:bodyPr>
          <a:lstStyle/>
          <a:p>
            <a:pPr indent="0" lvl="0" marL="0" rtl="0" algn="ctr">
              <a:lnSpc>
                <a:spcPct val="80000"/>
              </a:lnSpc>
              <a:spcBef>
                <a:spcPts val="0"/>
              </a:spcBef>
              <a:spcAft>
                <a:spcPts val="0"/>
              </a:spcAft>
              <a:buClr>
                <a:schemeClr val="dk1"/>
              </a:buClr>
              <a:buSzPts val="3200"/>
              <a:buFont typeface="Arial"/>
              <a:buNone/>
            </a:pPr>
            <a:r>
              <a:rPr lang="en-US" sz="3200">
                <a:solidFill>
                  <a:schemeClr val="dk1"/>
                </a:solidFill>
                <a:latin typeface="Arial"/>
                <a:ea typeface="Arial"/>
                <a:cs typeface="Arial"/>
                <a:sym typeface="Arial"/>
              </a:rPr>
              <a:t>If spot is $= € 0.87, &amp; 180-day forward rate is $= € 0.84 :</a:t>
            </a:r>
            <a:endParaRPr/>
          </a:p>
        </p:txBody>
      </p:sp>
      <p:sp>
        <p:nvSpPr>
          <p:cNvPr id="403" name="Google Shape;403;p36"/>
          <p:cNvSpPr txBox="1"/>
          <p:nvPr>
            <p:ph idx="1" type="body"/>
          </p:nvPr>
        </p:nvSpPr>
        <p:spPr>
          <a:xfrm>
            <a:off x="1790700" y="2392170"/>
            <a:ext cx="8610600" cy="4429970"/>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600"/>
              <a:buFont typeface="Calibri"/>
              <a:buNone/>
            </a:pPr>
            <a:r>
              <a:rPr b="1" lang="en-US" sz="3600"/>
              <a:t>			</a:t>
            </a:r>
            <a:r>
              <a:rPr lang="en-US" u="sng"/>
              <a:t>P(s) - P(f)</a:t>
            </a:r>
            <a:endParaRPr/>
          </a:p>
          <a:p>
            <a:pPr indent="-228600" lvl="1" marL="685800" rtl="0" algn="l">
              <a:lnSpc>
                <a:spcPct val="90000"/>
              </a:lnSpc>
              <a:spcBef>
                <a:spcPts val="500"/>
              </a:spcBef>
              <a:spcAft>
                <a:spcPts val="0"/>
              </a:spcAft>
              <a:buClr>
                <a:schemeClr val="dk1"/>
              </a:buClr>
              <a:buSzPts val="3200"/>
              <a:buFont typeface="Calibri"/>
              <a:buNone/>
            </a:pPr>
            <a:r>
              <a:rPr lang="en-US" sz="3200"/>
              <a:t>                   P(s)</a:t>
            </a:r>
            <a:endParaRPr/>
          </a:p>
          <a:p>
            <a:pPr indent="-228600" lvl="1" marL="685800" rtl="0" algn="l">
              <a:lnSpc>
                <a:spcPct val="90000"/>
              </a:lnSpc>
              <a:spcBef>
                <a:spcPts val="500"/>
              </a:spcBef>
              <a:spcAft>
                <a:spcPts val="0"/>
              </a:spcAft>
              <a:buClr>
                <a:schemeClr val="dk1"/>
              </a:buClr>
              <a:buSzPts val="1800"/>
              <a:buFont typeface="Calibri"/>
              <a:buNone/>
            </a:pPr>
            <a:r>
              <a:t/>
            </a:r>
            <a:endParaRPr sz="1800"/>
          </a:p>
          <a:p>
            <a:pPr indent="-228600" lvl="1" marL="685800" rtl="0" algn="l">
              <a:lnSpc>
                <a:spcPct val="90000"/>
              </a:lnSpc>
              <a:spcBef>
                <a:spcPts val="500"/>
              </a:spcBef>
              <a:spcAft>
                <a:spcPts val="0"/>
              </a:spcAft>
              <a:buClr>
                <a:schemeClr val="dk1"/>
              </a:buClr>
              <a:buSzPts val="2800"/>
              <a:buNone/>
            </a:pPr>
            <a:r>
              <a:rPr lang="en-US"/>
              <a:t>           P(s) = 0.8     P(f) = 0.84    7    </a:t>
            </a:r>
            <a:r>
              <a:rPr i="1" lang="en-US"/>
              <a:t>n  </a:t>
            </a:r>
            <a:r>
              <a:rPr lang="en-US"/>
              <a:t>= 2</a:t>
            </a:r>
            <a:endParaRPr/>
          </a:p>
          <a:p>
            <a:pPr indent="-228600" lvl="1" marL="685800" rtl="0" algn="l">
              <a:lnSpc>
                <a:spcPct val="90000"/>
              </a:lnSpc>
              <a:spcBef>
                <a:spcPts val="500"/>
              </a:spcBef>
              <a:spcAft>
                <a:spcPts val="0"/>
              </a:spcAft>
              <a:buClr>
                <a:schemeClr val="dk1"/>
              </a:buClr>
              <a:buSzPts val="1800"/>
              <a:buFont typeface="Calibri"/>
              <a:buNone/>
            </a:pPr>
            <a:r>
              <a:t/>
            </a:r>
            <a:endParaRPr b="1" sz="1800"/>
          </a:p>
          <a:p>
            <a:pPr indent="-228600" lvl="0" marL="228600" rtl="0" algn="l">
              <a:lnSpc>
                <a:spcPct val="90000"/>
              </a:lnSpc>
              <a:spcBef>
                <a:spcPts val="1000"/>
              </a:spcBef>
              <a:spcAft>
                <a:spcPts val="0"/>
              </a:spcAft>
              <a:buClr>
                <a:schemeClr val="dk1"/>
              </a:buClr>
              <a:buSzPts val="3600"/>
              <a:buFont typeface="Calibri"/>
              <a:buNone/>
            </a:pPr>
            <a:r>
              <a:rPr b="1" lang="en-US" sz="3600"/>
              <a:t>		</a:t>
            </a:r>
            <a:r>
              <a:rPr b="1" lang="en-US" sz="3600" u="sng"/>
              <a:t>0.87 – 0.84</a:t>
            </a:r>
            <a:endParaRPr/>
          </a:p>
          <a:p>
            <a:pPr indent="-228600" lvl="1" marL="685800" rtl="0" algn="l">
              <a:lnSpc>
                <a:spcPct val="90000"/>
              </a:lnSpc>
              <a:spcBef>
                <a:spcPts val="500"/>
              </a:spcBef>
              <a:spcAft>
                <a:spcPts val="0"/>
              </a:spcAft>
              <a:buClr>
                <a:schemeClr val="dk1"/>
              </a:buClr>
              <a:buSzPts val="3600"/>
              <a:buFont typeface="Calibri"/>
              <a:buNone/>
            </a:pPr>
            <a:r>
              <a:rPr lang="en-US" sz="3600"/>
              <a:t>  		       0.87</a:t>
            </a:r>
            <a:endParaRPr sz="3600"/>
          </a:p>
          <a:p>
            <a:pPr indent="-228600" lvl="1" marL="685800" rtl="0" algn="l">
              <a:lnSpc>
                <a:spcPct val="90000"/>
              </a:lnSpc>
              <a:spcBef>
                <a:spcPts val="500"/>
              </a:spcBef>
              <a:spcAft>
                <a:spcPts val="0"/>
              </a:spcAft>
              <a:buClr>
                <a:schemeClr val="dk1"/>
              </a:buClr>
              <a:buSzPts val="1000"/>
              <a:buFont typeface="Calibri"/>
              <a:buNone/>
            </a:pPr>
            <a:r>
              <a:t/>
            </a:r>
            <a:endParaRPr sz="1000"/>
          </a:p>
          <a:p>
            <a:pPr indent="-228600" lvl="1" marL="685800" rtl="0" algn="l">
              <a:lnSpc>
                <a:spcPct val="90000"/>
              </a:lnSpc>
              <a:spcBef>
                <a:spcPts val="500"/>
              </a:spcBef>
              <a:spcAft>
                <a:spcPts val="0"/>
              </a:spcAft>
              <a:buClr>
                <a:schemeClr val="dk1"/>
              </a:buClr>
              <a:buSzPts val="3600"/>
              <a:buFont typeface="Calibri"/>
              <a:buNone/>
            </a:pPr>
            <a:r>
              <a:rPr i="1" lang="en-US" sz="3600"/>
              <a:t>Euro is Selling at an 6.8% </a:t>
            </a:r>
            <a:r>
              <a:rPr b="1" i="1" lang="en-US" sz="3600" u="sng"/>
              <a:t>premium</a:t>
            </a:r>
            <a:endParaRPr/>
          </a:p>
        </p:txBody>
      </p:sp>
      <p:sp>
        <p:nvSpPr>
          <p:cNvPr id="404" name="Google Shape;404;p36"/>
          <p:cNvSpPr/>
          <p:nvPr/>
        </p:nvSpPr>
        <p:spPr>
          <a:xfrm>
            <a:off x="4742332" y="4733363"/>
            <a:ext cx="5105400" cy="6858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3600">
                <a:solidFill>
                  <a:schemeClr val="dk1"/>
                </a:solidFill>
                <a:latin typeface="Book Antiqua"/>
                <a:ea typeface="Book Antiqua"/>
                <a:cs typeface="Book Antiqua"/>
                <a:sym typeface="Book Antiqua"/>
              </a:rPr>
              <a:t> = .034 x  </a:t>
            </a:r>
            <a:r>
              <a:rPr b="1" i="1" lang="en-US" sz="3600">
                <a:solidFill>
                  <a:schemeClr val="dk1"/>
                </a:solidFill>
                <a:latin typeface="Book Antiqua"/>
                <a:ea typeface="Book Antiqua"/>
                <a:cs typeface="Book Antiqua"/>
                <a:sym typeface="Book Antiqua"/>
              </a:rPr>
              <a:t>2  =  0.068</a:t>
            </a:r>
            <a:endParaRPr b="1" i="1" sz="3600">
              <a:solidFill>
                <a:schemeClr val="dk1"/>
              </a:solidFill>
              <a:latin typeface="Book Antiqua"/>
              <a:ea typeface="Book Antiqua"/>
              <a:cs typeface="Book Antiqua"/>
              <a:sym typeface="Book Antiqua"/>
            </a:endParaRPr>
          </a:p>
        </p:txBody>
      </p:sp>
      <p:sp>
        <p:nvSpPr>
          <p:cNvPr id="405" name="Google Shape;405;p36"/>
          <p:cNvSpPr/>
          <p:nvPr/>
        </p:nvSpPr>
        <p:spPr>
          <a:xfrm>
            <a:off x="5750356" y="2637205"/>
            <a:ext cx="900889" cy="643766"/>
          </a:xfrm>
          <a:prstGeom prst="rect">
            <a:avLst/>
          </a:prstGeom>
          <a:noFill/>
          <a:ln>
            <a:noFill/>
          </a:ln>
        </p:spPr>
        <p:txBody>
          <a:bodyPr anchorCtr="0" anchor="t" bIns="44450" lIns="90475" spcFirstLastPara="1" rIns="90475" wrap="square" tIns="44450">
            <a:noAutofit/>
          </a:bodyPr>
          <a:lstStyle/>
          <a:p>
            <a:pPr indent="0" lvl="0" marL="0" marR="0" rtl="0" algn="l">
              <a:spcBef>
                <a:spcPts val="0"/>
              </a:spcBef>
              <a:spcAft>
                <a:spcPts val="0"/>
              </a:spcAft>
              <a:buNone/>
            </a:pPr>
            <a:r>
              <a:rPr b="1" lang="en-US" sz="3600">
                <a:solidFill>
                  <a:schemeClr val="dk1"/>
                </a:solidFill>
                <a:latin typeface="Book Antiqua"/>
                <a:ea typeface="Book Antiqua"/>
                <a:cs typeface="Book Antiqua"/>
                <a:sym typeface="Book Antiqua"/>
              </a:rPr>
              <a:t>x  </a:t>
            </a:r>
            <a:r>
              <a:rPr b="1" i="1" lang="en-US" sz="3600">
                <a:solidFill>
                  <a:schemeClr val="dk1"/>
                </a:solidFill>
                <a:latin typeface="Book Antiqua"/>
                <a:ea typeface="Book Antiqua"/>
                <a:cs typeface="Book Antiqua"/>
                <a:sym typeface="Book Antiqua"/>
              </a:rPr>
              <a:t>n</a:t>
            </a:r>
            <a:endParaRPr/>
          </a:p>
        </p:txBody>
      </p:sp>
      <p:sp>
        <p:nvSpPr>
          <p:cNvPr id="406" name="Google Shape;406;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7" name="Google Shape;407;p36"/>
          <p:cNvSpPr txBox="1"/>
          <p:nvPr/>
        </p:nvSpPr>
        <p:spPr>
          <a:xfrm>
            <a:off x="1339403" y="218941"/>
            <a:ext cx="844528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chemeClr val="dk1"/>
                </a:solidFill>
                <a:latin typeface="Calibri"/>
                <a:ea typeface="Calibri"/>
                <a:cs typeface="Calibri"/>
                <a:sym typeface="Calibri"/>
              </a:rPr>
              <a:t>Example 2</a:t>
            </a:r>
            <a:endParaRPr sz="3600">
              <a:solidFill>
                <a:schemeClr val="dk1"/>
              </a:solidFill>
              <a:latin typeface="Calibri"/>
              <a:ea typeface="Calibri"/>
              <a:cs typeface="Calibri"/>
              <a:sym typeface="Calibri"/>
            </a:endParaRPr>
          </a:p>
        </p:txBody>
      </p:sp>
      <p:sp>
        <p:nvSpPr>
          <p:cNvPr id="408" name="Google Shape;408;p36"/>
          <p:cNvSpPr txBox="1"/>
          <p:nvPr/>
        </p:nvSpPr>
        <p:spPr>
          <a:xfrm>
            <a:off x="9739923" y="4728645"/>
            <a:ext cx="160290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600">
                <a:solidFill>
                  <a:schemeClr val="dk1"/>
                </a:solidFill>
                <a:latin typeface="Book Antiqua"/>
                <a:ea typeface="Book Antiqua"/>
                <a:cs typeface="Book Antiqua"/>
                <a:sym typeface="Book Antiqua"/>
              </a:rPr>
              <a:t>= 6.8%</a:t>
            </a:r>
            <a:endParaRPr/>
          </a:p>
          <a:p>
            <a:pPr indent="0" lvl="0" marL="0" marR="0" rtl="0" algn="l">
              <a:spcBef>
                <a:spcPts val="0"/>
              </a:spcBef>
              <a:spcAft>
                <a:spcPts val="0"/>
              </a:spcAft>
              <a:buNone/>
            </a:pPr>
            <a:r>
              <a:t/>
            </a:r>
            <a:endParaRPr sz="36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0" st="0"/>
                                            </p:txEl>
                                          </p:spTgt>
                                        </p:tgtEl>
                                        <p:attrNameLst>
                                          <p:attrName>style.visibility</p:attrName>
                                        </p:attrNameLst>
                                      </p:cBhvr>
                                      <p:to>
                                        <p:strVal val="visible"/>
                                      </p:to>
                                    </p:set>
                                    <p:animEffect filter="fade" transition="in">
                                      <p:cBhvr>
                                        <p:cTn dur="500"/>
                                        <p:tgtEl>
                                          <p:spTgt spid="4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1" st="1"/>
                                            </p:txEl>
                                          </p:spTgt>
                                        </p:tgtEl>
                                        <p:attrNameLst>
                                          <p:attrName>style.visibility</p:attrName>
                                        </p:attrNameLst>
                                      </p:cBhvr>
                                      <p:to>
                                        <p:strVal val="visible"/>
                                      </p:to>
                                    </p:set>
                                    <p:animEffect filter="fade" transition="in">
                                      <p:cBhvr>
                                        <p:cTn dur="500"/>
                                        <p:tgtEl>
                                          <p:spTgt spid="4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2" st="2"/>
                                            </p:txEl>
                                          </p:spTgt>
                                        </p:tgtEl>
                                        <p:attrNameLst>
                                          <p:attrName>style.visibility</p:attrName>
                                        </p:attrNameLst>
                                      </p:cBhvr>
                                      <p:to>
                                        <p:strVal val="visible"/>
                                      </p:to>
                                    </p:set>
                                    <p:animEffect filter="fade" transition="in">
                                      <p:cBhvr>
                                        <p:cTn dur="500"/>
                                        <p:tgtEl>
                                          <p:spTgt spid="4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3" st="3"/>
                                            </p:txEl>
                                          </p:spTgt>
                                        </p:tgtEl>
                                        <p:attrNameLst>
                                          <p:attrName>style.visibility</p:attrName>
                                        </p:attrNameLst>
                                      </p:cBhvr>
                                      <p:to>
                                        <p:strVal val="visible"/>
                                      </p:to>
                                    </p:set>
                                    <p:animEffect filter="fade" transition="in">
                                      <p:cBhvr>
                                        <p:cTn dur="500"/>
                                        <p:tgtEl>
                                          <p:spTgt spid="4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4" st="4"/>
                                            </p:txEl>
                                          </p:spTgt>
                                        </p:tgtEl>
                                        <p:attrNameLst>
                                          <p:attrName>style.visibility</p:attrName>
                                        </p:attrNameLst>
                                      </p:cBhvr>
                                      <p:to>
                                        <p:strVal val="visible"/>
                                      </p:to>
                                    </p:set>
                                    <p:animEffect filter="fade" transition="in">
                                      <p:cBhvr>
                                        <p:cTn dur="500"/>
                                        <p:tgtEl>
                                          <p:spTgt spid="4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5" st="5"/>
                                            </p:txEl>
                                          </p:spTgt>
                                        </p:tgtEl>
                                        <p:attrNameLst>
                                          <p:attrName>style.visibility</p:attrName>
                                        </p:attrNameLst>
                                      </p:cBhvr>
                                      <p:to>
                                        <p:strVal val="visible"/>
                                      </p:to>
                                    </p:set>
                                    <p:animEffect filter="fade" transition="in">
                                      <p:cBhvr>
                                        <p:cTn dur="500"/>
                                        <p:tgtEl>
                                          <p:spTgt spid="4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6" st="6"/>
                                            </p:txEl>
                                          </p:spTgt>
                                        </p:tgtEl>
                                        <p:attrNameLst>
                                          <p:attrName>style.visibility</p:attrName>
                                        </p:attrNameLst>
                                      </p:cBhvr>
                                      <p:to>
                                        <p:strVal val="visible"/>
                                      </p:to>
                                    </p:set>
                                    <p:animEffect filter="fade" transition="in">
                                      <p:cBhvr>
                                        <p:cTn dur="500"/>
                                        <p:tgtEl>
                                          <p:spTgt spid="40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7" st="7"/>
                                            </p:txEl>
                                          </p:spTgt>
                                        </p:tgtEl>
                                        <p:attrNameLst>
                                          <p:attrName>style.visibility</p:attrName>
                                        </p:attrNameLst>
                                      </p:cBhvr>
                                      <p:to>
                                        <p:strVal val="visible"/>
                                      </p:to>
                                    </p:set>
                                    <p:animEffect filter="fade" transition="in">
                                      <p:cBhvr>
                                        <p:cTn dur="500"/>
                                        <p:tgtEl>
                                          <p:spTgt spid="40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xEl>
                                              <p:pRg end="8" st="8"/>
                                            </p:txEl>
                                          </p:spTgt>
                                        </p:tgtEl>
                                        <p:attrNameLst>
                                          <p:attrName>style.visibility</p:attrName>
                                        </p:attrNameLst>
                                      </p:cBhvr>
                                      <p:to>
                                        <p:strVal val="visible"/>
                                      </p:to>
                                    </p:set>
                                    <p:animEffect filter="fade" transition="in">
                                      <p:cBhvr>
                                        <p:cTn dur="500"/>
                                        <p:tgtEl>
                                          <p:spTgt spid="403">
                                            <p:txEl>
                                              <p:pRg end="8" st="8"/>
                                            </p:txEl>
                                          </p:spTgt>
                                        </p:tgtEl>
                                      </p:cBhvr>
                                    </p:animEffect>
                                  </p:childTnLst>
                                </p:cTn>
                              </p:par>
                              <p:par>
                                <p:cTn fill="hold" nodeType="with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7"/>
          <p:cNvSpPr txBox="1"/>
          <p:nvPr>
            <p:ph type="title"/>
          </p:nvPr>
        </p:nvSpPr>
        <p:spPr>
          <a:xfrm>
            <a:off x="1232179" y="9415"/>
            <a:ext cx="9337209" cy="11430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4400"/>
              <a:buFont typeface="Calibri"/>
              <a:buNone/>
            </a:pPr>
            <a:r>
              <a:rPr lang="en-US"/>
              <a:t>What determines exchange rate levels?</a:t>
            </a:r>
            <a:endParaRPr/>
          </a:p>
        </p:txBody>
      </p:sp>
      <p:sp>
        <p:nvSpPr>
          <p:cNvPr id="414" name="Google Shape;414;p37"/>
          <p:cNvSpPr txBox="1"/>
          <p:nvPr>
            <p:ph idx="1" type="body"/>
          </p:nvPr>
        </p:nvSpPr>
        <p:spPr>
          <a:xfrm>
            <a:off x="2133600" y="1815990"/>
            <a:ext cx="8153400" cy="4356210"/>
          </a:xfrm>
          <a:prstGeom prst="rect">
            <a:avLst/>
          </a:prstGeom>
          <a:noFill/>
          <a:ln>
            <a:noFill/>
          </a:ln>
        </p:spPr>
        <p:txBody>
          <a:bodyPr anchorCtr="0" anchor="t" bIns="45700" lIns="91425" spcFirstLastPara="1" rIns="91425" wrap="square" tIns="45700">
            <a:normAutofit lnSpcReduction="10000"/>
          </a:bodyPr>
          <a:lstStyle/>
          <a:p>
            <a:pPr indent="-742950" lvl="0" marL="742950" rtl="0" algn="l">
              <a:lnSpc>
                <a:spcPct val="90000"/>
              </a:lnSpc>
              <a:spcBef>
                <a:spcPts val="0"/>
              </a:spcBef>
              <a:spcAft>
                <a:spcPts val="0"/>
              </a:spcAft>
              <a:buClr>
                <a:schemeClr val="dk1"/>
              </a:buClr>
              <a:buSzPts val="3600"/>
              <a:buFont typeface="Calibri"/>
              <a:buAutoNum type="arabicPeriod"/>
            </a:pPr>
            <a:r>
              <a:rPr lang="en-US" sz="3600"/>
              <a:t>Price differences</a:t>
            </a:r>
            <a:endParaRPr/>
          </a:p>
          <a:p>
            <a:pPr indent="-514350" lvl="1" marL="971550" rtl="0" algn="l">
              <a:lnSpc>
                <a:spcPct val="90000"/>
              </a:lnSpc>
              <a:spcBef>
                <a:spcPts val="1800"/>
              </a:spcBef>
              <a:spcAft>
                <a:spcPts val="0"/>
              </a:spcAft>
              <a:buClr>
                <a:schemeClr val="dk1"/>
              </a:buClr>
              <a:buSzPts val="3200"/>
              <a:buFont typeface="Calibri"/>
              <a:buAutoNum type="alphaLcParenR"/>
            </a:pPr>
            <a:r>
              <a:rPr lang="en-US" sz="3200"/>
              <a:t>PPP </a:t>
            </a:r>
            <a:r>
              <a:rPr i="1" lang="en-US" sz="3200"/>
              <a:t>(relationship between prices and exchange rate)</a:t>
            </a:r>
            <a:endParaRPr/>
          </a:p>
          <a:p>
            <a:pPr indent="-514350" lvl="1" marL="971550" rtl="0" algn="l">
              <a:lnSpc>
                <a:spcPct val="90000"/>
              </a:lnSpc>
              <a:spcBef>
                <a:spcPts val="1800"/>
              </a:spcBef>
              <a:spcAft>
                <a:spcPts val="0"/>
              </a:spcAft>
              <a:buClr>
                <a:schemeClr val="dk1"/>
              </a:buClr>
              <a:buSzPts val="3200"/>
              <a:buFont typeface="Calibri"/>
              <a:buAutoNum type="alphaLcParenR"/>
            </a:pPr>
            <a:r>
              <a:rPr lang="en-US" sz="3200"/>
              <a:t>Economic changes</a:t>
            </a:r>
            <a:endParaRPr/>
          </a:p>
          <a:p>
            <a:pPr indent="-514350" lvl="1" marL="971550" rtl="0" algn="l">
              <a:lnSpc>
                <a:spcPct val="90000"/>
              </a:lnSpc>
              <a:spcBef>
                <a:spcPts val="1800"/>
              </a:spcBef>
              <a:spcAft>
                <a:spcPts val="0"/>
              </a:spcAft>
              <a:buClr>
                <a:schemeClr val="dk1"/>
              </a:buClr>
              <a:buSzPts val="3200"/>
              <a:buFont typeface="Calibri"/>
              <a:buAutoNum type="alphaLcParenR"/>
            </a:pPr>
            <a:r>
              <a:rPr lang="en-US" sz="3200"/>
              <a:t>Money supply – inflation</a:t>
            </a:r>
            <a:endParaRPr/>
          </a:p>
          <a:p>
            <a:pPr indent="-514350" lvl="1" marL="971550" rtl="0" algn="l">
              <a:lnSpc>
                <a:spcPct val="90000"/>
              </a:lnSpc>
              <a:spcBef>
                <a:spcPts val="1800"/>
              </a:spcBef>
              <a:spcAft>
                <a:spcPts val="0"/>
              </a:spcAft>
              <a:buClr>
                <a:schemeClr val="dk1"/>
              </a:buClr>
              <a:buSzPts val="3200"/>
              <a:buFont typeface="Calibri"/>
              <a:buAutoNum type="alphaLcParenR"/>
            </a:pPr>
            <a:r>
              <a:rPr lang="en-US" sz="3200"/>
              <a:t>Interest rates</a:t>
            </a:r>
            <a:endParaRPr/>
          </a:p>
          <a:p>
            <a:pPr indent="-742950" lvl="0" marL="742950" rtl="0" algn="l">
              <a:lnSpc>
                <a:spcPct val="90000"/>
              </a:lnSpc>
              <a:spcBef>
                <a:spcPts val="3000"/>
              </a:spcBef>
              <a:spcAft>
                <a:spcPts val="0"/>
              </a:spcAft>
              <a:buClr>
                <a:schemeClr val="dk1"/>
              </a:buClr>
              <a:buSzPts val="3600"/>
              <a:buFont typeface="Calibri"/>
              <a:buAutoNum type="arabicPeriod"/>
            </a:pPr>
            <a:r>
              <a:rPr lang="en-US" sz="3600"/>
              <a:t>Market psychology/expectations</a:t>
            </a:r>
            <a:endParaRPr/>
          </a:p>
          <a:p>
            <a:pPr indent="0" lvl="0" marL="228600" rtl="0" algn="l">
              <a:lnSpc>
                <a:spcPct val="90000"/>
              </a:lnSpc>
              <a:spcBef>
                <a:spcPts val="3000"/>
              </a:spcBef>
              <a:spcAft>
                <a:spcPts val="0"/>
              </a:spcAft>
              <a:buClr>
                <a:schemeClr val="dk1"/>
              </a:buClr>
              <a:buSzPts val="3600"/>
              <a:buNone/>
            </a:pPr>
            <a:r>
              <a:t/>
            </a:r>
            <a:endParaRPr sz="3600"/>
          </a:p>
        </p:txBody>
      </p:sp>
      <p:sp>
        <p:nvSpPr>
          <p:cNvPr id="415" name="Google Shape;415;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xEl>
                                              <p:pRg end="0" st="0"/>
                                            </p:txEl>
                                          </p:spTgt>
                                        </p:tgtEl>
                                        <p:attrNameLst>
                                          <p:attrName>style.visibility</p:attrName>
                                        </p:attrNameLst>
                                      </p:cBhvr>
                                      <p:to>
                                        <p:strVal val="visible"/>
                                      </p:to>
                                    </p:set>
                                    <p:animEffect filter="fade" transition="in">
                                      <p:cBhvr>
                                        <p:cTn dur="500"/>
                                        <p:tgtEl>
                                          <p:spTgt spid="4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xEl>
                                              <p:pRg end="1" st="1"/>
                                            </p:txEl>
                                          </p:spTgt>
                                        </p:tgtEl>
                                        <p:attrNameLst>
                                          <p:attrName>style.visibility</p:attrName>
                                        </p:attrNameLst>
                                      </p:cBhvr>
                                      <p:to>
                                        <p:strVal val="visible"/>
                                      </p:to>
                                    </p:set>
                                    <p:animEffect filter="fade" transition="in">
                                      <p:cBhvr>
                                        <p:cTn dur="500"/>
                                        <p:tgtEl>
                                          <p:spTgt spid="4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xEl>
                                              <p:pRg end="2" st="2"/>
                                            </p:txEl>
                                          </p:spTgt>
                                        </p:tgtEl>
                                        <p:attrNameLst>
                                          <p:attrName>style.visibility</p:attrName>
                                        </p:attrNameLst>
                                      </p:cBhvr>
                                      <p:to>
                                        <p:strVal val="visible"/>
                                      </p:to>
                                    </p:set>
                                    <p:animEffect filter="fade" transition="in">
                                      <p:cBhvr>
                                        <p:cTn dur="500"/>
                                        <p:tgtEl>
                                          <p:spTgt spid="4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xEl>
                                              <p:pRg end="3" st="3"/>
                                            </p:txEl>
                                          </p:spTgt>
                                        </p:tgtEl>
                                        <p:attrNameLst>
                                          <p:attrName>style.visibility</p:attrName>
                                        </p:attrNameLst>
                                      </p:cBhvr>
                                      <p:to>
                                        <p:strVal val="visible"/>
                                      </p:to>
                                    </p:set>
                                    <p:animEffect filter="fade" transition="in">
                                      <p:cBhvr>
                                        <p:cTn dur="500"/>
                                        <p:tgtEl>
                                          <p:spTgt spid="4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xEl>
                                              <p:pRg end="4" st="4"/>
                                            </p:txEl>
                                          </p:spTgt>
                                        </p:tgtEl>
                                        <p:attrNameLst>
                                          <p:attrName>style.visibility</p:attrName>
                                        </p:attrNameLst>
                                      </p:cBhvr>
                                      <p:to>
                                        <p:strVal val="visible"/>
                                      </p:to>
                                    </p:set>
                                    <p:animEffect filter="fade" transition="in">
                                      <p:cBhvr>
                                        <p:cTn dur="500"/>
                                        <p:tgtEl>
                                          <p:spTgt spid="4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xEl>
                                              <p:pRg end="5" st="5"/>
                                            </p:txEl>
                                          </p:spTgt>
                                        </p:tgtEl>
                                        <p:attrNameLst>
                                          <p:attrName>style.visibility</p:attrName>
                                        </p:attrNameLst>
                                      </p:cBhvr>
                                      <p:to>
                                        <p:strVal val="visible"/>
                                      </p:to>
                                    </p:set>
                                    <p:animEffect filter="fade" transition="in">
                                      <p:cBhvr>
                                        <p:cTn dur="500"/>
                                        <p:tgtEl>
                                          <p:spTgt spid="4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xEl>
                                              <p:pRg end="6" st="6"/>
                                            </p:txEl>
                                          </p:spTgt>
                                        </p:tgtEl>
                                        <p:attrNameLst>
                                          <p:attrName>style.visibility</p:attrName>
                                        </p:attrNameLst>
                                      </p:cBhvr>
                                      <p:to>
                                        <p:strVal val="visible"/>
                                      </p:to>
                                    </p:set>
                                    <p:animEffect filter="fade" transition="in">
                                      <p:cBhvr>
                                        <p:cTn dur="500"/>
                                        <p:tgtEl>
                                          <p:spTgt spid="41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8"/>
          <p:cNvSpPr txBox="1"/>
          <p:nvPr>
            <p:ph type="title"/>
          </p:nvPr>
        </p:nvSpPr>
        <p:spPr>
          <a:xfrm>
            <a:off x="1247482" y="0"/>
            <a:ext cx="8440738" cy="11430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dk1"/>
              </a:buClr>
              <a:buSzPts val="4000"/>
              <a:buFont typeface="Calibri"/>
              <a:buNone/>
            </a:pPr>
            <a:r>
              <a:rPr lang="en-US" sz="4000"/>
              <a:t>What determines exchange rate levels?</a:t>
            </a:r>
            <a:endParaRPr/>
          </a:p>
        </p:txBody>
      </p:sp>
      <p:sp>
        <p:nvSpPr>
          <p:cNvPr id="421" name="Google Shape;421;p38"/>
          <p:cNvSpPr txBox="1"/>
          <p:nvPr>
            <p:ph idx="1" type="body"/>
          </p:nvPr>
        </p:nvSpPr>
        <p:spPr>
          <a:xfrm>
            <a:off x="1062318" y="1594876"/>
            <a:ext cx="10291482" cy="4698347"/>
          </a:xfrm>
          <a:prstGeom prst="rect">
            <a:avLst/>
          </a:prstGeom>
          <a:noFill/>
          <a:ln>
            <a:noFill/>
          </a:ln>
        </p:spPr>
        <p:txBody>
          <a:bodyPr anchorCtr="0" anchor="t" bIns="45700" lIns="91425" spcFirstLastPara="1" rIns="91425" wrap="square" tIns="45700">
            <a:normAutofit/>
          </a:bodyPr>
          <a:lstStyle/>
          <a:p>
            <a:pPr indent="-514350" lvl="0" marL="514350" rtl="0" algn="l">
              <a:lnSpc>
                <a:spcPct val="90000"/>
              </a:lnSpc>
              <a:spcBef>
                <a:spcPts val="0"/>
              </a:spcBef>
              <a:spcAft>
                <a:spcPts val="0"/>
              </a:spcAft>
              <a:buClr>
                <a:schemeClr val="dk1"/>
              </a:buClr>
              <a:buSzPts val="2800"/>
              <a:buFont typeface="Calibri"/>
              <a:buAutoNum type="arabicPeriod"/>
            </a:pPr>
            <a:r>
              <a:rPr b="1" lang="en-US" sz="2800"/>
              <a:t>Price differences: </a:t>
            </a:r>
            <a:endParaRPr/>
          </a:p>
          <a:p>
            <a:pPr indent="-228600" lvl="0" marL="228600" rtl="0" algn="l">
              <a:lnSpc>
                <a:spcPct val="90000"/>
              </a:lnSpc>
              <a:spcBef>
                <a:spcPts val="1800"/>
              </a:spcBef>
              <a:spcAft>
                <a:spcPts val="0"/>
              </a:spcAft>
              <a:buClr>
                <a:schemeClr val="dk1"/>
              </a:buClr>
              <a:buSzPts val="2800"/>
              <a:buNone/>
            </a:pPr>
            <a:r>
              <a:rPr lang="en-US" sz="2800"/>
              <a:t>     a) Purchasing Power Parity (PPP)</a:t>
            </a:r>
            <a:endParaRPr/>
          </a:p>
          <a:p>
            <a:pPr indent="-228600" lvl="0" marL="228600" rtl="0" algn="l">
              <a:lnSpc>
                <a:spcPct val="90000"/>
              </a:lnSpc>
              <a:spcBef>
                <a:spcPts val="1800"/>
              </a:spcBef>
              <a:spcAft>
                <a:spcPts val="0"/>
              </a:spcAft>
              <a:buClr>
                <a:schemeClr val="dk1"/>
              </a:buClr>
              <a:buSzPts val="2800"/>
              <a:buNone/>
            </a:pPr>
            <a:r>
              <a:rPr i="1" lang="en-US" sz="2800"/>
              <a:t>        How much does your money “buy” in different places? </a:t>
            </a:r>
            <a:endParaRPr/>
          </a:p>
          <a:p>
            <a:pPr indent="-228600" lvl="0" marL="228600" rtl="0" algn="l">
              <a:lnSpc>
                <a:spcPct val="90000"/>
              </a:lnSpc>
              <a:spcBef>
                <a:spcPts val="1800"/>
              </a:spcBef>
              <a:spcAft>
                <a:spcPts val="0"/>
              </a:spcAft>
              <a:buClr>
                <a:schemeClr val="dk1"/>
              </a:buClr>
              <a:buSzPts val="2800"/>
              <a:buNone/>
            </a:pPr>
            <a:r>
              <a:rPr i="1" lang="en-US" sz="2800"/>
              <a:t>        THEORETICALLY… it should be the same anywhere</a:t>
            </a:r>
            <a:endParaRPr/>
          </a:p>
          <a:p>
            <a:pPr indent="-403225" lvl="1" marL="1035050" rtl="0" algn="l">
              <a:lnSpc>
                <a:spcPct val="90000"/>
              </a:lnSpc>
              <a:spcBef>
                <a:spcPts val="1800"/>
              </a:spcBef>
              <a:spcAft>
                <a:spcPts val="0"/>
              </a:spcAft>
              <a:buClr>
                <a:schemeClr val="dk1"/>
              </a:buClr>
              <a:buSzPts val="2400"/>
              <a:buChar char="•"/>
            </a:pPr>
            <a:r>
              <a:rPr lang="en-US" sz="2400"/>
              <a:t>Goods sold in different locations should have the same “price” (Law of One Price)… (regardless of what currency is used to “pay”)</a:t>
            </a:r>
            <a:endParaRPr/>
          </a:p>
          <a:p>
            <a:pPr indent="-403225" lvl="1" marL="1035050" rtl="0" algn="l">
              <a:lnSpc>
                <a:spcPct val="90000"/>
              </a:lnSpc>
              <a:spcBef>
                <a:spcPts val="1800"/>
              </a:spcBef>
              <a:spcAft>
                <a:spcPts val="0"/>
              </a:spcAft>
              <a:buClr>
                <a:schemeClr val="dk1"/>
              </a:buClr>
              <a:buSzPts val="2400"/>
              <a:buChar char="•"/>
            </a:pPr>
            <a:r>
              <a:rPr lang="en-US" sz="2400"/>
              <a:t>If price differential exists, trade will create currency adjustments</a:t>
            </a:r>
            <a:endParaRPr/>
          </a:p>
        </p:txBody>
      </p:sp>
      <p:sp>
        <p:nvSpPr>
          <p:cNvPr id="422" name="Google Shape;422;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0" st="0"/>
                                            </p:txEl>
                                          </p:spTgt>
                                        </p:tgtEl>
                                        <p:attrNameLst>
                                          <p:attrName>style.visibility</p:attrName>
                                        </p:attrNameLst>
                                      </p:cBhvr>
                                      <p:to>
                                        <p:strVal val="visible"/>
                                      </p:to>
                                    </p:set>
                                    <p:animEffect filter="fade" transition="in">
                                      <p:cBhvr>
                                        <p:cTn dur="500"/>
                                        <p:tgtEl>
                                          <p:spTgt spid="4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1" st="1"/>
                                            </p:txEl>
                                          </p:spTgt>
                                        </p:tgtEl>
                                        <p:attrNameLst>
                                          <p:attrName>style.visibility</p:attrName>
                                        </p:attrNameLst>
                                      </p:cBhvr>
                                      <p:to>
                                        <p:strVal val="visible"/>
                                      </p:to>
                                    </p:set>
                                    <p:animEffect filter="fade" transition="in">
                                      <p:cBhvr>
                                        <p:cTn dur="500"/>
                                        <p:tgtEl>
                                          <p:spTgt spid="4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2" st="2"/>
                                            </p:txEl>
                                          </p:spTgt>
                                        </p:tgtEl>
                                        <p:attrNameLst>
                                          <p:attrName>style.visibility</p:attrName>
                                        </p:attrNameLst>
                                      </p:cBhvr>
                                      <p:to>
                                        <p:strVal val="visible"/>
                                      </p:to>
                                    </p:set>
                                    <p:animEffect filter="fade" transition="in">
                                      <p:cBhvr>
                                        <p:cTn dur="500"/>
                                        <p:tgtEl>
                                          <p:spTgt spid="4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3" st="3"/>
                                            </p:txEl>
                                          </p:spTgt>
                                        </p:tgtEl>
                                        <p:attrNameLst>
                                          <p:attrName>style.visibility</p:attrName>
                                        </p:attrNameLst>
                                      </p:cBhvr>
                                      <p:to>
                                        <p:strVal val="visible"/>
                                      </p:to>
                                    </p:set>
                                    <p:animEffect filter="fade" transition="in">
                                      <p:cBhvr>
                                        <p:cTn dur="500"/>
                                        <p:tgtEl>
                                          <p:spTgt spid="4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4" st="4"/>
                                            </p:txEl>
                                          </p:spTgt>
                                        </p:tgtEl>
                                        <p:attrNameLst>
                                          <p:attrName>style.visibility</p:attrName>
                                        </p:attrNameLst>
                                      </p:cBhvr>
                                      <p:to>
                                        <p:strVal val="visible"/>
                                      </p:to>
                                    </p:set>
                                    <p:animEffect filter="fade" transition="in">
                                      <p:cBhvr>
                                        <p:cTn dur="500"/>
                                        <p:tgtEl>
                                          <p:spTgt spid="4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5" st="5"/>
                                            </p:txEl>
                                          </p:spTgt>
                                        </p:tgtEl>
                                        <p:attrNameLst>
                                          <p:attrName>style.visibility</p:attrName>
                                        </p:attrNameLst>
                                      </p:cBhvr>
                                      <p:to>
                                        <p:strVal val="visible"/>
                                      </p:to>
                                    </p:set>
                                    <p:animEffect filter="fade" transition="in">
                                      <p:cBhvr>
                                        <p:cTn dur="500"/>
                                        <p:tgtEl>
                                          <p:spTgt spid="42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39"/>
          <p:cNvSpPr txBox="1"/>
          <p:nvPr>
            <p:ph type="title"/>
          </p:nvPr>
        </p:nvSpPr>
        <p:spPr>
          <a:xfrm>
            <a:off x="1206854" y="0"/>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PPP trade effect</a:t>
            </a:r>
            <a:endParaRPr/>
          </a:p>
        </p:txBody>
      </p:sp>
      <p:sp>
        <p:nvSpPr>
          <p:cNvPr id="428" name="Google Shape;428;p39"/>
          <p:cNvSpPr txBox="1"/>
          <p:nvPr>
            <p:ph idx="1" type="body"/>
          </p:nvPr>
        </p:nvSpPr>
        <p:spPr>
          <a:xfrm>
            <a:off x="2217095" y="1891312"/>
            <a:ext cx="7772400" cy="41148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200"/>
              <a:buChar char="•"/>
            </a:pPr>
            <a:r>
              <a:rPr lang="en-US"/>
              <a:t>Suppose a Caterpillar “earth mover” cost $250,000 in the US</a:t>
            </a:r>
            <a:endParaRPr/>
          </a:p>
          <a:p>
            <a:pPr indent="-228600" lvl="0" marL="228600" rtl="0" algn="l">
              <a:lnSpc>
                <a:spcPct val="90000"/>
              </a:lnSpc>
              <a:spcBef>
                <a:spcPts val="3000"/>
              </a:spcBef>
              <a:spcAft>
                <a:spcPts val="0"/>
              </a:spcAft>
              <a:buClr>
                <a:schemeClr val="dk1"/>
              </a:buClr>
              <a:buSzPts val="3200"/>
              <a:buChar char="•"/>
            </a:pPr>
            <a:r>
              <a:rPr lang="en-US"/>
              <a:t>If the $/€ rate is $1 = €.90, the equipment should cost €225,000 in Germany</a:t>
            </a:r>
            <a:endParaRPr/>
          </a:p>
          <a:p>
            <a:pPr indent="-228600" lvl="0" marL="228600" rtl="0" algn="l">
              <a:lnSpc>
                <a:spcPct val="90000"/>
              </a:lnSpc>
              <a:spcBef>
                <a:spcPts val="3000"/>
              </a:spcBef>
              <a:spcAft>
                <a:spcPts val="0"/>
              </a:spcAft>
              <a:buClr>
                <a:schemeClr val="dk1"/>
              </a:buClr>
              <a:buSzPts val="3200"/>
              <a:buChar char="•"/>
            </a:pPr>
            <a:r>
              <a:rPr lang="en-US"/>
              <a:t>Suppose the price in Germany is </a:t>
            </a:r>
            <a:br>
              <a:rPr lang="en-US"/>
            </a:br>
            <a:r>
              <a:rPr lang="en-US"/>
              <a:t>€250,000</a:t>
            </a:r>
            <a:endParaRPr/>
          </a:p>
          <a:p>
            <a:pPr indent="-228600" lvl="0" marL="228600" rtl="0" algn="l">
              <a:lnSpc>
                <a:spcPct val="90000"/>
              </a:lnSpc>
              <a:spcBef>
                <a:spcPts val="3000"/>
              </a:spcBef>
              <a:spcAft>
                <a:spcPts val="0"/>
              </a:spcAft>
              <a:buClr>
                <a:srgbClr val="0000FF"/>
              </a:buClr>
              <a:buSzPts val="3200"/>
              <a:buNone/>
            </a:pPr>
            <a:r>
              <a:rPr i="1" lang="en-US">
                <a:solidFill>
                  <a:srgbClr val="0000FF"/>
                </a:solidFill>
              </a:rPr>
              <a:t>What will happen?</a:t>
            </a:r>
            <a:endParaRPr/>
          </a:p>
        </p:txBody>
      </p:sp>
      <p:sp>
        <p:nvSpPr>
          <p:cNvPr id="429" name="Google Shape;42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0" st="0"/>
                                            </p:txEl>
                                          </p:spTgt>
                                        </p:tgtEl>
                                        <p:attrNameLst>
                                          <p:attrName>style.visibility</p:attrName>
                                        </p:attrNameLst>
                                      </p:cBhvr>
                                      <p:to>
                                        <p:strVal val="visible"/>
                                      </p:to>
                                    </p:set>
                                    <p:animEffect filter="fade" transition="in">
                                      <p:cBhvr>
                                        <p:cTn dur="500"/>
                                        <p:tgtEl>
                                          <p:spTgt spid="4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1" st="1"/>
                                            </p:txEl>
                                          </p:spTgt>
                                        </p:tgtEl>
                                        <p:attrNameLst>
                                          <p:attrName>style.visibility</p:attrName>
                                        </p:attrNameLst>
                                      </p:cBhvr>
                                      <p:to>
                                        <p:strVal val="visible"/>
                                      </p:to>
                                    </p:set>
                                    <p:animEffect filter="fade" transition="in">
                                      <p:cBhvr>
                                        <p:cTn dur="500"/>
                                        <p:tgtEl>
                                          <p:spTgt spid="4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2" st="2"/>
                                            </p:txEl>
                                          </p:spTgt>
                                        </p:tgtEl>
                                        <p:attrNameLst>
                                          <p:attrName>style.visibility</p:attrName>
                                        </p:attrNameLst>
                                      </p:cBhvr>
                                      <p:to>
                                        <p:strVal val="visible"/>
                                      </p:to>
                                    </p:set>
                                    <p:animEffect filter="fade" transition="in">
                                      <p:cBhvr>
                                        <p:cTn dur="500"/>
                                        <p:tgtEl>
                                          <p:spTgt spid="4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xEl>
                                              <p:pRg end="3" st="3"/>
                                            </p:txEl>
                                          </p:spTgt>
                                        </p:tgtEl>
                                        <p:attrNameLst>
                                          <p:attrName>style.visibility</p:attrName>
                                        </p:attrNameLst>
                                      </p:cBhvr>
                                      <p:to>
                                        <p:strVal val="visible"/>
                                      </p:to>
                                    </p:set>
                                    <p:animEffect filter="fade" transition="in">
                                      <p:cBhvr>
                                        <p:cTn dur="500"/>
                                        <p:tgtEl>
                                          <p:spTgt spid="42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0"/>
          <p:cNvSpPr txBox="1"/>
          <p:nvPr>
            <p:ph type="title"/>
          </p:nvPr>
        </p:nvSpPr>
        <p:spPr>
          <a:xfrm>
            <a:off x="1199559" y="0"/>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PPP trade effect</a:t>
            </a:r>
            <a:endParaRPr/>
          </a:p>
        </p:txBody>
      </p:sp>
      <p:sp>
        <p:nvSpPr>
          <p:cNvPr id="435" name="Google Shape;435;p40"/>
          <p:cNvSpPr txBox="1"/>
          <p:nvPr>
            <p:ph idx="1" type="body"/>
          </p:nvPr>
        </p:nvSpPr>
        <p:spPr>
          <a:xfrm>
            <a:off x="1199558" y="1602773"/>
            <a:ext cx="9792881" cy="411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200"/>
              <a:buNone/>
            </a:pPr>
            <a:r>
              <a:rPr b="1" lang="en-US"/>
              <a:t>Theoretically…</a:t>
            </a:r>
            <a:endParaRPr/>
          </a:p>
          <a:p>
            <a:pPr indent="-533400" lvl="0" marL="533400" rtl="0" algn="l">
              <a:lnSpc>
                <a:spcPct val="90000"/>
              </a:lnSpc>
              <a:spcBef>
                <a:spcPts val="2400"/>
              </a:spcBef>
              <a:spcAft>
                <a:spcPts val="0"/>
              </a:spcAft>
              <a:buClr>
                <a:schemeClr val="dk1"/>
              </a:buClr>
              <a:buSzPts val="3200"/>
              <a:buFont typeface="Arial"/>
              <a:buAutoNum type="arabicPeriod"/>
            </a:pPr>
            <a:r>
              <a:rPr lang="en-US"/>
              <a:t>Germans will buy earth-mover in US </a:t>
            </a:r>
            <a:endParaRPr/>
          </a:p>
          <a:p>
            <a:pPr indent="-533400" lvl="0" marL="533400" rtl="0" algn="l">
              <a:lnSpc>
                <a:spcPct val="90000"/>
              </a:lnSpc>
              <a:spcBef>
                <a:spcPts val="2400"/>
              </a:spcBef>
              <a:spcAft>
                <a:spcPts val="0"/>
              </a:spcAft>
              <a:buClr>
                <a:schemeClr val="dk1"/>
              </a:buClr>
              <a:buSzPts val="3200"/>
              <a:buFont typeface="Arial"/>
              <a:buAutoNum type="arabicPeriod"/>
            </a:pPr>
            <a:r>
              <a:rPr lang="en-US"/>
              <a:t>They will use Euros to buy Dollars</a:t>
            </a:r>
            <a:endParaRPr/>
          </a:p>
          <a:p>
            <a:pPr indent="-533400" lvl="0" marL="533400" rtl="0" algn="l">
              <a:lnSpc>
                <a:spcPct val="90000"/>
              </a:lnSpc>
              <a:spcBef>
                <a:spcPts val="2400"/>
              </a:spcBef>
              <a:spcAft>
                <a:spcPts val="0"/>
              </a:spcAft>
              <a:buClr>
                <a:schemeClr val="dk1"/>
              </a:buClr>
              <a:buSzPts val="3200"/>
              <a:buFont typeface="Arial"/>
              <a:buAutoNum type="arabicPeriod"/>
            </a:pPr>
            <a:r>
              <a:rPr lang="en-US"/>
              <a:t>Dollar appreciates in value relative to Euro - the Euro </a:t>
            </a:r>
            <a:r>
              <a:rPr b="1" i="1" lang="en-US"/>
              <a:t>depreciates</a:t>
            </a:r>
            <a:r>
              <a:rPr lang="en-US"/>
              <a:t> relative to the Dollar (e.g., $1 = €0.95) </a:t>
            </a:r>
            <a:endParaRPr/>
          </a:p>
          <a:p>
            <a:pPr indent="-533400" lvl="0" marL="533400" rtl="0" algn="l">
              <a:lnSpc>
                <a:spcPct val="90000"/>
              </a:lnSpc>
              <a:spcBef>
                <a:spcPts val="2400"/>
              </a:spcBef>
              <a:spcAft>
                <a:spcPts val="0"/>
              </a:spcAft>
              <a:buClr>
                <a:schemeClr val="dk1"/>
              </a:buClr>
              <a:buSzPts val="3200"/>
              <a:buFont typeface="Arial"/>
              <a:buAutoNum type="arabicPeriod"/>
            </a:pPr>
            <a:r>
              <a:rPr lang="en-US"/>
              <a:t>Assuming no change in product price in Germany, trend will continue until exchange rates reach parity ($1 = €1) </a:t>
            </a:r>
            <a:endParaRPr/>
          </a:p>
        </p:txBody>
      </p:sp>
      <p:sp>
        <p:nvSpPr>
          <p:cNvPr id="436" name="Google Shape;43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xEl>
                                              <p:pRg end="0" st="0"/>
                                            </p:txEl>
                                          </p:spTgt>
                                        </p:tgtEl>
                                        <p:attrNameLst>
                                          <p:attrName>style.visibility</p:attrName>
                                        </p:attrNameLst>
                                      </p:cBhvr>
                                      <p:to>
                                        <p:strVal val="visible"/>
                                      </p:to>
                                    </p:set>
                                    <p:animEffect filter="fade" transition="in">
                                      <p:cBhvr>
                                        <p:cTn dur="500"/>
                                        <p:tgtEl>
                                          <p:spTgt spid="4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xEl>
                                              <p:pRg end="1" st="1"/>
                                            </p:txEl>
                                          </p:spTgt>
                                        </p:tgtEl>
                                        <p:attrNameLst>
                                          <p:attrName>style.visibility</p:attrName>
                                        </p:attrNameLst>
                                      </p:cBhvr>
                                      <p:to>
                                        <p:strVal val="visible"/>
                                      </p:to>
                                    </p:set>
                                    <p:animEffect filter="fade" transition="in">
                                      <p:cBhvr>
                                        <p:cTn dur="500"/>
                                        <p:tgtEl>
                                          <p:spTgt spid="4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xEl>
                                              <p:pRg end="2" st="2"/>
                                            </p:txEl>
                                          </p:spTgt>
                                        </p:tgtEl>
                                        <p:attrNameLst>
                                          <p:attrName>style.visibility</p:attrName>
                                        </p:attrNameLst>
                                      </p:cBhvr>
                                      <p:to>
                                        <p:strVal val="visible"/>
                                      </p:to>
                                    </p:set>
                                    <p:animEffect filter="fade" transition="in">
                                      <p:cBhvr>
                                        <p:cTn dur="500"/>
                                        <p:tgtEl>
                                          <p:spTgt spid="4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xEl>
                                              <p:pRg end="3" st="3"/>
                                            </p:txEl>
                                          </p:spTgt>
                                        </p:tgtEl>
                                        <p:attrNameLst>
                                          <p:attrName>style.visibility</p:attrName>
                                        </p:attrNameLst>
                                      </p:cBhvr>
                                      <p:to>
                                        <p:strVal val="visible"/>
                                      </p:to>
                                    </p:set>
                                    <p:animEffect filter="fade" transition="in">
                                      <p:cBhvr>
                                        <p:cTn dur="500"/>
                                        <p:tgtEl>
                                          <p:spTgt spid="4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5">
                                            <p:txEl>
                                              <p:pRg end="4" st="4"/>
                                            </p:txEl>
                                          </p:spTgt>
                                        </p:tgtEl>
                                        <p:attrNameLst>
                                          <p:attrName>style.visibility</p:attrName>
                                        </p:attrNameLst>
                                      </p:cBhvr>
                                      <p:to>
                                        <p:strVal val="visible"/>
                                      </p:to>
                                    </p:set>
                                    <p:animEffect filter="fade" transition="in">
                                      <p:cBhvr>
                                        <p:cTn dur="500"/>
                                        <p:tgtEl>
                                          <p:spTgt spid="43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1"/>
          <p:cNvSpPr txBox="1"/>
          <p:nvPr>
            <p:ph type="title"/>
          </p:nvPr>
        </p:nvSpPr>
        <p:spPr>
          <a:xfrm>
            <a:off x="952500" y="2429436"/>
            <a:ext cx="2057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Calibri"/>
              <a:buNone/>
            </a:pPr>
            <a:r>
              <a:rPr lang="en-US" sz="2400"/>
              <a:t>Big Mac Index 2012 – </a:t>
            </a:r>
            <a:br>
              <a:rPr lang="en-US" sz="2400"/>
            </a:br>
            <a:r>
              <a:rPr lang="en-US" sz="2400"/>
              <a:t>The Economist</a:t>
            </a:r>
            <a:endParaRPr/>
          </a:p>
        </p:txBody>
      </p:sp>
      <p:sp>
        <p:nvSpPr>
          <p:cNvPr id="442" name="Google Shape;442;p41">
            <a:hlinkClick r:id="rId3"/>
          </p:cNvPr>
          <p:cNvSpPr/>
          <p:nvPr/>
        </p:nvSpPr>
        <p:spPr>
          <a:xfrm>
            <a:off x="10210800" y="6477000"/>
            <a:ext cx="152400" cy="152400"/>
          </a:xfrm>
          <a:custGeom>
            <a:rect b="b" l="l" r="r" t="t"/>
            <a:pathLst>
              <a:path extrusionOk="0" h="120000" w="120000">
                <a:moveTo>
                  <a:pt x="0" y="0"/>
                </a:moveTo>
                <a:lnTo>
                  <a:pt x="120000" y="0"/>
                </a:lnTo>
                <a:lnTo>
                  <a:pt x="120000" y="120000"/>
                </a:lnTo>
                <a:lnTo>
                  <a:pt x="0" y="120000"/>
                </a:lnTo>
                <a:close/>
                <a:moveTo>
                  <a:pt x="60000" y="15000"/>
                </a:moveTo>
                <a:lnTo>
                  <a:pt x="60000" y="15000"/>
                </a:lnTo>
                <a:cubicBezTo>
                  <a:pt x="84853" y="15000"/>
                  <a:pt x="105000" y="35147"/>
                  <a:pt x="105000" y="60000"/>
                </a:cubicBezTo>
                <a:cubicBezTo>
                  <a:pt x="105000" y="84853"/>
                  <a:pt x="84853" y="105000"/>
                  <a:pt x="60000" y="105000"/>
                </a:cubicBezTo>
                <a:cubicBezTo>
                  <a:pt x="35147" y="105000"/>
                  <a:pt x="15000" y="84853"/>
                  <a:pt x="15000" y="60000"/>
                </a:cubicBezTo>
                <a:cubicBezTo>
                  <a:pt x="15000" y="35147"/>
                  <a:pt x="35147" y="15000"/>
                  <a:pt x="60000" y="15000"/>
                </a:cubicBezTo>
                <a:close/>
              </a:path>
              <a:path extrusionOk="0" fill="darken" h="120000" w="120000">
                <a:moveTo>
                  <a:pt x="60000" y="15000"/>
                </a:moveTo>
                <a:lnTo>
                  <a:pt x="60000" y="15000"/>
                </a:lnTo>
                <a:cubicBezTo>
                  <a:pt x="84853" y="15000"/>
                  <a:pt x="105000" y="35147"/>
                  <a:pt x="105000" y="60000"/>
                </a:cubicBezTo>
                <a:cubicBezTo>
                  <a:pt x="105000" y="84853"/>
                  <a:pt x="84853" y="105000"/>
                  <a:pt x="60000" y="105000"/>
                </a:cubicBezTo>
                <a:cubicBezTo>
                  <a:pt x="35147" y="105000"/>
                  <a:pt x="15000" y="84853"/>
                  <a:pt x="15000" y="60000"/>
                </a:cubicBezTo>
                <a:cubicBezTo>
                  <a:pt x="15000" y="35147"/>
                  <a:pt x="35147" y="15000"/>
                  <a:pt x="60000" y="15000"/>
                </a:cubicBezTo>
                <a:close/>
                <a:moveTo>
                  <a:pt x="60000" y="17813"/>
                </a:moveTo>
                <a:cubicBezTo>
                  <a:pt x="64660" y="17813"/>
                  <a:pt x="68438" y="21590"/>
                  <a:pt x="68438" y="26250"/>
                </a:cubicBezTo>
                <a:cubicBezTo>
                  <a:pt x="68438" y="30910"/>
                  <a:pt x="64660" y="34688"/>
                  <a:pt x="60000" y="34688"/>
                </a:cubicBezTo>
                <a:cubicBezTo>
                  <a:pt x="55340" y="34688"/>
                  <a:pt x="51563" y="30910"/>
                  <a:pt x="51563" y="26250"/>
                </a:cubicBezTo>
                <a:cubicBezTo>
                  <a:pt x="51563" y="21590"/>
                  <a:pt x="55340" y="17813"/>
                  <a:pt x="60000" y="17813"/>
                </a:cubicBezTo>
                <a:moveTo>
                  <a:pt x="43125" y="43125"/>
                </a:moveTo>
                <a:lnTo>
                  <a:pt x="43125" y="48750"/>
                </a:lnTo>
                <a:lnTo>
                  <a:pt x="51563" y="48750"/>
                </a:lnTo>
                <a:lnTo>
                  <a:pt x="51563" y="88125"/>
                </a:lnTo>
                <a:lnTo>
                  <a:pt x="43125" y="88125"/>
                </a:lnTo>
                <a:lnTo>
                  <a:pt x="43125" y="93750"/>
                </a:lnTo>
                <a:lnTo>
                  <a:pt x="76875" y="93750"/>
                </a:lnTo>
                <a:lnTo>
                  <a:pt x="76875" y="88125"/>
                </a:lnTo>
                <a:lnTo>
                  <a:pt x="68438" y="88125"/>
                </a:lnTo>
                <a:lnTo>
                  <a:pt x="68438" y="43125"/>
                </a:lnTo>
                <a:close/>
              </a:path>
              <a:path extrusionOk="0" fill="lighten" h="120000" w="120000">
                <a:moveTo>
                  <a:pt x="60000" y="17813"/>
                </a:moveTo>
                <a:cubicBezTo>
                  <a:pt x="64660" y="17813"/>
                  <a:pt x="68438" y="21590"/>
                  <a:pt x="68438" y="26250"/>
                </a:cubicBezTo>
                <a:cubicBezTo>
                  <a:pt x="68438" y="30910"/>
                  <a:pt x="64660" y="34688"/>
                  <a:pt x="60000" y="34688"/>
                </a:cubicBezTo>
                <a:cubicBezTo>
                  <a:pt x="55340" y="34688"/>
                  <a:pt x="51563" y="30910"/>
                  <a:pt x="51563" y="26250"/>
                </a:cubicBezTo>
                <a:cubicBezTo>
                  <a:pt x="51563" y="21590"/>
                  <a:pt x="55340" y="17813"/>
                  <a:pt x="60000" y="17813"/>
                </a:cubicBezTo>
                <a:moveTo>
                  <a:pt x="43125" y="43125"/>
                </a:moveTo>
                <a:lnTo>
                  <a:pt x="68438" y="43125"/>
                </a:lnTo>
                <a:lnTo>
                  <a:pt x="68438" y="88125"/>
                </a:lnTo>
                <a:lnTo>
                  <a:pt x="76875" y="88125"/>
                </a:lnTo>
                <a:lnTo>
                  <a:pt x="76875" y="93750"/>
                </a:lnTo>
                <a:lnTo>
                  <a:pt x="43125" y="93750"/>
                </a:lnTo>
                <a:lnTo>
                  <a:pt x="43125" y="88125"/>
                </a:lnTo>
                <a:lnTo>
                  <a:pt x="51563" y="88125"/>
                </a:lnTo>
                <a:lnTo>
                  <a:pt x="51563" y="48750"/>
                </a:lnTo>
                <a:lnTo>
                  <a:pt x="43125" y="48750"/>
                </a:lnTo>
                <a:close/>
              </a:path>
              <a:path extrusionOk="0" fill="none" h="120000" w="120000">
                <a:moveTo>
                  <a:pt x="60000" y="15000"/>
                </a:moveTo>
                <a:lnTo>
                  <a:pt x="60000" y="15000"/>
                </a:lnTo>
                <a:cubicBezTo>
                  <a:pt x="84853" y="15000"/>
                  <a:pt x="105000" y="35147"/>
                  <a:pt x="105000" y="60000"/>
                </a:cubicBezTo>
                <a:cubicBezTo>
                  <a:pt x="105000" y="84853"/>
                  <a:pt x="84853" y="105000"/>
                  <a:pt x="60000" y="105000"/>
                </a:cubicBezTo>
                <a:cubicBezTo>
                  <a:pt x="35147" y="105000"/>
                  <a:pt x="15000" y="84853"/>
                  <a:pt x="15000" y="60000"/>
                </a:cubicBezTo>
                <a:cubicBezTo>
                  <a:pt x="15000" y="35147"/>
                  <a:pt x="35147" y="15000"/>
                  <a:pt x="60000" y="15000"/>
                </a:cubicBezTo>
                <a:close/>
                <a:moveTo>
                  <a:pt x="60000" y="17813"/>
                </a:moveTo>
                <a:cubicBezTo>
                  <a:pt x="64660" y="17813"/>
                  <a:pt x="68438" y="21590"/>
                  <a:pt x="68438" y="26250"/>
                </a:cubicBezTo>
                <a:cubicBezTo>
                  <a:pt x="68438" y="30910"/>
                  <a:pt x="64660" y="34688"/>
                  <a:pt x="60000" y="34688"/>
                </a:cubicBezTo>
                <a:cubicBezTo>
                  <a:pt x="55340" y="34688"/>
                  <a:pt x="51563" y="30910"/>
                  <a:pt x="51563" y="26250"/>
                </a:cubicBezTo>
                <a:cubicBezTo>
                  <a:pt x="51563" y="21590"/>
                  <a:pt x="55340" y="17813"/>
                  <a:pt x="60000" y="17813"/>
                </a:cubicBezTo>
                <a:moveTo>
                  <a:pt x="43125" y="43125"/>
                </a:moveTo>
                <a:lnTo>
                  <a:pt x="68438" y="43125"/>
                </a:lnTo>
                <a:lnTo>
                  <a:pt x="68438" y="88125"/>
                </a:lnTo>
                <a:lnTo>
                  <a:pt x="76875" y="88125"/>
                </a:lnTo>
                <a:lnTo>
                  <a:pt x="76875" y="93750"/>
                </a:lnTo>
                <a:lnTo>
                  <a:pt x="43125" y="93750"/>
                </a:lnTo>
                <a:lnTo>
                  <a:pt x="43125" y="88125"/>
                </a:lnTo>
                <a:lnTo>
                  <a:pt x="51563" y="88125"/>
                </a:lnTo>
                <a:lnTo>
                  <a:pt x="51563" y="48750"/>
                </a:lnTo>
                <a:lnTo>
                  <a:pt x="43125" y="4875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44" name="Google Shape;444;p41"/>
          <p:cNvSpPr/>
          <p:nvPr/>
        </p:nvSpPr>
        <p:spPr>
          <a:xfrm>
            <a:off x="0" y="0"/>
            <a:ext cx="12192000" cy="1169894"/>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Big_Mac_index_2012.jpg" id="445" name="Google Shape;445;p41"/>
          <p:cNvPicPr preferRelativeResize="0"/>
          <p:nvPr/>
        </p:nvPicPr>
        <p:blipFill rotWithShape="1">
          <a:blip r:embed="rId4">
            <a:alphaModFix/>
          </a:blip>
          <a:srcRect b="0" l="0" r="0" t="0"/>
          <a:stretch/>
        </p:blipFill>
        <p:spPr>
          <a:xfrm>
            <a:off x="3133167" y="516364"/>
            <a:ext cx="6570108" cy="6341636"/>
          </a:xfrm>
          <a:prstGeom prst="rect">
            <a:avLst/>
          </a:prstGeom>
          <a:noFill/>
          <a:ln>
            <a:noFill/>
          </a:ln>
        </p:spPr>
      </p:pic>
      <p:cxnSp>
        <p:nvCxnSpPr>
          <p:cNvPr id="446" name="Google Shape;446;p41"/>
          <p:cNvCxnSpPr/>
          <p:nvPr/>
        </p:nvCxnSpPr>
        <p:spPr>
          <a:xfrm>
            <a:off x="3340100" y="1587500"/>
            <a:ext cx="6108700" cy="0"/>
          </a:xfrm>
          <a:prstGeom prst="straightConnector1">
            <a:avLst/>
          </a:prstGeom>
          <a:noFill/>
          <a:ln cap="flat" cmpd="sng" w="9525">
            <a:solidFill>
              <a:srgbClr val="CC3300"/>
            </a:solidFill>
            <a:prstDash val="solid"/>
            <a:miter lim="800000"/>
            <a:headEnd len="sm" w="sm" type="none"/>
            <a:tailEnd len="med" w="med" type="triangle"/>
          </a:ln>
        </p:spPr>
      </p:cxnSp>
      <p:cxnSp>
        <p:nvCxnSpPr>
          <p:cNvPr id="447" name="Google Shape;447;p41"/>
          <p:cNvCxnSpPr/>
          <p:nvPr/>
        </p:nvCxnSpPr>
        <p:spPr>
          <a:xfrm>
            <a:off x="3340100" y="6565900"/>
            <a:ext cx="6108700" cy="0"/>
          </a:xfrm>
          <a:prstGeom prst="straightConnector1">
            <a:avLst/>
          </a:prstGeom>
          <a:noFill/>
          <a:ln cap="flat" cmpd="sng" w="9525">
            <a:solidFill>
              <a:srgbClr val="CC330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500"/>
                                        <p:tgtEl>
                                          <p:spTgt spid="4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42"/>
          <p:cNvSpPr txBox="1"/>
          <p:nvPr>
            <p:ph type="title"/>
          </p:nvPr>
        </p:nvSpPr>
        <p:spPr>
          <a:xfrm>
            <a:off x="1251637" y="-93592"/>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PPP effect</a:t>
            </a:r>
            <a:endParaRPr>
              <a:solidFill>
                <a:srgbClr val="0000FF"/>
              </a:solidFill>
            </a:endParaRPr>
          </a:p>
        </p:txBody>
      </p:sp>
      <p:sp>
        <p:nvSpPr>
          <p:cNvPr id="453" name="Google Shape;453;p42"/>
          <p:cNvSpPr txBox="1"/>
          <p:nvPr>
            <p:ph idx="1" type="body"/>
          </p:nvPr>
        </p:nvSpPr>
        <p:spPr>
          <a:xfrm>
            <a:off x="766482" y="1846861"/>
            <a:ext cx="10784541"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Clr>
                <a:schemeClr val="dk1"/>
              </a:buClr>
              <a:buSzPts val="3200"/>
              <a:buNone/>
            </a:pPr>
            <a:r>
              <a:rPr lang="en-US"/>
              <a:t>Big Mac Index </a:t>
            </a:r>
            <a:endParaRPr/>
          </a:p>
          <a:p>
            <a:pPr indent="-228600" lvl="0" marL="228600" rtl="0" algn="l">
              <a:lnSpc>
                <a:spcPct val="80000"/>
              </a:lnSpc>
              <a:spcBef>
                <a:spcPts val="1800"/>
              </a:spcBef>
              <a:spcAft>
                <a:spcPts val="0"/>
              </a:spcAft>
              <a:buClr>
                <a:schemeClr val="dk1"/>
              </a:buClr>
              <a:buSzPts val="2800"/>
              <a:buChar char="•"/>
            </a:pPr>
            <a:r>
              <a:rPr lang="en-US" sz="2800"/>
              <a:t>Assumes no transportation costs, no trade barriers, no intervention, perfect information, rationality, etc.</a:t>
            </a:r>
            <a:endParaRPr/>
          </a:p>
          <a:p>
            <a:pPr indent="0" lvl="0" marL="0" rtl="0" algn="l">
              <a:lnSpc>
                <a:spcPct val="80000"/>
              </a:lnSpc>
              <a:spcBef>
                <a:spcPts val="1800"/>
              </a:spcBef>
              <a:spcAft>
                <a:spcPts val="0"/>
              </a:spcAft>
              <a:buClr>
                <a:srgbClr val="0000FF"/>
              </a:buClr>
              <a:buSzPts val="2800"/>
              <a:buNone/>
            </a:pPr>
            <a:r>
              <a:rPr i="1" lang="en-US" sz="2800">
                <a:solidFill>
                  <a:srgbClr val="0000FF"/>
                </a:solidFill>
              </a:rPr>
              <a:t>                                                     highly unrealistic</a:t>
            </a:r>
            <a:endParaRPr sz="2800"/>
          </a:p>
          <a:p>
            <a:pPr indent="-228600" lvl="0" marL="228600" rtl="0" algn="l">
              <a:lnSpc>
                <a:spcPct val="80000"/>
              </a:lnSpc>
              <a:spcBef>
                <a:spcPts val="1800"/>
              </a:spcBef>
              <a:spcAft>
                <a:spcPts val="0"/>
              </a:spcAft>
              <a:buClr>
                <a:schemeClr val="dk1"/>
              </a:buClr>
              <a:buSzPts val="2800"/>
              <a:buChar char="•"/>
            </a:pPr>
            <a:r>
              <a:rPr lang="en-US" sz="2800"/>
              <a:t>Also, trade involves many products &amp; complex markets</a:t>
            </a:r>
            <a:endParaRPr/>
          </a:p>
          <a:p>
            <a:pPr indent="-228600" lvl="0" marL="228600" rtl="0" algn="l">
              <a:lnSpc>
                <a:spcPct val="80000"/>
              </a:lnSpc>
              <a:spcBef>
                <a:spcPts val="1800"/>
              </a:spcBef>
              <a:spcAft>
                <a:spcPts val="0"/>
              </a:spcAft>
              <a:buClr>
                <a:schemeClr val="dk1"/>
              </a:buClr>
              <a:buSzPts val="2800"/>
              <a:buChar char="•"/>
            </a:pPr>
            <a:r>
              <a:rPr lang="en-US" sz="2800"/>
              <a:t>PPP is not a good predictor of short-run exchange rate movements</a:t>
            </a:r>
            <a:endParaRPr/>
          </a:p>
          <a:p>
            <a:pPr indent="-228600" lvl="0" marL="228600" rtl="0" algn="l">
              <a:lnSpc>
                <a:spcPct val="80000"/>
              </a:lnSpc>
              <a:spcBef>
                <a:spcPts val="1800"/>
              </a:spcBef>
              <a:spcAft>
                <a:spcPts val="0"/>
              </a:spcAft>
              <a:buClr>
                <a:schemeClr val="dk1"/>
              </a:buClr>
              <a:buSzPts val="2800"/>
              <a:buChar char="•"/>
            </a:pPr>
            <a:r>
              <a:rPr lang="en-US" sz="2800"/>
              <a:t>Explains fundamental relationships</a:t>
            </a:r>
            <a:endParaRPr/>
          </a:p>
          <a:p>
            <a:pPr indent="-228600" lvl="0" marL="228600" rtl="0" algn="l">
              <a:lnSpc>
                <a:spcPct val="80000"/>
              </a:lnSpc>
              <a:spcBef>
                <a:spcPts val="1800"/>
              </a:spcBef>
              <a:spcAft>
                <a:spcPts val="0"/>
              </a:spcAft>
              <a:buClr>
                <a:schemeClr val="dk1"/>
              </a:buClr>
              <a:buSzPts val="2800"/>
              <a:buChar char="•"/>
            </a:pPr>
            <a:r>
              <a:rPr lang="en-US" sz="2800"/>
              <a:t>Can be useful for country comparisons in standards of living and growth</a:t>
            </a:r>
            <a:endParaRPr/>
          </a:p>
        </p:txBody>
      </p:sp>
      <p:sp>
        <p:nvSpPr>
          <p:cNvPr id="454" name="Google Shape;454;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0" st="0"/>
                                            </p:txEl>
                                          </p:spTgt>
                                        </p:tgtEl>
                                        <p:attrNameLst>
                                          <p:attrName>style.visibility</p:attrName>
                                        </p:attrNameLst>
                                      </p:cBhvr>
                                      <p:to>
                                        <p:strVal val="visible"/>
                                      </p:to>
                                    </p:set>
                                    <p:animEffect filter="fade" transition="in">
                                      <p:cBhvr>
                                        <p:cTn dur="500"/>
                                        <p:tgtEl>
                                          <p:spTgt spid="4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 st="1"/>
                                            </p:txEl>
                                          </p:spTgt>
                                        </p:tgtEl>
                                        <p:attrNameLst>
                                          <p:attrName>style.visibility</p:attrName>
                                        </p:attrNameLst>
                                      </p:cBhvr>
                                      <p:to>
                                        <p:strVal val="visible"/>
                                      </p:to>
                                    </p:set>
                                    <p:animEffect filter="fade" transition="in">
                                      <p:cBhvr>
                                        <p:cTn dur="500"/>
                                        <p:tgtEl>
                                          <p:spTgt spid="4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2" st="2"/>
                                            </p:txEl>
                                          </p:spTgt>
                                        </p:tgtEl>
                                        <p:attrNameLst>
                                          <p:attrName>style.visibility</p:attrName>
                                        </p:attrNameLst>
                                      </p:cBhvr>
                                      <p:to>
                                        <p:strVal val="visible"/>
                                      </p:to>
                                    </p:set>
                                    <p:animEffect filter="fade" transition="in">
                                      <p:cBhvr>
                                        <p:cTn dur="500"/>
                                        <p:tgtEl>
                                          <p:spTgt spid="4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3" st="3"/>
                                            </p:txEl>
                                          </p:spTgt>
                                        </p:tgtEl>
                                        <p:attrNameLst>
                                          <p:attrName>style.visibility</p:attrName>
                                        </p:attrNameLst>
                                      </p:cBhvr>
                                      <p:to>
                                        <p:strVal val="visible"/>
                                      </p:to>
                                    </p:set>
                                    <p:animEffect filter="fade" transition="in">
                                      <p:cBhvr>
                                        <p:cTn dur="500"/>
                                        <p:tgtEl>
                                          <p:spTgt spid="4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4" st="4"/>
                                            </p:txEl>
                                          </p:spTgt>
                                        </p:tgtEl>
                                        <p:attrNameLst>
                                          <p:attrName>style.visibility</p:attrName>
                                        </p:attrNameLst>
                                      </p:cBhvr>
                                      <p:to>
                                        <p:strVal val="visible"/>
                                      </p:to>
                                    </p:set>
                                    <p:animEffect filter="fade" transition="in">
                                      <p:cBhvr>
                                        <p:cTn dur="500"/>
                                        <p:tgtEl>
                                          <p:spTgt spid="4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5" st="5"/>
                                            </p:txEl>
                                          </p:spTgt>
                                        </p:tgtEl>
                                        <p:attrNameLst>
                                          <p:attrName>style.visibility</p:attrName>
                                        </p:attrNameLst>
                                      </p:cBhvr>
                                      <p:to>
                                        <p:strVal val="visible"/>
                                      </p:to>
                                    </p:set>
                                    <p:animEffect filter="fade" transition="in">
                                      <p:cBhvr>
                                        <p:cTn dur="500"/>
                                        <p:tgtEl>
                                          <p:spTgt spid="45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6" st="6"/>
                                            </p:txEl>
                                          </p:spTgt>
                                        </p:tgtEl>
                                        <p:attrNameLst>
                                          <p:attrName>style.visibility</p:attrName>
                                        </p:attrNameLst>
                                      </p:cBhvr>
                                      <p:to>
                                        <p:strVal val="visible"/>
                                      </p:to>
                                    </p:set>
                                    <p:animEffect filter="fade" transition="in">
                                      <p:cBhvr>
                                        <p:cTn dur="500"/>
                                        <p:tgtEl>
                                          <p:spTgt spid="45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3"/>
          <p:cNvSpPr txBox="1"/>
          <p:nvPr>
            <p:ph type="title"/>
          </p:nvPr>
        </p:nvSpPr>
        <p:spPr>
          <a:xfrm>
            <a:off x="1248694" y="94143"/>
            <a:ext cx="8305800" cy="11430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80000"/>
              </a:lnSpc>
              <a:spcBef>
                <a:spcPts val="0"/>
              </a:spcBef>
              <a:spcAft>
                <a:spcPts val="0"/>
              </a:spcAft>
              <a:buClr>
                <a:schemeClr val="dk1"/>
              </a:buClr>
              <a:buSzPct val="100000"/>
              <a:buFont typeface="Calibri"/>
              <a:buNone/>
            </a:pPr>
            <a:r>
              <a:rPr lang="en-US"/>
              <a:t>What determines exchange rate levels?</a:t>
            </a:r>
            <a:endParaRPr/>
          </a:p>
        </p:txBody>
      </p:sp>
      <p:sp>
        <p:nvSpPr>
          <p:cNvPr id="460" name="Google Shape;460;p43"/>
          <p:cNvSpPr txBox="1"/>
          <p:nvPr>
            <p:ph idx="1" type="body"/>
          </p:nvPr>
        </p:nvSpPr>
        <p:spPr>
          <a:xfrm>
            <a:off x="1089212" y="1470345"/>
            <a:ext cx="10264588" cy="4419600"/>
          </a:xfrm>
          <a:prstGeom prst="rect">
            <a:avLst/>
          </a:prstGeom>
          <a:noFill/>
          <a:ln>
            <a:noFill/>
          </a:ln>
        </p:spPr>
        <p:txBody>
          <a:bodyPr anchorCtr="0" anchor="t" bIns="45700" lIns="91425" spcFirstLastPara="1" rIns="91425" wrap="square" tIns="45700">
            <a:noAutofit/>
          </a:bodyPr>
          <a:lstStyle/>
          <a:p>
            <a:pPr indent="-514350" lvl="0" marL="514350" rtl="0" algn="l">
              <a:lnSpc>
                <a:spcPct val="90000"/>
              </a:lnSpc>
              <a:spcBef>
                <a:spcPts val="0"/>
              </a:spcBef>
              <a:spcAft>
                <a:spcPts val="0"/>
              </a:spcAft>
              <a:buClr>
                <a:schemeClr val="dk1"/>
              </a:buClr>
              <a:buSzPts val="2800"/>
              <a:buFont typeface="Calibri"/>
              <a:buAutoNum type="arabicPeriod"/>
            </a:pPr>
            <a:r>
              <a:rPr b="1" lang="en-US" sz="2800"/>
              <a:t>Price differences</a:t>
            </a:r>
            <a:endParaRPr b="1" sz="2800"/>
          </a:p>
          <a:p>
            <a:pPr indent="-228600" lvl="0" marL="228600" rtl="0" algn="l">
              <a:lnSpc>
                <a:spcPct val="90000"/>
              </a:lnSpc>
              <a:spcBef>
                <a:spcPts val="1800"/>
              </a:spcBef>
              <a:spcAft>
                <a:spcPts val="0"/>
              </a:spcAft>
              <a:buClr>
                <a:schemeClr val="dk1"/>
              </a:buClr>
              <a:buSzPts val="2800"/>
              <a:buNone/>
            </a:pPr>
            <a:r>
              <a:rPr lang="en-US" sz="2800"/>
              <a:t>    b) Money supply – inflation</a:t>
            </a:r>
            <a:endParaRPr/>
          </a:p>
          <a:p>
            <a:pPr indent="-228600" lvl="1" marL="685800" rtl="0" algn="l">
              <a:lnSpc>
                <a:spcPct val="90000"/>
              </a:lnSpc>
              <a:spcBef>
                <a:spcPts val="1800"/>
              </a:spcBef>
              <a:spcAft>
                <a:spcPts val="0"/>
              </a:spcAft>
              <a:buClr>
                <a:schemeClr val="dk1"/>
              </a:buClr>
              <a:buSzPts val="2400"/>
              <a:buChar char="•"/>
            </a:pPr>
            <a:r>
              <a:rPr lang="en-US" sz="2400"/>
              <a:t>If a country increases its money supply, prices will inflate (QE2 effect on US Dollar)</a:t>
            </a:r>
            <a:endParaRPr/>
          </a:p>
          <a:p>
            <a:pPr indent="-228600" lvl="1" marL="685800" rtl="0" algn="l">
              <a:lnSpc>
                <a:spcPct val="90000"/>
              </a:lnSpc>
              <a:spcBef>
                <a:spcPts val="1800"/>
              </a:spcBef>
              <a:spcAft>
                <a:spcPts val="0"/>
              </a:spcAft>
              <a:buClr>
                <a:schemeClr val="dk1"/>
              </a:buClr>
              <a:buSzPts val="2400"/>
              <a:buChar char="•"/>
            </a:pPr>
            <a:r>
              <a:rPr lang="en-US" sz="2400"/>
              <a:t>Inflation causes price increase,  but there is no increase in “value” (from buyers perspective),  so foreign demand falls</a:t>
            </a:r>
            <a:endParaRPr/>
          </a:p>
          <a:p>
            <a:pPr indent="-228600" lvl="1" marL="685800" rtl="0" algn="l">
              <a:lnSpc>
                <a:spcPct val="90000"/>
              </a:lnSpc>
              <a:spcBef>
                <a:spcPts val="1800"/>
              </a:spcBef>
              <a:spcAft>
                <a:spcPts val="0"/>
              </a:spcAft>
              <a:buClr>
                <a:schemeClr val="dk1"/>
              </a:buClr>
              <a:buSzPts val="2400"/>
              <a:buChar char="•"/>
            </a:pPr>
            <a:r>
              <a:rPr lang="en-US" sz="2400"/>
              <a:t>Reduced exports reduces demand for domestic currency and so the currency depreciates </a:t>
            </a:r>
            <a:endParaRPr/>
          </a:p>
          <a:p>
            <a:pPr indent="-228600" lvl="1" marL="685800" rtl="0" algn="ctr">
              <a:lnSpc>
                <a:spcPct val="90000"/>
              </a:lnSpc>
              <a:spcBef>
                <a:spcPts val="1800"/>
              </a:spcBef>
              <a:spcAft>
                <a:spcPts val="0"/>
              </a:spcAft>
              <a:buClr>
                <a:schemeClr val="dk1"/>
              </a:buClr>
              <a:buSzPts val="2400"/>
              <a:buNone/>
            </a:pPr>
            <a:r>
              <a:t/>
            </a:r>
            <a:endParaRPr i="1" sz="2400"/>
          </a:p>
          <a:p>
            <a:pPr indent="-228600" lvl="1" marL="685800" rtl="0" algn="ctr">
              <a:lnSpc>
                <a:spcPct val="90000"/>
              </a:lnSpc>
              <a:spcBef>
                <a:spcPts val="1800"/>
              </a:spcBef>
              <a:spcAft>
                <a:spcPts val="0"/>
              </a:spcAft>
              <a:buClr>
                <a:schemeClr val="dk1"/>
              </a:buClr>
              <a:buSzPts val="2400"/>
              <a:buNone/>
            </a:pPr>
            <a:r>
              <a:rPr i="1" lang="en-US" sz="2400"/>
              <a:t>Thus, relative inflation rate levels and trends can be used to predict relative exchange rate movements</a:t>
            </a:r>
            <a:endParaRPr/>
          </a:p>
        </p:txBody>
      </p:sp>
      <p:sp>
        <p:nvSpPr>
          <p:cNvPr id="461" name="Google Shape;461;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0" st="0"/>
                                            </p:txEl>
                                          </p:spTgt>
                                        </p:tgtEl>
                                        <p:attrNameLst>
                                          <p:attrName>style.visibility</p:attrName>
                                        </p:attrNameLst>
                                      </p:cBhvr>
                                      <p:to>
                                        <p:strVal val="visible"/>
                                      </p:to>
                                    </p:set>
                                    <p:animEffect filter="fade" transition="in">
                                      <p:cBhvr>
                                        <p:cTn dur="500"/>
                                        <p:tgtEl>
                                          <p:spTgt spid="4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1" st="1"/>
                                            </p:txEl>
                                          </p:spTgt>
                                        </p:tgtEl>
                                        <p:attrNameLst>
                                          <p:attrName>style.visibility</p:attrName>
                                        </p:attrNameLst>
                                      </p:cBhvr>
                                      <p:to>
                                        <p:strVal val="visible"/>
                                      </p:to>
                                    </p:set>
                                    <p:animEffect filter="fade" transition="in">
                                      <p:cBhvr>
                                        <p:cTn dur="500"/>
                                        <p:tgtEl>
                                          <p:spTgt spid="4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2" st="2"/>
                                            </p:txEl>
                                          </p:spTgt>
                                        </p:tgtEl>
                                        <p:attrNameLst>
                                          <p:attrName>style.visibility</p:attrName>
                                        </p:attrNameLst>
                                      </p:cBhvr>
                                      <p:to>
                                        <p:strVal val="visible"/>
                                      </p:to>
                                    </p:set>
                                    <p:animEffect filter="fade" transition="in">
                                      <p:cBhvr>
                                        <p:cTn dur="500"/>
                                        <p:tgtEl>
                                          <p:spTgt spid="4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3" st="3"/>
                                            </p:txEl>
                                          </p:spTgt>
                                        </p:tgtEl>
                                        <p:attrNameLst>
                                          <p:attrName>style.visibility</p:attrName>
                                        </p:attrNameLst>
                                      </p:cBhvr>
                                      <p:to>
                                        <p:strVal val="visible"/>
                                      </p:to>
                                    </p:set>
                                    <p:animEffect filter="fade" transition="in">
                                      <p:cBhvr>
                                        <p:cTn dur="500"/>
                                        <p:tgtEl>
                                          <p:spTgt spid="4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4" st="4"/>
                                            </p:txEl>
                                          </p:spTgt>
                                        </p:tgtEl>
                                        <p:attrNameLst>
                                          <p:attrName>style.visibility</p:attrName>
                                        </p:attrNameLst>
                                      </p:cBhvr>
                                      <p:to>
                                        <p:strVal val="visible"/>
                                      </p:to>
                                    </p:set>
                                    <p:animEffect filter="fade" transition="in">
                                      <p:cBhvr>
                                        <p:cTn dur="500"/>
                                        <p:tgtEl>
                                          <p:spTgt spid="4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5" st="5"/>
                                            </p:txEl>
                                          </p:spTgt>
                                        </p:tgtEl>
                                        <p:attrNameLst>
                                          <p:attrName>style.visibility</p:attrName>
                                        </p:attrNameLst>
                                      </p:cBhvr>
                                      <p:to>
                                        <p:strVal val="visible"/>
                                      </p:to>
                                    </p:set>
                                    <p:animEffect filter="fade" transition="in">
                                      <p:cBhvr>
                                        <p:cTn dur="500"/>
                                        <p:tgtEl>
                                          <p:spTgt spid="4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0">
                                            <p:txEl>
                                              <p:pRg end="6" st="6"/>
                                            </p:txEl>
                                          </p:spTgt>
                                        </p:tgtEl>
                                        <p:attrNameLst>
                                          <p:attrName>style.visibility</p:attrName>
                                        </p:attrNameLst>
                                      </p:cBhvr>
                                      <p:to>
                                        <p:strVal val="visible"/>
                                      </p:to>
                                    </p:set>
                                    <p:animEffect filter="fade" transition="in">
                                      <p:cBhvr>
                                        <p:cTn dur="500"/>
                                        <p:tgtEl>
                                          <p:spTgt spid="46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4"/>
          <p:cNvSpPr txBox="1"/>
          <p:nvPr>
            <p:ph type="title"/>
          </p:nvPr>
        </p:nvSpPr>
        <p:spPr>
          <a:xfrm>
            <a:off x="1220656" y="206852"/>
            <a:ext cx="9577331" cy="9144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4400"/>
              <a:buFont typeface="Calibri"/>
              <a:buNone/>
            </a:pPr>
            <a:r>
              <a:rPr lang="en-US"/>
              <a:t>What determines exchange rate levels?</a:t>
            </a:r>
            <a:endParaRPr/>
          </a:p>
        </p:txBody>
      </p:sp>
      <p:sp>
        <p:nvSpPr>
          <p:cNvPr id="467" name="Google Shape;467;p44"/>
          <p:cNvSpPr txBox="1"/>
          <p:nvPr>
            <p:ph idx="1" type="body"/>
          </p:nvPr>
        </p:nvSpPr>
        <p:spPr>
          <a:xfrm>
            <a:off x="1116105" y="1239915"/>
            <a:ext cx="10018059" cy="5257800"/>
          </a:xfrm>
          <a:prstGeom prst="rect">
            <a:avLst/>
          </a:prstGeom>
          <a:noFill/>
          <a:ln>
            <a:noFill/>
          </a:ln>
        </p:spPr>
        <p:txBody>
          <a:bodyPr anchorCtr="0" anchor="t" bIns="45700" lIns="91425" spcFirstLastPara="1" rIns="91425" wrap="square" tIns="45700">
            <a:noAutofit/>
          </a:bodyPr>
          <a:lstStyle/>
          <a:p>
            <a:pPr indent="-514350" lvl="0" marL="514350" rtl="0" algn="l">
              <a:lnSpc>
                <a:spcPct val="90000"/>
              </a:lnSpc>
              <a:spcBef>
                <a:spcPts val="0"/>
              </a:spcBef>
              <a:spcAft>
                <a:spcPts val="0"/>
              </a:spcAft>
              <a:buClr>
                <a:schemeClr val="dk1"/>
              </a:buClr>
              <a:buSzPts val="3200"/>
              <a:buFont typeface="Calibri"/>
              <a:buAutoNum type="arabicPeriod"/>
            </a:pPr>
            <a:r>
              <a:rPr lang="en-US"/>
              <a:t>Price differences </a:t>
            </a:r>
            <a:endParaRPr/>
          </a:p>
          <a:p>
            <a:pPr indent="0" lvl="1" marL="457200" rtl="0" algn="l">
              <a:lnSpc>
                <a:spcPct val="90000"/>
              </a:lnSpc>
              <a:spcBef>
                <a:spcPts val="500"/>
              </a:spcBef>
              <a:spcAft>
                <a:spcPts val="0"/>
              </a:spcAft>
              <a:buClr>
                <a:schemeClr val="dk1"/>
              </a:buClr>
              <a:buSzPts val="2800"/>
              <a:buNone/>
            </a:pPr>
            <a:r>
              <a:rPr lang="en-US"/>
              <a:t>c) Interest rates</a:t>
            </a:r>
            <a:r>
              <a:rPr lang="en-US" sz="2000"/>
              <a:t> </a:t>
            </a:r>
            <a:endParaRPr/>
          </a:p>
          <a:p>
            <a:pPr indent="-228600" lvl="1" marL="968375" rtl="0" algn="l">
              <a:lnSpc>
                <a:spcPct val="90000"/>
              </a:lnSpc>
              <a:spcBef>
                <a:spcPts val="500"/>
              </a:spcBef>
              <a:spcAft>
                <a:spcPts val="0"/>
              </a:spcAft>
              <a:buClr>
                <a:schemeClr val="dk1"/>
              </a:buClr>
              <a:buSzPts val="2400"/>
              <a:buChar char="•"/>
            </a:pPr>
            <a:r>
              <a:rPr lang="en-US" sz="2400"/>
              <a:t>Interest rates reflect expected rates of inflation</a:t>
            </a:r>
            <a:endParaRPr/>
          </a:p>
          <a:p>
            <a:pPr indent="-228600" lvl="1" marL="968375" rtl="0" algn="l">
              <a:lnSpc>
                <a:spcPct val="90000"/>
              </a:lnSpc>
              <a:spcBef>
                <a:spcPts val="500"/>
              </a:spcBef>
              <a:spcAft>
                <a:spcPts val="0"/>
              </a:spcAft>
              <a:buClr>
                <a:schemeClr val="dk1"/>
              </a:buClr>
              <a:buSzPts val="2400"/>
              <a:buChar char="•"/>
            </a:pPr>
            <a:r>
              <a:rPr lang="en-US" sz="2400"/>
              <a:t>Fisher Effect:  </a:t>
            </a:r>
            <a:r>
              <a:rPr i="1" lang="en-US" sz="2400"/>
              <a:t>i</a:t>
            </a:r>
            <a:r>
              <a:rPr lang="en-US" sz="2400"/>
              <a:t> =</a:t>
            </a:r>
            <a:r>
              <a:rPr i="1" lang="en-US" sz="2400"/>
              <a:t> r</a:t>
            </a:r>
            <a:r>
              <a:rPr lang="en-US" sz="2400"/>
              <a:t> + </a:t>
            </a:r>
            <a:r>
              <a:rPr i="1" lang="en-US" sz="2400"/>
              <a:t>I</a:t>
            </a:r>
            <a:endParaRPr sz="2400"/>
          </a:p>
          <a:p>
            <a:pPr indent="-228600" lvl="2" marL="1143000" rtl="0" algn="l">
              <a:lnSpc>
                <a:spcPct val="90000"/>
              </a:lnSpc>
              <a:spcBef>
                <a:spcPts val="0"/>
              </a:spcBef>
              <a:spcAft>
                <a:spcPts val="0"/>
              </a:spcAft>
              <a:buClr>
                <a:schemeClr val="dk1"/>
              </a:buClr>
              <a:buSzPts val="2400"/>
              <a:buChar char="•"/>
            </a:pPr>
            <a:r>
              <a:rPr i="1" lang="en-US"/>
              <a:t>i </a:t>
            </a:r>
            <a:r>
              <a:rPr lang="en-US"/>
              <a:t>: “nominal” (prime) interest rate in a country</a:t>
            </a:r>
            <a:endParaRPr/>
          </a:p>
          <a:p>
            <a:pPr indent="-228600" lvl="2" marL="1143000" rtl="0" algn="l">
              <a:lnSpc>
                <a:spcPct val="90000"/>
              </a:lnSpc>
              <a:spcBef>
                <a:spcPts val="0"/>
              </a:spcBef>
              <a:spcAft>
                <a:spcPts val="0"/>
              </a:spcAft>
              <a:buClr>
                <a:schemeClr val="dk1"/>
              </a:buClr>
              <a:buSzPts val="2400"/>
              <a:buChar char="•"/>
            </a:pPr>
            <a:r>
              <a:rPr i="1" lang="en-US"/>
              <a:t>r</a:t>
            </a:r>
            <a:r>
              <a:rPr lang="en-US"/>
              <a:t>: “real” interest rate (charged by lender)</a:t>
            </a:r>
            <a:endParaRPr/>
          </a:p>
          <a:p>
            <a:pPr indent="-228600" lvl="2" marL="1143000" rtl="0" algn="l">
              <a:lnSpc>
                <a:spcPct val="90000"/>
              </a:lnSpc>
              <a:spcBef>
                <a:spcPts val="0"/>
              </a:spcBef>
              <a:spcAft>
                <a:spcPts val="0"/>
              </a:spcAft>
              <a:buClr>
                <a:schemeClr val="dk1"/>
              </a:buClr>
              <a:buSzPts val="2400"/>
              <a:buChar char="•"/>
            </a:pPr>
            <a:r>
              <a:rPr i="1" lang="en-US"/>
              <a:t>I </a:t>
            </a:r>
            <a:r>
              <a:rPr lang="en-US"/>
              <a:t>:  inflation over the loan period of the funds (expressed as negative)</a:t>
            </a:r>
            <a:endParaRPr/>
          </a:p>
          <a:p>
            <a:pPr indent="-228600" lvl="1" marL="685800" rtl="0" algn="l">
              <a:lnSpc>
                <a:spcPct val="125000"/>
              </a:lnSpc>
              <a:spcBef>
                <a:spcPts val="500"/>
              </a:spcBef>
              <a:spcAft>
                <a:spcPts val="0"/>
              </a:spcAft>
              <a:buClr>
                <a:schemeClr val="dk1"/>
              </a:buClr>
              <a:buSzPts val="2400"/>
              <a:buChar char="•"/>
            </a:pPr>
            <a:r>
              <a:rPr lang="en-US" sz="2400"/>
              <a:t>International Fisher Effect: (S</a:t>
            </a:r>
            <a:r>
              <a:rPr baseline="-25000" lang="en-US" sz="2400"/>
              <a:t>1</a:t>
            </a:r>
            <a:r>
              <a:rPr lang="en-US" sz="2400"/>
              <a:t>-S</a:t>
            </a:r>
            <a:r>
              <a:rPr baseline="-25000" lang="en-US" sz="2400"/>
              <a:t>2</a:t>
            </a:r>
            <a:r>
              <a:rPr lang="en-US" sz="2400"/>
              <a:t>)/S</a:t>
            </a:r>
            <a:r>
              <a:rPr baseline="-25000" lang="en-US" sz="2400"/>
              <a:t>2</a:t>
            </a:r>
            <a:r>
              <a:rPr lang="en-US" sz="2400"/>
              <a:t> X 100 = </a:t>
            </a:r>
            <a:r>
              <a:rPr i="1" lang="en-US" sz="2400"/>
              <a:t>i</a:t>
            </a:r>
            <a:r>
              <a:rPr baseline="-25000" i="1" lang="en-US" sz="2400"/>
              <a:t>a</a:t>
            </a:r>
            <a:r>
              <a:rPr lang="en-US" sz="2400"/>
              <a:t> - </a:t>
            </a:r>
            <a:r>
              <a:rPr i="1" lang="en-US" sz="2400"/>
              <a:t>i</a:t>
            </a:r>
            <a:r>
              <a:rPr baseline="-25000" i="1" lang="en-US" sz="2400"/>
              <a:t>b</a:t>
            </a:r>
            <a:endParaRPr i="1" sz="2400"/>
          </a:p>
          <a:p>
            <a:pPr indent="-228600" lvl="2" marL="1143000" rtl="0" algn="l">
              <a:lnSpc>
                <a:spcPct val="125000"/>
              </a:lnSpc>
              <a:spcBef>
                <a:spcPts val="0"/>
              </a:spcBef>
              <a:spcAft>
                <a:spcPts val="0"/>
              </a:spcAft>
              <a:buClr>
                <a:schemeClr val="dk1"/>
              </a:buClr>
              <a:buSzPts val="2400"/>
              <a:buChar char="•"/>
            </a:pPr>
            <a:r>
              <a:rPr lang="en-US"/>
              <a:t>S</a:t>
            </a:r>
            <a:r>
              <a:rPr baseline="-25000" lang="en-US"/>
              <a:t>1</a:t>
            </a:r>
            <a:r>
              <a:rPr lang="en-US"/>
              <a:t>:  spot rate at time 1, </a:t>
            </a:r>
            <a:r>
              <a:rPr baseline="-25000" lang="en-US"/>
              <a:t> </a:t>
            </a:r>
            <a:r>
              <a:rPr lang="en-US"/>
              <a:t>S</a:t>
            </a:r>
            <a:r>
              <a:rPr baseline="-25000" lang="en-US"/>
              <a:t>2 </a:t>
            </a:r>
            <a:r>
              <a:rPr lang="en-US"/>
              <a:t>: spot rate at time 2; </a:t>
            </a:r>
            <a:endParaRPr/>
          </a:p>
          <a:p>
            <a:pPr indent="-228600" lvl="2" marL="1143000" rtl="0" algn="l">
              <a:lnSpc>
                <a:spcPct val="125000"/>
              </a:lnSpc>
              <a:spcBef>
                <a:spcPts val="0"/>
              </a:spcBef>
              <a:spcAft>
                <a:spcPts val="0"/>
              </a:spcAft>
              <a:buClr>
                <a:schemeClr val="dk1"/>
              </a:buClr>
              <a:buSzPts val="2000"/>
              <a:buChar char="•"/>
            </a:pPr>
            <a:r>
              <a:rPr b="1" i="1" lang="en-US" sz="2000"/>
              <a:t>i</a:t>
            </a:r>
            <a:r>
              <a:rPr b="1" baseline="-25000" i="1" lang="en-US" sz="2000"/>
              <a:t>a </a:t>
            </a:r>
            <a:r>
              <a:rPr b="1" i="1" lang="en-US" sz="2000"/>
              <a:t>&amp;</a:t>
            </a:r>
            <a:r>
              <a:rPr lang="en-US"/>
              <a:t> </a:t>
            </a:r>
            <a:r>
              <a:rPr b="1" i="1" lang="en-US" sz="2000"/>
              <a:t>i</a:t>
            </a:r>
            <a:r>
              <a:rPr b="1" baseline="-25000" i="1" lang="en-US" sz="2000"/>
              <a:t>b</a:t>
            </a:r>
            <a:r>
              <a:rPr b="1" lang="en-US"/>
              <a:t> </a:t>
            </a:r>
            <a:r>
              <a:rPr lang="en-US"/>
              <a:t>= nominal interest rates in the two countries</a:t>
            </a:r>
            <a:endParaRPr/>
          </a:p>
          <a:p>
            <a:pPr indent="0" lvl="2" marL="91440" rtl="0" algn="l">
              <a:lnSpc>
                <a:spcPct val="90000"/>
              </a:lnSpc>
              <a:spcBef>
                <a:spcPts val="0"/>
              </a:spcBef>
              <a:spcAft>
                <a:spcPts val="0"/>
              </a:spcAft>
              <a:buClr>
                <a:srgbClr val="0000FF"/>
              </a:buClr>
              <a:buSzPts val="2400"/>
              <a:buNone/>
            </a:pPr>
            <a:r>
              <a:rPr b="1" i="1" lang="en-US">
                <a:solidFill>
                  <a:srgbClr val="0000FF"/>
                </a:solidFill>
              </a:rPr>
              <a:t>the spot exchange rate should change an equal % (but in the opposite direction) to the difference in nominal interest rates between the two countries</a:t>
            </a:r>
            <a:endParaRPr/>
          </a:p>
        </p:txBody>
      </p:sp>
      <p:sp>
        <p:nvSpPr>
          <p:cNvPr id="468" name="Google Shape;468;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0" st="0"/>
                                            </p:txEl>
                                          </p:spTgt>
                                        </p:tgtEl>
                                        <p:attrNameLst>
                                          <p:attrName>style.visibility</p:attrName>
                                        </p:attrNameLst>
                                      </p:cBhvr>
                                      <p:to>
                                        <p:strVal val="visible"/>
                                      </p:to>
                                    </p:set>
                                    <p:animEffect filter="fade" transition="in">
                                      <p:cBhvr>
                                        <p:cTn dur="500"/>
                                        <p:tgtEl>
                                          <p:spTgt spid="4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1" st="1"/>
                                            </p:txEl>
                                          </p:spTgt>
                                        </p:tgtEl>
                                        <p:attrNameLst>
                                          <p:attrName>style.visibility</p:attrName>
                                        </p:attrNameLst>
                                      </p:cBhvr>
                                      <p:to>
                                        <p:strVal val="visible"/>
                                      </p:to>
                                    </p:set>
                                    <p:animEffect filter="fade" transition="in">
                                      <p:cBhvr>
                                        <p:cTn dur="500"/>
                                        <p:tgtEl>
                                          <p:spTgt spid="4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2" st="2"/>
                                            </p:txEl>
                                          </p:spTgt>
                                        </p:tgtEl>
                                        <p:attrNameLst>
                                          <p:attrName>style.visibility</p:attrName>
                                        </p:attrNameLst>
                                      </p:cBhvr>
                                      <p:to>
                                        <p:strVal val="visible"/>
                                      </p:to>
                                    </p:set>
                                    <p:animEffect filter="fade" transition="in">
                                      <p:cBhvr>
                                        <p:cTn dur="500"/>
                                        <p:tgtEl>
                                          <p:spTgt spid="4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3" st="3"/>
                                            </p:txEl>
                                          </p:spTgt>
                                        </p:tgtEl>
                                        <p:attrNameLst>
                                          <p:attrName>style.visibility</p:attrName>
                                        </p:attrNameLst>
                                      </p:cBhvr>
                                      <p:to>
                                        <p:strVal val="visible"/>
                                      </p:to>
                                    </p:set>
                                    <p:animEffect filter="fade" transition="in">
                                      <p:cBhvr>
                                        <p:cTn dur="500"/>
                                        <p:tgtEl>
                                          <p:spTgt spid="4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4" st="4"/>
                                            </p:txEl>
                                          </p:spTgt>
                                        </p:tgtEl>
                                        <p:attrNameLst>
                                          <p:attrName>style.visibility</p:attrName>
                                        </p:attrNameLst>
                                      </p:cBhvr>
                                      <p:to>
                                        <p:strVal val="visible"/>
                                      </p:to>
                                    </p:set>
                                    <p:animEffect filter="fade" transition="in">
                                      <p:cBhvr>
                                        <p:cTn dur="500"/>
                                        <p:tgtEl>
                                          <p:spTgt spid="4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5" st="5"/>
                                            </p:txEl>
                                          </p:spTgt>
                                        </p:tgtEl>
                                        <p:attrNameLst>
                                          <p:attrName>style.visibility</p:attrName>
                                        </p:attrNameLst>
                                      </p:cBhvr>
                                      <p:to>
                                        <p:strVal val="visible"/>
                                      </p:to>
                                    </p:set>
                                    <p:animEffect filter="fade" transition="in">
                                      <p:cBhvr>
                                        <p:cTn dur="500"/>
                                        <p:tgtEl>
                                          <p:spTgt spid="4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6" st="6"/>
                                            </p:txEl>
                                          </p:spTgt>
                                        </p:tgtEl>
                                        <p:attrNameLst>
                                          <p:attrName>style.visibility</p:attrName>
                                        </p:attrNameLst>
                                      </p:cBhvr>
                                      <p:to>
                                        <p:strVal val="visible"/>
                                      </p:to>
                                    </p:set>
                                    <p:animEffect filter="fade" transition="in">
                                      <p:cBhvr>
                                        <p:cTn dur="500"/>
                                        <p:tgtEl>
                                          <p:spTgt spid="4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7" st="7"/>
                                            </p:txEl>
                                          </p:spTgt>
                                        </p:tgtEl>
                                        <p:attrNameLst>
                                          <p:attrName>style.visibility</p:attrName>
                                        </p:attrNameLst>
                                      </p:cBhvr>
                                      <p:to>
                                        <p:strVal val="visible"/>
                                      </p:to>
                                    </p:set>
                                    <p:animEffect filter="fade" transition="in">
                                      <p:cBhvr>
                                        <p:cTn dur="500"/>
                                        <p:tgtEl>
                                          <p:spTgt spid="46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8" st="8"/>
                                            </p:txEl>
                                          </p:spTgt>
                                        </p:tgtEl>
                                        <p:attrNameLst>
                                          <p:attrName>style.visibility</p:attrName>
                                        </p:attrNameLst>
                                      </p:cBhvr>
                                      <p:to>
                                        <p:strVal val="visible"/>
                                      </p:to>
                                    </p:set>
                                    <p:animEffect filter="fade" transition="in">
                                      <p:cBhvr>
                                        <p:cTn dur="500"/>
                                        <p:tgtEl>
                                          <p:spTgt spid="46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9" st="9"/>
                                            </p:txEl>
                                          </p:spTgt>
                                        </p:tgtEl>
                                        <p:attrNameLst>
                                          <p:attrName>style.visibility</p:attrName>
                                        </p:attrNameLst>
                                      </p:cBhvr>
                                      <p:to>
                                        <p:strVal val="visible"/>
                                      </p:to>
                                    </p:set>
                                    <p:animEffect filter="fade" transition="in">
                                      <p:cBhvr>
                                        <p:cTn dur="500"/>
                                        <p:tgtEl>
                                          <p:spTgt spid="46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xEl>
                                              <p:pRg end="10" st="10"/>
                                            </p:txEl>
                                          </p:spTgt>
                                        </p:tgtEl>
                                        <p:attrNameLst>
                                          <p:attrName>style.visibility</p:attrName>
                                        </p:attrNameLst>
                                      </p:cBhvr>
                                      <p:to>
                                        <p:strVal val="visible"/>
                                      </p:to>
                                    </p:set>
                                    <p:animEffect filter="fade" transition="in">
                                      <p:cBhvr>
                                        <p:cTn dur="500"/>
                                        <p:tgtEl>
                                          <p:spTgt spid="467">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5"/>
          <p:cNvSpPr txBox="1"/>
          <p:nvPr>
            <p:ph type="title"/>
          </p:nvPr>
        </p:nvSpPr>
        <p:spPr>
          <a:xfrm>
            <a:off x="1317812" y="12891"/>
            <a:ext cx="9126735"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International Fisher Effect</a:t>
            </a:r>
            <a:endParaRPr/>
          </a:p>
        </p:txBody>
      </p:sp>
      <p:sp>
        <p:nvSpPr>
          <p:cNvPr id="474" name="Google Shape;474;p45"/>
          <p:cNvSpPr txBox="1"/>
          <p:nvPr>
            <p:ph idx="1" type="body"/>
          </p:nvPr>
        </p:nvSpPr>
        <p:spPr>
          <a:xfrm>
            <a:off x="1143000" y="1585560"/>
            <a:ext cx="9525000" cy="47707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Suppose US </a:t>
            </a:r>
            <a:r>
              <a:rPr b="1" i="1" lang="en-US" sz="2800"/>
              <a:t>nominal</a:t>
            </a:r>
            <a:r>
              <a:rPr i="1" lang="en-US" sz="2800"/>
              <a:t> </a:t>
            </a:r>
            <a:r>
              <a:rPr lang="en-US" sz="2800"/>
              <a:t>interest rate is 6% while the </a:t>
            </a:r>
            <a:r>
              <a:rPr b="1" i="1" lang="en-US" sz="2800"/>
              <a:t>nominal</a:t>
            </a:r>
            <a:r>
              <a:rPr lang="en-US" sz="2800"/>
              <a:t> rate in Europe is 4%</a:t>
            </a:r>
            <a:endParaRPr/>
          </a:p>
          <a:p>
            <a:pPr indent="-228600" lvl="0" marL="228600" rtl="0" algn="l">
              <a:lnSpc>
                <a:spcPct val="90000"/>
              </a:lnSpc>
              <a:spcBef>
                <a:spcPts val="1800"/>
              </a:spcBef>
              <a:spcAft>
                <a:spcPts val="0"/>
              </a:spcAft>
              <a:buClr>
                <a:schemeClr val="dk1"/>
              </a:buClr>
              <a:buSzPts val="2800"/>
              <a:buChar char="•"/>
            </a:pPr>
            <a:r>
              <a:rPr i="1" lang="en-US" sz="2800"/>
              <a:t>What would we expect to happen to the exchange rate over time if nominal rates stay the same? …. </a:t>
            </a:r>
            <a:endParaRPr/>
          </a:p>
          <a:p>
            <a:pPr indent="-228600" lvl="0" marL="228600" rtl="0" algn="l">
              <a:lnSpc>
                <a:spcPct val="90000"/>
              </a:lnSpc>
              <a:spcBef>
                <a:spcPts val="1800"/>
              </a:spcBef>
              <a:spcAft>
                <a:spcPts val="0"/>
              </a:spcAft>
              <a:buClr>
                <a:schemeClr val="dk1"/>
              </a:buClr>
              <a:buSzPts val="2800"/>
              <a:buNone/>
            </a:pPr>
            <a:r>
              <a:rPr b="1" i="1" lang="en-US" sz="2800"/>
              <a:t>$</a:t>
            </a:r>
            <a:r>
              <a:rPr i="1" lang="en-US" sz="2400"/>
              <a:t> SHOULD devalue (depreciate) by 2% relative to the </a:t>
            </a:r>
            <a:r>
              <a:rPr b="1" i="1" lang="en-US" sz="2800"/>
              <a:t>€</a:t>
            </a:r>
            <a:endParaRPr/>
          </a:p>
          <a:p>
            <a:pPr indent="-228600" lvl="0" marL="228600" rtl="0" algn="ctr">
              <a:lnSpc>
                <a:spcPct val="90000"/>
              </a:lnSpc>
              <a:spcBef>
                <a:spcPts val="1800"/>
              </a:spcBef>
              <a:spcAft>
                <a:spcPts val="0"/>
              </a:spcAft>
              <a:buClr>
                <a:schemeClr val="dk1"/>
              </a:buClr>
              <a:buSzPts val="2800"/>
              <a:buNone/>
            </a:pPr>
            <a:r>
              <a:rPr b="1" i="1" lang="en-US" sz="2800">
                <a:latin typeface="Arimo"/>
                <a:ea typeface="Arimo"/>
                <a:cs typeface="Arimo"/>
                <a:sym typeface="Arimo"/>
              </a:rPr>
              <a:t>WHY?</a:t>
            </a:r>
            <a:endParaRPr/>
          </a:p>
          <a:p>
            <a:pPr indent="-228600" lvl="0" marL="228600" rtl="0" algn="ctr">
              <a:lnSpc>
                <a:spcPct val="90000"/>
              </a:lnSpc>
              <a:spcBef>
                <a:spcPts val="1800"/>
              </a:spcBef>
              <a:spcAft>
                <a:spcPts val="0"/>
              </a:spcAft>
              <a:buClr>
                <a:schemeClr val="dk1"/>
              </a:buClr>
              <a:buSzPts val="2400"/>
              <a:buNone/>
            </a:pPr>
            <a:r>
              <a:rPr i="1" lang="en-US" sz="2400">
                <a:latin typeface="Arimo"/>
                <a:ea typeface="Arimo"/>
                <a:cs typeface="Arimo"/>
                <a:sym typeface="Arimo"/>
              </a:rPr>
              <a:t>Because  interest rates  express an expectation of inflation</a:t>
            </a:r>
            <a:endParaRPr sz="2400">
              <a:latin typeface="Arimo"/>
              <a:ea typeface="Arimo"/>
              <a:cs typeface="Arimo"/>
              <a:sym typeface="Arimo"/>
            </a:endParaRPr>
          </a:p>
          <a:p>
            <a:pPr indent="-228600" lvl="0" marL="228600" rtl="0" algn="l">
              <a:lnSpc>
                <a:spcPct val="90000"/>
              </a:lnSpc>
              <a:spcBef>
                <a:spcPts val="1800"/>
              </a:spcBef>
              <a:spcAft>
                <a:spcPts val="0"/>
              </a:spcAft>
              <a:buClr>
                <a:schemeClr val="dk1"/>
              </a:buClr>
              <a:buSzPts val="2800"/>
              <a:buNone/>
            </a:pPr>
            <a:r>
              <a:rPr lang="en-US" sz="2800"/>
              <a:t>BUT… </a:t>
            </a:r>
            <a:r>
              <a:rPr i="1" lang="en-US" sz="2800"/>
              <a:t>Short-term vs. Long-term effects  are different</a:t>
            </a:r>
            <a:endParaRPr/>
          </a:p>
        </p:txBody>
      </p:sp>
      <p:sp>
        <p:nvSpPr>
          <p:cNvPr id="475" name="Google Shape;475;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0" st="0"/>
                                            </p:txEl>
                                          </p:spTgt>
                                        </p:tgtEl>
                                        <p:attrNameLst>
                                          <p:attrName>style.visibility</p:attrName>
                                        </p:attrNameLst>
                                      </p:cBhvr>
                                      <p:to>
                                        <p:strVal val="visible"/>
                                      </p:to>
                                    </p:set>
                                    <p:animEffect filter="fade" transition="in">
                                      <p:cBhvr>
                                        <p:cTn dur="500"/>
                                        <p:tgtEl>
                                          <p:spTgt spid="4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1" st="1"/>
                                            </p:txEl>
                                          </p:spTgt>
                                        </p:tgtEl>
                                        <p:attrNameLst>
                                          <p:attrName>style.visibility</p:attrName>
                                        </p:attrNameLst>
                                      </p:cBhvr>
                                      <p:to>
                                        <p:strVal val="visible"/>
                                      </p:to>
                                    </p:set>
                                    <p:animEffect filter="fade" transition="in">
                                      <p:cBhvr>
                                        <p:cTn dur="500"/>
                                        <p:tgtEl>
                                          <p:spTgt spid="4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2" st="2"/>
                                            </p:txEl>
                                          </p:spTgt>
                                        </p:tgtEl>
                                        <p:attrNameLst>
                                          <p:attrName>style.visibility</p:attrName>
                                        </p:attrNameLst>
                                      </p:cBhvr>
                                      <p:to>
                                        <p:strVal val="visible"/>
                                      </p:to>
                                    </p:set>
                                    <p:animEffect filter="fade" transition="in">
                                      <p:cBhvr>
                                        <p:cTn dur="500"/>
                                        <p:tgtEl>
                                          <p:spTgt spid="4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3" st="3"/>
                                            </p:txEl>
                                          </p:spTgt>
                                        </p:tgtEl>
                                        <p:attrNameLst>
                                          <p:attrName>style.visibility</p:attrName>
                                        </p:attrNameLst>
                                      </p:cBhvr>
                                      <p:to>
                                        <p:strVal val="visible"/>
                                      </p:to>
                                    </p:set>
                                    <p:animEffect filter="fade" transition="in">
                                      <p:cBhvr>
                                        <p:cTn dur="500"/>
                                        <p:tgtEl>
                                          <p:spTgt spid="4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4" st="4"/>
                                            </p:txEl>
                                          </p:spTgt>
                                        </p:tgtEl>
                                        <p:attrNameLst>
                                          <p:attrName>style.visibility</p:attrName>
                                        </p:attrNameLst>
                                      </p:cBhvr>
                                      <p:to>
                                        <p:strVal val="visible"/>
                                      </p:to>
                                    </p:set>
                                    <p:animEffect filter="fade" transition="in">
                                      <p:cBhvr>
                                        <p:cTn dur="500"/>
                                        <p:tgtEl>
                                          <p:spTgt spid="4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4">
                                            <p:txEl>
                                              <p:pRg end="5" st="5"/>
                                            </p:txEl>
                                          </p:spTgt>
                                        </p:tgtEl>
                                        <p:attrNameLst>
                                          <p:attrName>style.visibility</p:attrName>
                                        </p:attrNameLst>
                                      </p:cBhvr>
                                      <p:to>
                                        <p:strVal val="visible"/>
                                      </p:to>
                                    </p:set>
                                    <p:animEffect filter="fade" transition="in">
                                      <p:cBhvr>
                                        <p:cTn dur="500"/>
                                        <p:tgtEl>
                                          <p:spTgt spid="47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6"/>
          <p:cNvSpPr txBox="1"/>
          <p:nvPr>
            <p:ph type="title"/>
          </p:nvPr>
        </p:nvSpPr>
        <p:spPr>
          <a:xfrm>
            <a:off x="1207209" y="189215"/>
            <a:ext cx="9214261" cy="914400"/>
          </a:xfrm>
          <a:prstGeom prst="rect">
            <a:avLst/>
          </a:prstGeom>
          <a:noFill/>
          <a:ln>
            <a:noFill/>
          </a:ln>
        </p:spPr>
        <p:txBody>
          <a:bodyPr anchorCtr="0" anchor="ctr" bIns="45700" lIns="91425" spcFirstLastPara="1" rIns="91425" wrap="square" tIns="45700">
            <a:noAutofit/>
          </a:bodyPr>
          <a:lstStyle/>
          <a:p>
            <a:pPr indent="0" lvl="0" marL="0" rtl="0" algn="l">
              <a:lnSpc>
                <a:spcPct val="80000"/>
              </a:lnSpc>
              <a:spcBef>
                <a:spcPts val="0"/>
              </a:spcBef>
              <a:spcAft>
                <a:spcPts val="0"/>
              </a:spcAft>
              <a:buClr>
                <a:schemeClr val="dk1"/>
              </a:buClr>
              <a:buSzPts val="4400"/>
              <a:buFont typeface="Calibri"/>
              <a:buNone/>
            </a:pPr>
            <a:r>
              <a:rPr lang="en-US"/>
              <a:t>What determines exchange rate levels?</a:t>
            </a:r>
            <a:endParaRPr/>
          </a:p>
        </p:txBody>
      </p:sp>
      <p:sp>
        <p:nvSpPr>
          <p:cNvPr id="481" name="Google Shape;481;p46"/>
          <p:cNvSpPr txBox="1"/>
          <p:nvPr>
            <p:ph idx="1" type="body"/>
          </p:nvPr>
        </p:nvSpPr>
        <p:spPr>
          <a:xfrm>
            <a:off x="1680882" y="1431940"/>
            <a:ext cx="8072718" cy="4724400"/>
          </a:xfrm>
          <a:prstGeom prst="rect">
            <a:avLst/>
          </a:prstGeom>
          <a:noFill/>
          <a:ln>
            <a:noFill/>
          </a:ln>
        </p:spPr>
        <p:txBody>
          <a:bodyPr anchorCtr="0" anchor="t" bIns="45700" lIns="91425" spcFirstLastPara="1" rIns="91425" wrap="square" tIns="45700">
            <a:noAutofit/>
          </a:bodyPr>
          <a:lstStyle/>
          <a:p>
            <a:pPr indent="-514350" lvl="0" marL="514350" rtl="0" algn="l">
              <a:lnSpc>
                <a:spcPct val="80000"/>
              </a:lnSpc>
              <a:spcBef>
                <a:spcPts val="0"/>
              </a:spcBef>
              <a:spcAft>
                <a:spcPts val="0"/>
              </a:spcAft>
              <a:buClr>
                <a:schemeClr val="dk1"/>
              </a:buClr>
              <a:buSzPts val="2800"/>
              <a:buFont typeface="Calibri"/>
              <a:buAutoNum type="arabicPeriod" startAt="2"/>
            </a:pPr>
            <a:r>
              <a:rPr lang="en-US" sz="2800"/>
              <a:t>Investor expectations - </a:t>
            </a:r>
            <a:r>
              <a:rPr i="1" lang="en-US" sz="2800"/>
              <a:t>“Bandwagon Effect”</a:t>
            </a:r>
            <a:endParaRPr/>
          </a:p>
          <a:p>
            <a:pPr indent="-228600" lvl="0" marL="228600" rtl="0" algn="ctr">
              <a:lnSpc>
                <a:spcPct val="80000"/>
              </a:lnSpc>
              <a:spcBef>
                <a:spcPts val="1200"/>
              </a:spcBef>
              <a:spcAft>
                <a:spcPts val="0"/>
              </a:spcAft>
              <a:buClr>
                <a:srgbClr val="FF0000"/>
              </a:buClr>
              <a:buSzPts val="2800"/>
              <a:buNone/>
            </a:pPr>
            <a:r>
              <a:rPr i="1" lang="en-US" sz="2800">
                <a:solidFill>
                  <a:srgbClr val="FF0000"/>
                </a:solidFill>
              </a:rPr>
              <a:t>How to predict?</a:t>
            </a:r>
            <a:endParaRPr/>
          </a:p>
          <a:p>
            <a:pPr indent="-228600" lvl="0" marL="685800" rtl="0" algn="l">
              <a:lnSpc>
                <a:spcPct val="80000"/>
              </a:lnSpc>
              <a:spcBef>
                <a:spcPts val="1800"/>
              </a:spcBef>
              <a:spcAft>
                <a:spcPts val="0"/>
              </a:spcAft>
              <a:buClr>
                <a:schemeClr val="dk1"/>
              </a:buClr>
              <a:buSzPts val="2800"/>
              <a:buChar char="•"/>
            </a:pPr>
            <a:r>
              <a:rPr lang="en-US" sz="2800"/>
              <a:t>Efficient markets – don’t predict, read market</a:t>
            </a:r>
            <a:endParaRPr/>
          </a:p>
          <a:p>
            <a:pPr indent="-228600" lvl="0" marL="685800" rtl="0" algn="l">
              <a:lnSpc>
                <a:spcPct val="80000"/>
              </a:lnSpc>
              <a:spcBef>
                <a:spcPts val="1800"/>
              </a:spcBef>
              <a:spcAft>
                <a:spcPts val="0"/>
              </a:spcAft>
              <a:buClr>
                <a:schemeClr val="dk1"/>
              </a:buClr>
              <a:buSzPts val="2800"/>
              <a:buChar char="•"/>
            </a:pPr>
            <a:r>
              <a:rPr lang="en-US" sz="2800"/>
              <a:t>Inefficient markets – better ways to predict</a:t>
            </a:r>
            <a:endParaRPr sz="2800"/>
          </a:p>
          <a:p>
            <a:pPr indent="-228600" lvl="0" marL="685800" rtl="0" algn="l">
              <a:lnSpc>
                <a:spcPct val="80000"/>
              </a:lnSpc>
              <a:spcBef>
                <a:spcPts val="1800"/>
              </a:spcBef>
              <a:spcAft>
                <a:spcPts val="0"/>
              </a:spcAft>
              <a:buClr>
                <a:schemeClr val="dk1"/>
              </a:buClr>
              <a:buSzPts val="2800"/>
              <a:buChar char="•"/>
            </a:pPr>
            <a:r>
              <a:rPr lang="en-US" sz="2800"/>
              <a:t>Forecasting</a:t>
            </a:r>
            <a:endParaRPr/>
          </a:p>
          <a:p>
            <a:pPr indent="-228600" lvl="1" marL="1035050" rtl="0" algn="l">
              <a:lnSpc>
                <a:spcPct val="80000"/>
              </a:lnSpc>
              <a:spcBef>
                <a:spcPts val="500"/>
              </a:spcBef>
              <a:spcAft>
                <a:spcPts val="0"/>
              </a:spcAft>
              <a:buClr>
                <a:schemeClr val="dk1"/>
              </a:buClr>
              <a:buSzPts val="2400"/>
              <a:buChar char="•"/>
            </a:pPr>
            <a:r>
              <a:rPr lang="en-US" sz="2400"/>
              <a:t>Fundamental analysis</a:t>
            </a:r>
            <a:endParaRPr/>
          </a:p>
          <a:p>
            <a:pPr indent="-228600" lvl="1" marL="1035050" rtl="0" algn="l">
              <a:lnSpc>
                <a:spcPct val="80000"/>
              </a:lnSpc>
              <a:spcBef>
                <a:spcPts val="500"/>
              </a:spcBef>
              <a:spcAft>
                <a:spcPts val="0"/>
              </a:spcAft>
              <a:buClr>
                <a:schemeClr val="dk1"/>
              </a:buClr>
              <a:buSzPts val="2400"/>
              <a:buChar char="•"/>
            </a:pPr>
            <a:r>
              <a:rPr lang="en-US" sz="2400"/>
              <a:t>Technical analysis</a:t>
            </a:r>
            <a:endParaRPr/>
          </a:p>
        </p:txBody>
      </p:sp>
      <p:sp>
        <p:nvSpPr>
          <p:cNvPr id="482" name="Google Shape;482;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83" name="Google Shape;483;p46">
            <a:hlinkClick r:id="rId3"/>
          </p:cNvPr>
          <p:cNvSpPr/>
          <p:nvPr/>
        </p:nvSpPr>
        <p:spPr>
          <a:xfrm>
            <a:off x="4406900" y="5702300"/>
            <a:ext cx="241300" cy="254000"/>
          </a:xfrm>
          <a:prstGeom prst="ellipse">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animEffect filter="fade" transition="in">
                                      <p:cBhvr>
                                        <p:cTn dur="500"/>
                                        <p:tgtEl>
                                          <p:spTgt spid="4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1" st="1"/>
                                            </p:txEl>
                                          </p:spTgt>
                                        </p:tgtEl>
                                        <p:attrNameLst>
                                          <p:attrName>style.visibility</p:attrName>
                                        </p:attrNameLst>
                                      </p:cBhvr>
                                      <p:to>
                                        <p:strVal val="visible"/>
                                      </p:to>
                                    </p:set>
                                    <p:animEffect filter="fade" transition="in">
                                      <p:cBhvr>
                                        <p:cTn dur="500"/>
                                        <p:tgtEl>
                                          <p:spTgt spid="4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2" st="2"/>
                                            </p:txEl>
                                          </p:spTgt>
                                        </p:tgtEl>
                                        <p:attrNameLst>
                                          <p:attrName>style.visibility</p:attrName>
                                        </p:attrNameLst>
                                      </p:cBhvr>
                                      <p:to>
                                        <p:strVal val="visible"/>
                                      </p:to>
                                    </p:set>
                                    <p:animEffect filter="fade" transition="in">
                                      <p:cBhvr>
                                        <p:cTn dur="500"/>
                                        <p:tgtEl>
                                          <p:spTgt spid="48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3" st="3"/>
                                            </p:txEl>
                                          </p:spTgt>
                                        </p:tgtEl>
                                        <p:attrNameLst>
                                          <p:attrName>style.visibility</p:attrName>
                                        </p:attrNameLst>
                                      </p:cBhvr>
                                      <p:to>
                                        <p:strVal val="visible"/>
                                      </p:to>
                                    </p:set>
                                    <p:animEffect filter="fade" transition="in">
                                      <p:cBhvr>
                                        <p:cTn dur="500"/>
                                        <p:tgtEl>
                                          <p:spTgt spid="48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4" st="4"/>
                                            </p:txEl>
                                          </p:spTgt>
                                        </p:tgtEl>
                                        <p:attrNameLst>
                                          <p:attrName>style.visibility</p:attrName>
                                        </p:attrNameLst>
                                      </p:cBhvr>
                                      <p:to>
                                        <p:strVal val="visible"/>
                                      </p:to>
                                    </p:set>
                                    <p:animEffect filter="fade" transition="in">
                                      <p:cBhvr>
                                        <p:cTn dur="500"/>
                                        <p:tgtEl>
                                          <p:spTgt spid="48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5" st="5"/>
                                            </p:txEl>
                                          </p:spTgt>
                                        </p:tgtEl>
                                        <p:attrNameLst>
                                          <p:attrName>style.visibility</p:attrName>
                                        </p:attrNameLst>
                                      </p:cBhvr>
                                      <p:to>
                                        <p:strVal val="visible"/>
                                      </p:to>
                                    </p:set>
                                    <p:animEffect filter="fade" transition="in">
                                      <p:cBhvr>
                                        <p:cTn dur="500"/>
                                        <p:tgtEl>
                                          <p:spTgt spid="48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6" st="6"/>
                                            </p:txEl>
                                          </p:spTgt>
                                        </p:tgtEl>
                                        <p:attrNameLst>
                                          <p:attrName>style.visibility</p:attrName>
                                        </p:attrNameLst>
                                      </p:cBhvr>
                                      <p:to>
                                        <p:strVal val="visible"/>
                                      </p:to>
                                    </p:set>
                                    <p:animEffect filter="fade" transition="in">
                                      <p:cBhvr>
                                        <p:cTn dur="500"/>
                                        <p:tgtEl>
                                          <p:spTgt spid="48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7"/>
          <p:cNvSpPr txBox="1"/>
          <p:nvPr>
            <p:ph type="title"/>
          </p:nvPr>
        </p:nvSpPr>
        <p:spPr>
          <a:xfrm>
            <a:off x="1385047" y="9071"/>
            <a:ext cx="9165933"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Speculation and Arbitrage</a:t>
            </a:r>
            <a:endParaRPr/>
          </a:p>
        </p:txBody>
      </p:sp>
      <p:sp>
        <p:nvSpPr>
          <p:cNvPr id="489" name="Google Shape;489;p47"/>
          <p:cNvSpPr txBox="1"/>
          <p:nvPr>
            <p:ph idx="1" type="body"/>
          </p:nvPr>
        </p:nvSpPr>
        <p:spPr>
          <a:xfrm>
            <a:off x="1250576" y="1676400"/>
            <a:ext cx="9843247" cy="4648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Speculation:  betting on currency rate movements.  Speculators buy currencies and hold or buy or sell futures and options (</a:t>
            </a:r>
            <a:r>
              <a:rPr b="1" i="1" lang="en-US" sz="2800"/>
              <a:t>buying and selling short</a:t>
            </a:r>
            <a:r>
              <a:rPr lang="en-US" sz="2800"/>
              <a:t>)</a:t>
            </a:r>
            <a:endParaRPr/>
          </a:p>
          <a:p>
            <a:pPr indent="-228600" lvl="0" marL="228600" rtl="0" algn="l">
              <a:lnSpc>
                <a:spcPct val="90000"/>
              </a:lnSpc>
              <a:spcBef>
                <a:spcPts val="2400"/>
              </a:spcBef>
              <a:spcAft>
                <a:spcPts val="0"/>
              </a:spcAft>
              <a:buClr>
                <a:schemeClr val="dk1"/>
              </a:buClr>
              <a:buSzPts val="2800"/>
              <a:buChar char="•"/>
            </a:pPr>
            <a:r>
              <a:rPr lang="en-US" sz="2800"/>
              <a:t>Arbitrage:  exploiting differences in markets</a:t>
            </a:r>
            <a:endParaRPr/>
          </a:p>
          <a:p>
            <a:pPr indent="-228600" lvl="1" marL="685800" rtl="0" algn="l">
              <a:lnSpc>
                <a:spcPct val="90000"/>
              </a:lnSpc>
              <a:spcBef>
                <a:spcPts val="2400"/>
              </a:spcBef>
              <a:spcAft>
                <a:spcPts val="0"/>
              </a:spcAft>
              <a:buClr>
                <a:schemeClr val="dk1"/>
              </a:buClr>
              <a:buSzPts val="2400"/>
              <a:buChar char="•"/>
            </a:pPr>
            <a:r>
              <a:rPr lang="en-US" sz="2400"/>
              <a:t>Exchange arbitrage:  exploiting differences between </a:t>
            </a:r>
            <a:r>
              <a:rPr b="1" i="1" lang="en-US" sz="2400"/>
              <a:t>exchange rates</a:t>
            </a:r>
            <a:r>
              <a:rPr b="1" lang="en-US" sz="2400"/>
              <a:t> </a:t>
            </a:r>
            <a:r>
              <a:rPr lang="en-US" sz="2400"/>
              <a:t>in different locations</a:t>
            </a:r>
            <a:endParaRPr/>
          </a:p>
          <a:p>
            <a:pPr indent="-228600" lvl="1" marL="685800" rtl="0" algn="l">
              <a:lnSpc>
                <a:spcPct val="90000"/>
              </a:lnSpc>
              <a:spcBef>
                <a:spcPts val="2400"/>
              </a:spcBef>
              <a:spcAft>
                <a:spcPts val="0"/>
              </a:spcAft>
              <a:buClr>
                <a:schemeClr val="dk1"/>
              </a:buClr>
              <a:buSzPts val="2400"/>
              <a:buChar char="•"/>
            </a:pPr>
            <a:r>
              <a:rPr lang="en-US" sz="2400"/>
              <a:t>Interest rate arbitrage:  exploiting difference between</a:t>
            </a:r>
            <a:r>
              <a:rPr b="1" lang="en-US" sz="2400"/>
              <a:t> </a:t>
            </a:r>
            <a:r>
              <a:rPr b="1" i="1" lang="en-US" sz="2400"/>
              <a:t>interest rates</a:t>
            </a:r>
            <a:r>
              <a:rPr lang="en-US" sz="2400"/>
              <a:t> in different locations based on spot rate and forward rate differences</a:t>
            </a:r>
            <a:endParaRPr/>
          </a:p>
        </p:txBody>
      </p:sp>
      <p:sp>
        <p:nvSpPr>
          <p:cNvPr id="490" name="Google Shape;49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0" st="0"/>
                                            </p:txEl>
                                          </p:spTgt>
                                        </p:tgtEl>
                                        <p:attrNameLst>
                                          <p:attrName>style.visibility</p:attrName>
                                        </p:attrNameLst>
                                      </p:cBhvr>
                                      <p:to>
                                        <p:strVal val="visible"/>
                                      </p:to>
                                    </p:set>
                                    <p:animEffect filter="fade" transition="in">
                                      <p:cBhvr>
                                        <p:cTn dur="500"/>
                                        <p:tgtEl>
                                          <p:spTgt spid="4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 st="1"/>
                                            </p:txEl>
                                          </p:spTgt>
                                        </p:tgtEl>
                                        <p:attrNameLst>
                                          <p:attrName>style.visibility</p:attrName>
                                        </p:attrNameLst>
                                      </p:cBhvr>
                                      <p:to>
                                        <p:strVal val="visible"/>
                                      </p:to>
                                    </p:set>
                                    <p:animEffect filter="fade" transition="in">
                                      <p:cBhvr>
                                        <p:cTn dur="500"/>
                                        <p:tgtEl>
                                          <p:spTgt spid="4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2" st="2"/>
                                            </p:txEl>
                                          </p:spTgt>
                                        </p:tgtEl>
                                        <p:attrNameLst>
                                          <p:attrName>style.visibility</p:attrName>
                                        </p:attrNameLst>
                                      </p:cBhvr>
                                      <p:to>
                                        <p:strVal val="visible"/>
                                      </p:to>
                                    </p:set>
                                    <p:animEffect filter="fade" transition="in">
                                      <p:cBhvr>
                                        <p:cTn dur="500"/>
                                        <p:tgtEl>
                                          <p:spTgt spid="4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3" st="3"/>
                                            </p:txEl>
                                          </p:spTgt>
                                        </p:tgtEl>
                                        <p:attrNameLst>
                                          <p:attrName>style.visibility</p:attrName>
                                        </p:attrNameLst>
                                      </p:cBhvr>
                                      <p:to>
                                        <p:strVal val="visible"/>
                                      </p:to>
                                    </p:set>
                                    <p:animEffect filter="fade" transition="in">
                                      <p:cBhvr>
                                        <p:cTn dur="500"/>
                                        <p:tgtEl>
                                          <p:spTgt spid="48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8"/>
          <p:cNvSpPr txBox="1"/>
          <p:nvPr>
            <p:ph type="title"/>
          </p:nvPr>
        </p:nvSpPr>
        <p:spPr>
          <a:xfrm>
            <a:off x="1304365" y="0"/>
            <a:ext cx="9338015"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Speculation Example</a:t>
            </a:r>
            <a:endParaRPr/>
          </a:p>
        </p:txBody>
      </p:sp>
      <p:sp>
        <p:nvSpPr>
          <p:cNvPr id="496" name="Google Shape;496;p48"/>
          <p:cNvSpPr txBox="1"/>
          <p:nvPr>
            <p:ph idx="1" type="body"/>
          </p:nvPr>
        </p:nvSpPr>
        <p:spPr>
          <a:xfrm>
            <a:off x="1905000" y="1600200"/>
            <a:ext cx="8458200" cy="5029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None/>
            </a:pPr>
            <a:r>
              <a:rPr lang="en-US"/>
              <a:t>Spot rate: $1 = 0.82 €</a:t>
            </a:r>
            <a:endParaRPr/>
          </a:p>
          <a:p>
            <a:pPr indent="-228600" lvl="0" marL="228600" rtl="0" algn="l">
              <a:lnSpc>
                <a:spcPct val="90000"/>
              </a:lnSpc>
              <a:spcBef>
                <a:spcPts val="1800"/>
              </a:spcBef>
              <a:spcAft>
                <a:spcPts val="0"/>
              </a:spcAft>
              <a:buClr>
                <a:schemeClr val="dk1"/>
              </a:buClr>
              <a:buSzPts val="3200"/>
              <a:buNone/>
            </a:pPr>
            <a:r>
              <a:rPr lang="en-US"/>
              <a:t>90 day forward rate: $1 = 0.80 €</a:t>
            </a:r>
            <a:endParaRPr/>
          </a:p>
          <a:p>
            <a:pPr indent="-228600" lvl="0" marL="228600" rtl="0" algn="l">
              <a:lnSpc>
                <a:spcPct val="90000"/>
              </a:lnSpc>
              <a:spcBef>
                <a:spcPts val="1800"/>
              </a:spcBef>
              <a:spcAft>
                <a:spcPts val="0"/>
              </a:spcAft>
              <a:buClr>
                <a:schemeClr val="dk1"/>
              </a:buClr>
              <a:buSzPts val="2800"/>
              <a:buChar char="•"/>
            </a:pPr>
            <a:r>
              <a:rPr lang="en-US" sz="2800"/>
              <a:t>Suppose you think this is WRONG… you think that the dollar will not decline as much as forward rate predicts (</a:t>
            </a:r>
            <a:r>
              <a:rPr i="1" lang="en-US" sz="2000">
                <a:solidFill>
                  <a:srgbClr val="0000FF"/>
                </a:solidFill>
              </a:rPr>
              <a:t>i.e., $1 = .81 €</a:t>
            </a:r>
            <a:r>
              <a:rPr lang="en-US" sz="2800"/>
              <a:t>) …</a:t>
            </a:r>
            <a:endParaRPr/>
          </a:p>
          <a:p>
            <a:pPr indent="-228600" lvl="0" marL="228600" rtl="0" algn="l">
              <a:lnSpc>
                <a:spcPct val="90000"/>
              </a:lnSpc>
              <a:spcBef>
                <a:spcPts val="1800"/>
              </a:spcBef>
              <a:spcAft>
                <a:spcPts val="0"/>
              </a:spcAft>
              <a:buClr>
                <a:schemeClr val="dk1"/>
              </a:buClr>
              <a:buSzPts val="2800"/>
              <a:buNone/>
            </a:pPr>
            <a:r>
              <a:rPr lang="en-US" sz="2800"/>
              <a:t>	or even that the dollar will appreciate      (</a:t>
            </a:r>
            <a:r>
              <a:rPr i="1" lang="en-US" sz="2000">
                <a:solidFill>
                  <a:srgbClr val="0000FF"/>
                </a:solidFill>
              </a:rPr>
              <a:t>i.e., $1 = .83 €</a:t>
            </a:r>
            <a:r>
              <a:rPr lang="en-US" sz="2800"/>
              <a:t>)</a:t>
            </a:r>
            <a:endParaRPr/>
          </a:p>
          <a:p>
            <a:pPr indent="-50800" lvl="0" marL="228600" rtl="0" algn="l">
              <a:lnSpc>
                <a:spcPct val="90000"/>
              </a:lnSpc>
              <a:spcBef>
                <a:spcPts val="1800"/>
              </a:spcBef>
              <a:spcAft>
                <a:spcPts val="0"/>
              </a:spcAft>
              <a:buClr>
                <a:schemeClr val="dk1"/>
              </a:buClr>
              <a:buSzPts val="2800"/>
              <a:buNone/>
            </a:pPr>
            <a:r>
              <a:t/>
            </a:r>
            <a:endParaRPr sz="2800"/>
          </a:p>
          <a:p>
            <a:pPr indent="-228600" lvl="0" marL="228600" rtl="0" algn="ctr">
              <a:lnSpc>
                <a:spcPct val="90000"/>
              </a:lnSpc>
              <a:spcBef>
                <a:spcPts val="1800"/>
              </a:spcBef>
              <a:spcAft>
                <a:spcPts val="0"/>
              </a:spcAft>
              <a:buClr>
                <a:srgbClr val="0000FF"/>
              </a:buClr>
              <a:buSzPts val="4000"/>
              <a:buNone/>
            </a:pPr>
            <a:r>
              <a:rPr i="1" lang="en-US" sz="4000">
                <a:solidFill>
                  <a:srgbClr val="0000FF"/>
                </a:solidFill>
              </a:rPr>
              <a:t>How can you capitalize on this? </a:t>
            </a:r>
            <a:endParaRPr/>
          </a:p>
        </p:txBody>
      </p:sp>
      <p:sp>
        <p:nvSpPr>
          <p:cNvPr id="497" name="Google Shape;49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0" st="0"/>
                                            </p:txEl>
                                          </p:spTgt>
                                        </p:tgtEl>
                                        <p:attrNameLst>
                                          <p:attrName>style.visibility</p:attrName>
                                        </p:attrNameLst>
                                      </p:cBhvr>
                                      <p:to>
                                        <p:strVal val="visible"/>
                                      </p:to>
                                    </p:set>
                                    <p:animEffect filter="fade" transition="in">
                                      <p:cBhvr>
                                        <p:cTn dur="500"/>
                                        <p:tgtEl>
                                          <p:spTgt spid="4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1" st="1"/>
                                            </p:txEl>
                                          </p:spTgt>
                                        </p:tgtEl>
                                        <p:attrNameLst>
                                          <p:attrName>style.visibility</p:attrName>
                                        </p:attrNameLst>
                                      </p:cBhvr>
                                      <p:to>
                                        <p:strVal val="visible"/>
                                      </p:to>
                                    </p:set>
                                    <p:animEffect filter="fade" transition="in">
                                      <p:cBhvr>
                                        <p:cTn dur="500"/>
                                        <p:tgtEl>
                                          <p:spTgt spid="4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2" st="2"/>
                                            </p:txEl>
                                          </p:spTgt>
                                        </p:tgtEl>
                                        <p:attrNameLst>
                                          <p:attrName>style.visibility</p:attrName>
                                        </p:attrNameLst>
                                      </p:cBhvr>
                                      <p:to>
                                        <p:strVal val="visible"/>
                                      </p:to>
                                    </p:set>
                                    <p:animEffect filter="fade" transition="in">
                                      <p:cBhvr>
                                        <p:cTn dur="500"/>
                                        <p:tgtEl>
                                          <p:spTgt spid="4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3" st="3"/>
                                            </p:txEl>
                                          </p:spTgt>
                                        </p:tgtEl>
                                        <p:attrNameLst>
                                          <p:attrName>style.visibility</p:attrName>
                                        </p:attrNameLst>
                                      </p:cBhvr>
                                      <p:to>
                                        <p:strVal val="visible"/>
                                      </p:to>
                                    </p:set>
                                    <p:animEffect filter="fade" transition="in">
                                      <p:cBhvr>
                                        <p:cTn dur="500"/>
                                        <p:tgtEl>
                                          <p:spTgt spid="4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4" st="4"/>
                                            </p:txEl>
                                          </p:spTgt>
                                        </p:tgtEl>
                                        <p:attrNameLst>
                                          <p:attrName>style.visibility</p:attrName>
                                        </p:attrNameLst>
                                      </p:cBhvr>
                                      <p:to>
                                        <p:strVal val="visible"/>
                                      </p:to>
                                    </p:set>
                                    <p:animEffect filter="fade" transition="in">
                                      <p:cBhvr>
                                        <p:cTn dur="500"/>
                                        <p:tgtEl>
                                          <p:spTgt spid="4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6">
                                            <p:txEl>
                                              <p:pRg end="5" st="5"/>
                                            </p:txEl>
                                          </p:spTgt>
                                        </p:tgtEl>
                                        <p:attrNameLst>
                                          <p:attrName>style.visibility</p:attrName>
                                        </p:attrNameLst>
                                      </p:cBhvr>
                                      <p:to>
                                        <p:strVal val="visible"/>
                                      </p:to>
                                    </p:set>
                                    <p:animEffect filter="fade" transition="in">
                                      <p:cBhvr>
                                        <p:cTn dur="500"/>
                                        <p:tgtEl>
                                          <p:spTgt spid="49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9"/>
          <p:cNvSpPr txBox="1"/>
          <p:nvPr>
            <p:ph type="title"/>
          </p:nvPr>
        </p:nvSpPr>
        <p:spPr>
          <a:xfrm>
            <a:off x="1371600" y="49360"/>
            <a:ext cx="9140975"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to do? - Speculation</a:t>
            </a:r>
            <a:endParaRPr/>
          </a:p>
        </p:txBody>
      </p:sp>
      <p:sp>
        <p:nvSpPr>
          <p:cNvPr id="503" name="Google Shape;503;p49"/>
          <p:cNvSpPr txBox="1"/>
          <p:nvPr>
            <p:ph idx="1" type="body"/>
          </p:nvPr>
        </p:nvSpPr>
        <p:spPr>
          <a:xfrm>
            <a:off x="1371600" y="1524000"/>
            <a:ext cx="10439400" cy="49530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sz="2400"/>
              <a:t>Plan to buy euros at spot rate in 90 days and sell them at forward rate (same date)</a:t>
            </a:r>
            <a:endParaRPr/>
          </a:p>
          <a:p>
            <a:pPr indent="-228600" lvl="0" marL="228600" rtl="0" algn="l">
              <a:lnSpc>
                <a:spcPct val="90000"/>
              </a:lnSpc>
              <a:spcBef>
                <a:spcPts val="2400"/>
              </a:spcBef>
              <a:spcAft>
                <a:spcPts val="0"/>
              </a:spcAft>
              <a:buClr>
                <a:schemeClr val="dk1"/>
              </a:buClr>
              <a:buSzPct val="100000"/>
              <a:buChar char="•"/>
            </a:pPr>
            <a:r>
              <a:rPr lang="en-US" sz="2400"/>
              <a:t>Make a forward contract to SELL 800,000 € at 0.80 €/$ (guaranteed to sell for $100,000,000)</a:t>
            </a:r>
            <a:endParaRPr sz="2400"/>
          </a:p>
          <a:p>
            <a:pPr indent="-228600" lvl="0" marL="228600" rtl="0" algn="l">
              <a:lnSpc>
                <a:spcPct val="90000"/>
              </a:lnSpc>
              <a:spcBef>
                <a:spcPts val="2400"/>
              </a:spcBef>
              <a:spcAft>
                <a:spcPts val="0"/>
              </a:spcAft>
              <a:buClr>
                <a:srgbClr val="FF0000"/>
              </a:buClr>
              <a:buSzPct val="100000"/>
              <a:buNone/>
            </a:pPr>
            <a:r>
              <a:rPr i="1" lang="en-US" sz="2800">
                <a:solidFill>
                  <a:srgbClr val="FF0000"/>
                </a:solidFill>
              </a:rPr>
              <a:t>     IF</a:t>
            </a:r>
            <a:r>
              <a:rPr lang="en-US" sz="2800"/>
              <a:t> </a:t>
            </a:r>
            <a:r>
              <a:rPr lang="en-US" sz="2400"/>
              <a:t> you are right you can make a profit:</a:t>
            </a:r>
            <a:endParaRPr/>
          </a:p>
          <a:p>
            <a:pPr indent="-228600" lvl="0" marL="228600" rtl="0" algn="l">
              <a:lnSpc>
                <a:spcPct val="90000"/>
              </a:lnSpc>
              <a:spcBef>
                <a:spcPts val="2400"/>
              </a:spcBef>
              <a:spcAft>
                <a:spcPts val="0"/>
              </a:spcAft>
              <a:buClr>
                <a:schemeClr val="dk1"/>
              </a:buClr>
              <a:buSzPct val="100000"/>
              <a:buChar char="•"/>
            </a:pPr>
            <a:r>
              <a:rPr lang="en-US" sz="2400"/>
              <a:t>Example 1:  If spot rate 90 days in future is $1 = 0.81 €, it will cost $987,654 to buy 800,000 €, but after selling Euros with your forward contract for $1,000,000… EARNINGS $12,346</a:t>
            </a:r>
            <a:endParaRPr/>
          </a:p>
          <a:p>
            <a:pPr indent="-228600" lvl="0" marL="228600" rtl="0" algn="l">
              <a:lnSpc>
                <a:spcPct val="90000"/>
              </a:lnSpc>
              <a:spcBef>
                <a:spcPts val="2400"/>
              </a:spcBef>
              <a:spcAft>
                <a:spcPts val="0"/>
              </a:spcAft>
              <a:buClr>
                <a:schemeClr val="dk1"/>
              </a:buClr>
              <a:buSzPct val="100000"/>
              <a:buChar char="•"/>
            </a:pPr>
            <a:r>
              <a:rPr lang="en-US" sz="2400"/>
              <a:t>Example 2:  If spot rate 90 days in future is $1 = 0.83 €, it will cost $963,855 to buy 800,000 €, but after selling Euros with your forward contract for $1,000,000… EARNINGS $36,145</a:t>
            </a:r>
            <a:endParaRPr/>
          </a:p>
          <a:p>
            <a:pPr indent="-228600" lvl="0" marL="228600" rtl="0" algn="l">
              <a:lnSpc>
                <a:spcPct val="90000"/>
              </a:lnSpc>
              <a:spcBef>
                <a:spcPts val="2400"/>
              </a:spcBef>
              <a:spcAft>
                <a:spcPts val="0"/>
              </a:spcAft>
              <a:buClr>
                <a:srgbClr val="FF0000"/>
              </a:buClr>
              <a:buSzPct val="100000"/>
              <a:buNone/>
            </a:pPr>
            <a:r>
              <a:rPr i="1" lang="en-US" sz="2400">
                <a:solidFill>
                  <a:srgbClr val="FF0000"/>
                </a:solidFill>
              </a:rPr>
              <a:t>   BUT… IF you are wrong, you will have to buy MORE expensive Euros to settle forward contract</a:t>
            </a:r>
            <a:endParaRPr/>
          </a:p>
        </p:txBody>
      </p:sp>
      <p:sp>
        <p:nvSpPr>
          <p:cNvPr id="504" name="Google Shape;504;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0" st="0"/>
                                            </p:txEl>
                                          </p:spTgt>
                                        </p:tgtEl>
                                        <p:attrNameLst>
                                          <p:attrName>style.visibility</p:attrName>
                                        </p:attrNameLst>
                                      </p:cBhvr>
                                      <p:to>
                                        <p:strVal val="visible"/>
                                      </p:to>
                                    </p:set>
                                    <p:animEffect filter="fade" transition="in">
                                      <p:cBhvr>
                                        <p:cTn dur="500"/>
                                        <p:tgtEl>
                                          <p:spTgt spid="5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1" st="1"/>
                                            </p:txEl>
                                          </p:spTgt>
                                        </p:tgtEl>
                                        <p:attrNameLst>
                                          <p:attrName>style.visibility</p:attrName>
                                        </p:attrNameLst>
                                      </p:cBhvr>
                                      <p:to>
                                        <p:strVal val="visible"/>
                                      </p:to>
                                    </p:set>
                                    <p:animEffect filter="fade" transition="in">
                                      <p:cBhvr>
                                        <p:cTn dur="500"/>
                                        <p:tgtEl>
                                          <p:spTgt spid="5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2" st="2"/>
                                            </p:txEl>
                                          </p:spTgt>
                                        </p:tgtEl>
                                        <p:attrNameLst>
                                          <p:attrName>style.visibility</p:attrName>
                                        </p:attrNameLst>
                                      </p:cBhvr>
                                      <p:to>
                                        <p:strVal val="visible"/>
                                      </p:to>
                                    </p:set>
                                    <p:animEffect filter="fade" transition="in">
                                      <p:cBhvr>
                                        <p:cTn dur="500"/>
                                        <p:tgtEl>
                                          <p:spTgt spid="5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3" st="3"/>
                                            </p:txEl>
                                          </p:spTgt>
                                        </p:tgtEl>
                                        <p:attrNameLst>
                                          <p:attrName>style.visibility</p:attrName>
                                        </p:attrNameLst>
                                      </p:cBhvr>
                                      <p:to>
                                        <p:strVal val="visible"/>
                                      </p:to>
                                    </p:set>
                                    <p:animEffect filter="fade" transition="in">
                                      <p:cBhvr>
                                        <p:cTn dur="500"/>
                                        <p:tgtEl>
                                          <p:spTgt spid="5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4" st="4"/>
                                            </p:txEl>
                                          </p:spTgt>
                                        </p:tgtEl>
                                        <p:attrNameLst>
                                          <p:attrName>style.visibility</p:attrName>
                                        </p:attrNameLst>
                                      </p:cBhvr>
                                      <p:to>
                                        <p:strVal val="visible"/>
                                      </p:to>
                                    </p:set>
                                    <p:animEffect filter="fade" transition="in">
                                      <p:cBhvr>
                                        <p:cTn dur="500"/>
                                        <p:tgtEl>
                                          <p:spTgt spid="5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3">
                                            <p:txEl>
                                              <p:pRg end="5" st="5"/>
                                            </p:txEl>
                                          </p:spTgt>
                                        </p:tgtEl>
                                        <p:attrNameLst>
                                          <p:attrName>style.visibility</p:attrName>
                                        </p:attrNameLst>
                                      </p:cBhvr>
                                      <p:to>
                                        <p:strVal val="visible"/>
                                      </p:to>
                                    </p:set>
                                    <p:animEffect filter="fade" transition="in">
                                      <p:cBhvr>
                                        <p:cTn dur="500"/>
                                        <p:tgtEl>
                                          <p:spTgt spid="50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0"/>
          <p:cNvSpPr txBox="1"/>
          <p:nvPr>
            <p:ph type="title"/>
          </p:nvPr>
        </p:nvSpPr>
        <p:spPr>
          <a:xfrm>
            <a:off x="1183341" y="260534"/>
            <a:ext cx="9291918"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Exchange Arbitrage</a:t>
            </a:r>
            <a:endParaRPr/>
          </a:p>
        </p:txBody>
      </p:sp>
      <p:sp>
        <p:nvSpPr>
          <p:cNvPr id="510" name="Google Shape;510;p50"/>
          <p:cNvSpPr txBox="1"/>
          <p:nvPr>
            <p:ph idx="1" type="body"/>
          </p:nvPr>
        </p:nvSpPr>
        <p:spPr>
          <a:xfrm>
            <a:off x="1734671" y="1981200"/>
            <a:ext cx="8628529" cy="4114800"/>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600"/>
              <a:buChar char="•"/>
            </a:pPr>
            <a:r>
              <a:rPr lang="en-US" sz="3600"/>
              <a:t> </a:t>
            </a:r>
            <a:r>
              <a:rPr lang="en-US"/>
              <a:t>Buy currency in one mkt to immediately sell in other market(s)</a:t>
            </a:r>
            <a:endParaRPr/>
          </a:p>
          <a:p>
            <a:pPr indent="-228600" lvl="0" marL="228600" rtl="0" algn="l">
              <a:lnSpc>
                <a:spcPct val="90000"/>
              </a:lnSpc>
              <a:spcBef>
                <a:spcPts val="3600"/>
              </a:spcBef>
              <a:spcAft>
                <a:spcPts val="0"/>
              </a:spcAft>
              <a:buClr>
                <a:schemeClr val="dk1"/>
              </a:buClr>
              <a:buSzPts val="3200"/>
              <a:buChar char="•"/>
            </a:pPr>
            <a:r>
              <a:rPr lang="en-US"/>
              <a:t> </a:t>
            </a:r>
            <a:r>
              <a:rPr lang="en-US" u="sng"/>
              <a:t>Purpose</a:t>
            </a:r>
            <a:r>
              <a:rPr lang="en-US"/>
              <a:t>:  riskless profit from currency price (rate) differences in different markets</a:t>
            </a:r>
            <a:endParaRPr/>
          </a:p>
          <a:p>
            <a:pPr indent="-228600" lvl="0" marL="228600" rtl="0" algn="l">
              <a:lnSpc>
                <a:spcPct val="90000"/>
              </a:lnSpc>
              <a:spcBef>
                <a:spcPts val="3600"/>
              </a:spcBef>
              <a:spcAft>
                <a:spcPts val="0"/>
              </a:spcAft>
              <a:buClr>
                <a:schemeClr val="dk1"/>
              </a:buClr>
              <a:buSzPts val="3200"/>
              <a:buChar char="•"/>
            </a:pPr>
            <a:r>
              <a:rPr lang="en-US"/>
              <a:t> </a:t>
            </a:r>
            <a:r>
              <a:rPr lang="en-US" u="sng"/>
              <a:t>Effect</a:t>
            </a:r>
            <a:r>
              <a:rPr lang="en-US"/>
              <a:t>:  </a:t>
            </a:r>
            <a:r>
              <a:rPr i="1" lang="en-US"/>
              <a:t>Equalizes currency prices worldwide</a:t>
            </a:r>
            <a:endParaRPr/>
          </a:p>
        </p:txBody>
      </p:sp>
      <p:sp>
        <p:nvSpPr>
          <p:cNvPr id="511" name="Google Shape;511;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animEffect filter="fade" transition="in">
                                      <p:cBhvr>
                                        <p:cTn dur="500"/>
                                        <p:tgtEl>
                                          <p:spTgt spid="51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animEffect filter="fade" transition="in">
                                      <p:cBhvr>
                                        <p:cTn dur="500"/>
                                        <p:tgtEl>
                                          <p:spTgt spid="51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xEl>
                                              <p:pRg end="2" st="2"/>
                                            </p:txEl>
                                          </p:spTgt>
                                        </p:tgtEl>
                                        <p:attrNameLst>
                                          <p:attrName>style.visibility</p:attrName>
                                        </p:attrNameLst>
                                      </p:cBhvr>
                                      <p:to>
                                        <p:strVal val="visible"/>
                                      </p:to>
                                    </p:set>
                                    <p:animEffect filter="fade" transition="in">
                                      <p:cBhvr>
                                        <p:cTn dur="500"/>
                                        <p:tgtEl>
                                          <p:spTgt spid="51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1"/>
          <p:cNvSpPr txBox="1"/>
          <p:nvPr>
            <p:ph type="title"/>
          </p:nvPr>
        </p:nvSpPr>
        <p:spPr>
          <a:xfrm>
            <a:off x="1304365" y="239741"/>
            <a:ext cx="9338015" cy="762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2-Point Ex. Arbitrage</a:t>
            </a:r>
            <a:endParaRPr/>
          </a:p>
        </p:txBody>
      </p:sp>
      <p:sp>
        <p:nvSpPr>
          <p:cNvPr id="517" name="Google Shape;517;p51"/>
          <p:cNvSpPr txBox="1"/>
          <p:nvPr>
            <p:ph idx="1" type="body"/>
          </p:nvPr>
        </p:nvSpPr>
        <p:spPr>
          <a:xfrm>
            <a:off x="2209800" y="1623966"/>
            <a:ext cx="7772400" cy="4700635"/>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2800"/>
              <a:buNone/>
            </a:pPr>
            <a:r>
              <a:rPr lang="en-US" sz="2800"/>
              <a:t>Currency prices different in two markets;  e.g.,</a:t>
            </a:r>
            <a:endParaRPr/>
          </a:p>
          <a:p>
            <a:pPr indent="-228600" lvl="1" marL="685800" rtl="0" algn="l">
              <a:lnSpc>
                <a:spcPct val="90000"/>
              </a:lnSpc>
              <a:spcBef>
                <a:spcPts val="3000"/>
              </a:spcBef>
              <a:spcAft>
                <a:spcPts val="0"/>
              </a:spcAft>
              <a:buClr>
                <a:schemeClr val="dk1"/>
              </a:buClr>
              <a:buSzPts val="2400"/>
              <a:buChar char="•"/>
            </a:pPr>
            <a:r>
              <a:rPr lang="en-US" sz="2400"/>
              <a:t>New York:  $ = €0.89</a:t>
            </a:r>
            <a:endParaRPr/>
          </a:p>
          <a:p>
            <a:pPr indent="-228600" lvl="1" marL="685800" rtl="0" algn="l">
              <a:lnSpc>
                <a:spcPct val="90000"/>
              </a:lnSpc>
              <a:spcBef>
                <a:spcPts val="0"/>
              </a:spcBef>
              <a:spcAft>
                <a:spcPts val="0"/>
              </a:spcAft>
              <a:buClr>
                <a:schemeClr val="dk1"/>
              </a:buClr>
              <a:buSzPts val="2400"/>
              <a:buChar char="•"/>
            </a:pPr>
            <a:r>
              <a:rPr lang="en-US" sz="2400"/>
              <a:t>Frankfurt:  $ = €0.90</a:t>
            </a:r>
            <a:endParaRPr/>
          </a:p>
          <a:p>
            <a:pPr indent="-228600" lvl="0" marL="228600" rtl="0" algn="l">
              <a:lnSpc>
                <a:spcPct val="90000"/>
              </a:lnSpc>
              <a:spcBef>
                <a:spcPts val="3000"/>
              </a:spcBef>
              <a:spcAft>
                <a:spcPts val="0"/>
              </a:spcAft>
              <a:buClr>
                <a:schemeClr val="dk1"/>
              </a:buClr>
              <a:buSzPts val="2800"/>
              <a:buChar char="•"/>
            </a:pPr>
            <a:r>
              <a:rPr lang="en-US" sz="2800"/>
              <a:t> $ “cheap” in NY in €</a:t>
            </a:r>
            <a:r>
              <a:rPr lang="en-US" sz="1800"/>
              <a:t> </a:t>
            </a:r>
            <a:r>
              <a:rPr i="1" lang="en-US" sz="1800"/>
              <a:t>(relative to Frankfurt)</a:t>
            </a:r>
            <a:endParaRPr/>
          </a:p>
          <a:p>
            <a:pPr indent="-228600" lvl="0" marL="228600" rtl="0" algn="l">
              <a:lnSpc>
                <a:spcPct val="90000"/>
              </a:lnSpc>
              <a:spcBef>
                <a:spcPts val="3000"/>
              </a:spcBef>
              <a:spcAft>
                <a:spcPts val="0"/>
              </a:spcAft>
              <a:buClr>
                <a:schemeClr val="dk1"/>
              </a:buClr>
              <a:buSzPts val="2800"/>
              <a:buChar char="•"/>
            </a:pPr>
            <a:r>
              <a:rPr lang="en-US" sz="2800"/>
              <a:t> € “cheap” in Frankfurt  in $ </a:t>
            </a:r>
            <a:r>
              <a:rPr i="1" lang="en-US" sz="1800"/>
              <a:t>(relative to NY)</a:t>
            </a:r>
            <a:endParaRPr/>
          </a:p>
          <a:p>
            <a:pPr indent="-228600" lvl="0" marL="228600" rtl="0" algn="l">
              <a:lnSpc>
                <a:spcPct val="90000"/>
              </a:lnSpc>
              <a:spcBef>
                <a:spcPts val="3000"/>
              </a:spcBef>
              <a:spcAft>
                <a:spcPts val="0"/>
              </a:spcAft>
              <a:buClr>
                <a:schemeClr val="dk1"/>
              </a:buClr>
              <a:buSzPts val="2800"/>
              <a:buChar char="•"/>
            </a:pPr>
            <a:r>
              <a:rPr lang="en-US" sz="2800"/>
              <a:t> How to make risk-free profit?</a:t>
            </a:r>
            <a:endParaRPr/>
          </a:p>
          <a:p>
            <a:pPr indent="-228600" lvl="0" marL="228600" rtl="0" algn="ctr">
              <a:lnSpc>
                <a:spcPct val="90000"/>
              </a:lnSpc>
              <a:spcBef>
                <a:spcPts val="3000"/>
              </a:spcBef>
              <a:spcAft>
                <a:spcPts val="0"/>
              </a:spcAft>
              <a:buClr>
                <a:schemeClr val="dk1"/>
              </a:buClr>
              <a:buSzPts val="2800"/>
              <a:buNone/>
            </a:pPr>
            <a:r>
              <a:rPr i="1" lang="en-US" sz="2800"/>
              <a:t> </a:t>
            </a:r>
            <a:r>
              <a:rPr i="1" lang="en-US" sz="2800">
                <a:latin typeface="Times New Roman"/>
                <a:ea typeface="Times New Roman"/>
                <a:cs typeface="Times New Roman"/>
                <a:sym typeface="Times New Roman"/>
              </a:rPr>
              <a:t>BUY LOW/SELL HIGH</a:t>
            </a:r>
            <a:endParaRPr/>
          </a:p>
        </p:txBody>
      </p:sp>
      <p:sp>
        <p:nvSpPr>
          <p:cNvPr id="518" name="Google Shape;518;p51">
            <a:hlinkClick r:id="rId3"/>
          </p:cNvPr>
          <p:cNvSpPr/>
          <p:nvPr/>
        </p:nvSpPr>
        <p:spPr>
          <a:xfrm>
            <a:off x="9677400" y="3366247"/>
            <a:ext cx="304800" cy="331694"/>
          </a:xfrm>
          <a:custGeom>
            <a:rect b="b" l="l" r="r" t="t"/>
            <a:pathLst>
              <a:path extrusionOk="0" h="120000" w="120000">
                <a:moveTo>
                  <a:pt x="0" y="0"/>
                </a:moveTo>
                <a:lnTo>
                  <a:pt x="120000" y="0"/>
                </a:lnTo>
                <a:lnTo>
                  <a:pt x="120000" y="120000"/>
                </a:lnTo>
                <a:lnTo>
                  <a:pt x="0" y="120000"/>
                </a:lnTo>
                <a:close/>
                <a:moveTo>
                  <a:pt x="60000" y="18649"/>
                </a:moveTo>
                <a:lnTo>
                  <a:pt x="60000" y="18649"/>
                </a:lnTo>
                <a:cubicBezTo>
                  <a:pt x="84853" y="18649"/>
                  <a:pt x="105000" y="37162"/>
                  <a:pt x="105000" y="60000"/>
                </a:cubicBezTo>
                <a:cubicBezTo>
                  <a:pt x="105000" y="82838"/>
                  <a:pt x="84853" y="101351"/>
                  <a:pt x="60000" y="101351"/>
                </a:cubicBezTo>
                <a:cubicBezTo>
                  <a:pt x="35147" y="101351"/>
                  <a:pt x="15000" y="82838"/>
                  <a:pt x="15000" y="60000"/>
                </a:cubicBezTo>
                <a:cubicBezTo>
                  <a:pt x="15000" y="37162"/>
                  <a:pt x="35147" y="18649"/>
                  <a:pt x="60000" y="18649"/>
                </a:cubicBezTo>
                <a:close/>
              </a:path>
              <a:path extrusionOk="0" fill="darken" h="120000" w="120000">
                <a:moveTo>
                  <a:pt x="60000" y="18649"/>
                </a:moveTo>
                <a:lnTo>
                  <a:pt x="60000" y="18649"/>
                </a:lnTo>
                <a:cubicBezTo>
                  <a:pt x="84853" y="18649"/>
                  <a:pt x="105000" y="37162"/>
                  <a:pt x="105000" y="60000"/>
                </a:cubicBezTo>
                <a:cubicBezTo>
                  <a:pt x="105000" y="82838"/>
                  <a:pt x="84853" y="101351"/>
                  <a:pt x="60000" y="101351"/>
                </a:cubicBezTo>
                <a:cubicBezTo>
                  <a:pt x="35147" y="101351"/>
                  <a:pt x="15000" y="82838"/>
                  <a:pt x="15000" y="60000"/>
                </a:cubicBezTo>
                <a:cubicBezTo>
                  <a:pt x="15000" y="37162"/>
                  <a:pt x="35147" y="18649"/>
                  <a:pt x="60000" y="18649"/>
                </a:cubicBezTo>
                <a:close/>
                <a:moveTo>
                  <a:pt x="60000" y="21233"/>
                </a:moveTo>
                <a:cubicBezTo>
                  <a:pt x="64660" y="21233"/>
                  <a:pt x="68438" y="24704"/>
                  <a:pt x="68438" y="28986"/>
                </a:cubicBezTo>
                <a:cubicBezTo>
                  <a:pt x="68438" y="33269"/>
                  <a:pt x="64660" y="36740"/>
                  <a:pt x="60000" y="36740"/>
                </a:cubicBezTo>
                <a:cubicBezTo>
                  <a:pt x="55340" y="36740"/>
                  <a:pt x="51563" y="33269"/>
                  <a:pt x="51563" y="28986"/>
                </a:cubicBezTo>
                <a:cubicBezTo>
                  <a:pt x="51563" y="24704"/>
                  <a:pt x="55340" y="21233"/>
                  <a:pt x="60000" y="21233"/>
                </a:cubicBezTo>
                <a:moveTo>
                  <a:pt x="43125" y="44493"/>
                </a:moveTo>
                <a:lnTo>
                  <a:pt x="43125" y="49662"/>
                </a:lnTo>
                <a:lnTo>
                  <a:pt x="51563" y="49662"/>
                </a:lnTo>
                <a:lnTo>
                  <a:pt x="51563" y="85845"/>
                </a:lnTo>
                <a:lnTo>
                  <a:pt x="43125" y="85845"/>
                </a:lnTo>
                <a:lnTo>
                  <a:pt x="43125" y="91014"/>
                </a:lnTo>
                <a:lnTo>
                  <a:pt x="76875" y="91014"/>
                </a:lnTo>
                <a:lnTo>
                  <a:pt x="76875" y="85845"/>
                </a:lnTo>
                <a:lnTo>
                  <a:pt x="68438" y="85845"/>
                </a:lnTo>
                <a:lnTo>
                  <a:pt x="68438" y="44493"/>
                </a:lnTo>
                <a:close/>
              </a:path>
              <a:path extrusionOk="0" fill="lighten" h="120000" w="120000">
                <a:moveTo>
                  <a:pt x="60000" y="21233"/>
                </a:moveTo>
                <a:cubicBezTo>
                  <a:pt x="64660" y="21233"/>
                  <a:pt x="68438" y="24704"/>
                  <a:pt x="68438" y="28986"/>
                </a:cubicBezTo>
                <a:cubicBezTo>
                  <a:pt x="68438" y="33269"/>
                  <a:pt x="64660" y="36740"/>
                  <a:pt x="60000" y="36740"/>
                </a:cubicBezTo>
                <a:cubicBezTo>
                  <a:pt x="55340" y="36740"/>
                  <a:pt x="51563" y="33269"/>
                  <a:pt x="51563" y="28986"/>
                </a:cubicBezTo>
                <a:cubicBezTo>
                  <a:pt x="51563" y="24704"/>
                  <a:pt x="55340" y="21233"/>
                  <a:pt x="60000" y="21233"/>
                </a:cubicBezTo>
                <a:moveTo>
                  <a:pt x="43125" y="44493"/>
                </a:moveTo>
                <a:lnTo>
                  <a:pt x="68438" y="44493"/>
                </a:lnTo>
                <a:lnTo>
                  <a:pt x="68438" y="85845"/>
                </a:lnTo>
                <a:lnTo>
                  <a:pt x="76875" y="85845"/>
                </a:lnTo>
                <a:lnTo>
                  <a:pt x="76875" y="91014"/>
                </a:lnTo>
                <a:lnTo>
                  <a:pt x="43125" y="91014"/>
                </a:lnTo>
                <a:lnTo>
                  <a:pt x="43125" y="85845"/>
                </a:lnTo>
                <a:lnTo>
                  <a:pt x="51563" y="85845"/>
                </a:lnTo>
                <a:lnTo>
                  <a:pt x="51563" y="49662"/>
                </a:lnTo>
                <a:lnTo>
                  <a:pt x="43125" y="49662"/>
                </a:lnTo>
                <a:close/>
              </a:path>
              <a:path extrusionOk="0" fill="none" h="120000" w="120000">
                <a:moveTo>
                  <a:pt x="60000" y="18649"/>
                </a:moveTo>
                <a:lnTo>
                  <a:pt x="60000" y="18649"/>
                </a:lnTo>
                <a:cubicBezTo>
                  <a:pt x="84853" y="18649"/>
                  <a:pt x="105000" y="37162"/>
                  <a:pt x="105000" y="60000"/>
                </a:cubicBezTo>
                <a:cubicBezTo>
                  <a:pt x="105000" y="82838"/>
                  <a:pt x="84853" y="101351"/>
                  <a:pt x="60000" y="101351"/>
                </a:cubicBezTo>
                <a:cubicBezTo>
                  <a:pt x="35147" y="101351"/>
                  <a:pt x="15000" y="82838"/>
                  <a:pt x="15000" y="60000"/>
                </a:cubicBezTo>
                <a:cubicBezTo>
                  <a:pt x="15000" y="37162"/>
                  <a:pt x="35147" y="18649"/>
                  <a:pt x="60000" y="18649"/>
                </a:cubicBezTo>
                <a:close/>
                <a:moveTo>
                  <a:pt x="60000" y="21233"/>
                </a:moveTo>
                <a:cubicBezTo>
                  <a:pt x="64660" y="21233"/>
                  <a:pt x="68438" y="24704"/>
                  <a:pt x="68438" y="28986"/>
                </a:cubicBezTo>
                <a:cubicBezTo>
                  <a:pt x="68438" y="33269"/>
                  <a:pt x="64660" y="36740"/>
                  <a:pt x="60000" y="36740"/>
                </a:cubicBezTo>
                <a:cubicBezTo>
                  <a:pt x="55340" y="36740"/>
                  <a:pt x="51563" y="33269"/>
                  <a:pt x="51563" y="28986"/>
                </a:cubicBezTo>
                <a:cubicBezTo>
                  <a:pt x="51563" y="24704"/>
                  <a:pt x="55340" y="21233"/>
                  <a:pt x="60000" y="21233"/>
                </a:cubicBezTo>
                <a:moveTo>
                  <a:pt x="43125" y="44493"/>
                </a:moveTo>
                <a:lnTo>
                  <a:pt x="68438" y="44493"/>
                </a:lnTo>
                <a:lnTo>
                  <a:pt x="68438" y="85845"/>
                </a:lnTo>
                <a:lnTo>
                  <a:pt x="76875" y="85845"/>
                </a:lnTo>
                <a:lnTo>
                  <a:pt x="76875" y="91014"/>
                </a:lnTo>
                <a:lnTo>
                  <a:pt x="43125" y="91014"/>
                </a:lnTo>
                <a:lnTo>
                  <a:pt x="43125" y="85845"/>
                </a:lnTo>
                <a:lnTo>
                  <a:pt x="51563" y="85845"/>
                </a:lnTo>
                <a:lnTo>
                  <a:pt x="51563" y="49662"/>
                </a:lnTo>
                <a:lnTo>
                  <a:pt x="43125" y="49662"/>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0" st="0"/>
                                            </p:txEl>
                                          </p:spTgt>
                                        </p:tgtEl>
                                        <p:attrNameLst>
                                          <p:attrName>style.visibility</p:attrName>
                                        </p:attrNameLst>
                                      </p:cBhvr>
                                      <p:to>
                                        <p:strVal val="visible"/>
                                      </p:to>
                                    </p:set>
                                    <p:animEffect filter="fade" transition="in">
                                      <p:cBhvr>
                                        <p:cTn dur="500"/>
                                        <p:tgtEl>
                                          <p:spTgt spid="5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1" st="1"/>
                                            </p:txEl>
                                          </p:spTgt>
                                        </p:tgtEl>
                                        <p:attrNameLst>
                                          <p:attrName>style.visibility</p:attrName>
                                        </p:attrNameLst>
                                      </p:cBhvr>
                                      <p:to>
                                        <p:strVal val="visible"/>
                                      </p:to>
                                    </p:set>
                                    <p:animEffect filter="fade" transition="in">
                                      <p:cBhvr>
                                        <p:cTn dur="500"/>
                                        <p:tgtEl>
                                          <p:spTgt spid="5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2" st="2"/>
                                            </p:txEl>
                                          </p:spTgt>
                                        </p:tgtEl>
                                        <p:attrNameLst>
                                          <p:attrName>style.visibility</p:attrName>
                                        </p:attrNameLst>
                                      </p:cBhvr>
                                      <p:to>
                                        <p:strVal val="visible"/>
                                      </p:to>
                                    </p:set>
                                    <p:animEffect filter="fade" transition="in">
                                      <p:cBhvr>
                                        <p:cTn dur="500"/>
                                        <p:tgtEl>
                                          <p:spTgt spid="5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3" st="3"/>
                                            </p:txEl>
                                          </p:spTgt>
                                        </p:tgtEl>
                                        <p:attrNameLst>
                                          <p:attrName>style.visibility</p:attrName>
                                        </p:attrNameLst>
                                      </p:cBhvr>
                                      <p:to>
                                        <p:strVal val="visible"/>
                                      </p:to>
                                    </p:set>
                                    <p:animEffect filter="fade" transition="in">
                                      <p:cBhvr>
                                        <p:cTn dur="500"/>
                                        <p:tgtEl>
                                          <p:spTgt spid="5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4" st="4"/>
                                            </p:txEl>
                                          </p:spTgt>
                                        </p:tgtEl>
                                        <p:attrNameLst>
                                          <p:attrName>style.visibility</p:attrName>
                                        </p:attrNameLst>
                                      </p:cBhvr>
                                      <p:to>
                                        <p:strVal val="visible"/>
                                      </p:to>
                                    </p:set>
                                    <p:animEffect filter="fade" transition="in">
                                      <p:cBhvr>
                                        <p:cTn dur="500"/>
                                        <p:tgtEl>
                                          <p:spTgt spid="5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5" st="5"/>
                                            </p:txEl>
                                          </p:spTgt>
                                        </p:tgtEl>
                                        <p:attrNameLst>
                                          <p:attrName>style.visibility</p:attrName>
                                        </p:attrNameLst>
                                      </p:cBhvr>
                                      <p:to>
                                        <p:strVal val="visible"/>
                                      </p:to>
                                    </p:set>
                                    <p:animEffect filter="fade" transition="in">
                                      <p:cBhvr>
                                        <p:cTn dur="500"/>
                                        <p:tgtEl>
                                          <p:spTgt spid="5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6" st="6"/>
                                            </p:txEl>
                                          </p:spTgt>
                                        </p:tgtEl>
                                        <p:attrNameLst>
                                          <p:attrName>style.visibility</p:attrName>
                                        </p:attrNameLst>
                                      </p:cBhvr>
                                      <p:to>
                                        <p:strVal val="visible"/>
                                      </p:to>
                                    </p:set>
                                    <p:animEffect filter="fade" transition="in">
                                      <p:cBhvr>
                                        <p:cTn dur="500"/>
                                        <p:tgtEl>
                                          <p:spTgt spid="5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52"/>
          <p:cNvSpPr txBox="1"/>
          <p:nvPr>
            <p:ph type="title"/>
          </p:nvPr>
        </p:nvSpPr>
        <p:spPr>
          <a:xfrm>
            <a:off x="1174515" y="1182250"/>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3200"/>
              <a:buFont typeface="Calibri"/>
              <a:buNone/>
            </a:pPr>
            <a:r>
              <a:rPr lang="en-US" sz="3200"/>
              <a:t>...</a:t>
            </a:r>
            <a:r>
              <a:rPr b="1" lang="en-US" sz="3200">
                <a:solidFill>
                  <a:srgbClr val="0000FF"/>
                </a:solidFill>
              </a:rPr>
              <a:t>simultaneously</a:t>
            </a:r>
            <a:r>
              <a:rPr lang="en-US" sz="3200"/>
              <a:t> buy € in Frankfurt, sell them in NY</a:t>
            </a:r>
            <a:endParaRPr/>
          </a:p>
        </p:txBody>
      </p:sp>
      <p:sp>
        <p:nvSpPr>
          <p:cNvPr id="525" name="Google Shape;525;p52"/>
          <p:cNvSpPr txBox="1"/>
          <p:nvPr>
            <p:ph idx="1" type="body"/>
          </p:nvPr>
        </p:nvSpPr>
        <p:spPr>
          <a:xfrm>
            <a:off x="1828801" y="2505659"/>
            <a:ext cx="8146105" cy="4114800"/>
          </a:xfrm>
          <a:prstGeom prst="rect">
            <a:avLst/>
          </a:prstGeom>
          <a:noFill/>
          <a:ln>
            <a:noFill/>
          </a:ln>
        </p:spPr>
        <p:txBody>
          <a:bodyPr anchorCtr="0" anchor="t" bIns="44450" lIns="90475" spcFirstLastPara="1" rIns="90475" wrap="square" tIns="44450">
            <a:noAutofit/>
          </a:bodyPr>
          <a:lstStyle/>
          <a:p>
            <a:pPr indent="-228600" lvl="0" marL="228600" rtl="0" algn="l">
              <a:lnSpc>
                <a:spcPct val="90000"/>
              </a:lnSpc>
              <a:spcBef>
                <a:spcPts val="0"/>
              </a:spcBef>
              <a:spcAft>
                <a:spcPts val="0"/>
              </a:spcAft>
              <a:buClr>
                <a:schemeClr val="dk1"/>
              </a:buClr>
              <a:buSzPts val="3600"/>
              <a:buChar char="•"/>
            </a:pPr>
            <a:r>
              <a:rPr lang="en-US" sz="3600"/>
              <a:t>Frankfurt:  Buy €900,000 for $1,000,000      </a:t>
            </a:r>
            <a:r>
              <a:rPr lang="en-US" sz="2800">
                <a:solidFill>
                  <a:srgbClr val="0000FF"/>
                </a:solidFill>
              </a:rPr>
              <a:t>(at $1 = €0.90)   </a:t>
            </a:r>
            <a:endParaRPr/>
          </a:p>
          <a:p>
            <a:pPr indent="-228600" lvl="0" marL="228600" rtl="0" algn="l">
              <a:lnSpc>
                <a:spcPct val="90000"/>
              </a:lnSpc>
              <a:spcBef>
                <a:spcPts val="1800"/>
              </a:spcBef>
              <a:spcAft>
                <a:spcPts val="0"/>
              </a:spcAft>
              <a:buClr>
                <a:schemeClr val="dk1"/>
              </a:buClr>
              <a:buSzPts val="3600"/>
              <a:buChar char="•"/>
            </a:pPr>
            <a:r>
              <a:rPr lang="en-US" sz="3600"/>
              <a:t>NY:  Sell €900,000 for $1,011,236 </a:t>
            </a:r>
            <a:r>
              <a:rPr lang="en-US" sz="2800">
                <a:solidFill>
                  <a:srgbClr val="0000FF"/>
                </a:solidFill>
              </a:rPr>
              <a:t>(at $1 = €0.89)</a:t>
            </a:r>
            <a:r>
              <a:rPr lang="en-US" sz="4000">
                <a:solidFill>
                  <a:srgbClr val="0000FF"/>
                </a:solidFill>
              </a:rPr>
              <a:t> </a:t>
            </a:r>
            <a:endParaRPr/>
          </a:p>
          <a:p>
            <a:pPr indent="-228600" lvl="0" marL="228600" rtl="0" algn="l">
              <a:lnSpc>
                <a:spcPct val="90000"/>
              </a:lnSpc>
              <a:spcBef>
                <a:spcPts val="1800"/>
              </a:spcBef>
              <a:spcAft>
                <a:spcPts val="0"/>
              </a:spcAft>
              <a:buClr>
                <a:schemeClr val="dk1"/>
              </a:buClr>
              <a:buSzPts val="3600"/>
              <a:buChar char="•"/>
            </a:pPr>
            <a:r>
              <a:rPr lang="en-US" sz="3600"/>
              <a:t>Profit = $11,236 </a:t>
            </a:r>
            <a:r>
              <a:rPr i="1" lang="en-US" sz="3600"/>
              <a:t>(risk free)</a:t>
            </a:r>
            <a:endParaRPr/>
          </a:p>
          <a:p>
            <a:pPr indent="-228600" lvl="0" marL="228600" rtl="0" algn="l">
              <a:lnSpc>
                <a:spcPct val="90000"/>
              </a:lnSpc>
              <a:spcBef>
                <a:spcPts val="1800"/>
              </a:spcBef>
              <a:spcAft>
                <a:spcPts val="0"/>
              </a:spcAft>
              <a:buClr>
                <a:schemeClr val="dk1"/>
              </a:buClr>
              <a:buSzPts val="3600"/>
              <a:buChar char="•"/>
            </a:pPr>
            <a:r>
              <a:rPr lang="en-US" sz="3600" u="sng"/>
              <a:t>Effect</a:t>
            </a:r>
            <a:r>
              <a:rPr lang="en-US" sz="3600"/>
              <a:t>:   € demand in Frankfurt (  price);   </a:t>
            </a:r>
            <a:endParaRPr/>
          </a:p>
          <a:p>
            <a:pPr indent="0" lvl="0" marL="0" rtl="0" algn="l">
              <a:lnSpc>
                <a:spcPct val="90000"/>
              </a:lnSpc>
              <a:spcBef>
                <a:spcPts val="600"/>
              </a:spcBef>
              <a:spcAft>
                <a:spcPts val="0"/>
              </a:spcAft>
              <a:buClr>
                <a:schemeClr val="dk1"/>
              </a:buClr>
              <a:buSzPts val="3600"/>
              <a:buNone/>
            </a:pPr>
            <a:r>
              <a:rPr lang="en-US" sz="3600"/>
              <a:t>   € supply NY (  price) </a:t>
            </a:r>
            <a:endParaRPr/>
          </a:p>
        </p:txBody>
      </p:sp>
      <p:cxnSp>
        <p:nvCxnSpPr>
          <p:cNvPr id="526" name="Google Shape;526;p52"/>
          <p:cNvCxnSpPr/>
          <p:nvPr/>
        </p:nvCxnSpPr>
        <p:spPr>
          <a:xfrm rot="10800000">
            <a:off x="3568909" y="5729424"/>
            <a:ext cx="0" cy="304800"/>
          </a:xfrm>
          <a:prstGeom prst="straightConnector1">
            <a:avLst/>
          </a:prstGeom>
          <a:noFill/>
          <a:ln cap="flat" cmpd="sng" w="38100">
            <a:solidFill>
              <a:schemeClr val="dk1"/>
            </a:solidFill>
            <a:prstDash val="solid"/>
            <a:round/>
            <a:headEnd len="med" w="med" type="none"/>
            <a:tailEnd len="med" w="med" type="triangle"/>
          </a:ln>
        </p:spPr>
      </p:cxnSp>
      <p:cxnSp>
        <p:nvCxnSpPr>
          <p:cNvPr id="527" name="Google Shape;527;p52"/>
          <p:cNvCxnSpPr/>
          <p:nvPr/>
        </p:nvCxnSpPr>
        <p:spPr>
          <a:xfrm rot="10800000">
            <a:off x="8070911" y="5734119"/>
            <a:ext cx="0" cy="304800"/>
          </a:xfrm>
          <a:prstGeom prst="straightConnector1">
            <a:avLst/>
          </a:prstGeom>
          <a:noFill/>
          <a:ln cap="flat" cmpd="sng" w="38100">
            <a:solidFill>
              <a:schemeClr val="dk1"/>
            </a:solidFill>
            <a:prstDash val="solid"/>
            <a:round/>
            <a:headEnd len="med" w="med" type="none"/>
            <a:tailEnd len="med" w="med" type="triangle"/>
          </a:ln>
        </p:spPr>
      </p:cxnSp>
      <p:cxnSp>
        <p:nvCxnSpPr>
          <p:cNvPr id="528" name="Google Shape;528;p52"/>
          <p:cNvCxnSpPr/>
          <p:nvPr/>
        </p:nvCxnSpPr>
        <p:spPr>
          <a:xfrm rot="10800000">
            <a:off x="2149860" y="6340960"/>
            <a:ext cx="0" cy="304800"/>
          </a:xfrm>
          <a:prstGeom prst="straightConnector1">
            <a:avLst/>
          </a:prstGeom>
          <a:noFill/>
          <a:ln cap="flat" cmpd="sng" w="38100">
            <a:solidFill>
              <a:schemeClr val="dk1"/>
            </a:solidFill>
            <a:prstDash val="solid"/>
            <a:round/>
            <a:headEnd len="med" w="med" type="none"/>
            <a:tailEnd len="med" w="med" type="triangle"/>
          </a:ln>
        </p:spPr>
      </p:cxnSp>
      <p:cxnSp>
        <p:nvCxnSpPr>
          <p:cNvPr id="529" name="Google Shape;529;p52"/>
          <p:cNvCxnSpPr/>
          <p:nvPr/>
        </p:nvCxnSpPr>
        <p:spPr>
          <a:xfrm>
            <a:off x="4709548" y="6315659"/>
            <a:ext cx="0" cy="304800"/>
          </a:xfrm>
          <a:prstGeom prst="straightConnector1">
            <a:avLst/>
          </a:prstGeom>
          <a:noFill/>
          <a:ln cap="flat" cmpd="sng" w="38100">
            <a:solidFill>
              <a:schemeClr val="dk1"/>
            </a:solidFill>
            <a:prstDash val="solid"/>
            <a:round/>
            <a:headEnd len="med" w="med" type="none"/>
            <a:tailEnd len="med" w="med" type="triangle"/>
          </a:ln>
        </p:spPr>
      </p:cxnSp>
      <p:sp>
        <p:nvSpPr>
          <p:cNvPr id="530" name="Google Shape;53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xEl>
                                              <p:pRg end="0" st="0"/>
                                            </p:txEl>
                                          </p:spTgt>
                                        </p:tgtEl>
                                        <p:attrNameLst>
                                          <p:attrName>style.visibility</p:attrName>
                                        </p:attrNameLst>
                                      </p:cBhvr>
                                      <p:to>
                                        <p:strVal val="visible"/>
                                      </p:to>
                                    </p:set>
                                    <p:animEffect filter="fade" transition="in">
                                      <p:cBhvr>
                                        <p:cTn dur="500"/>
                                        <p:tgtEl>
                                          <p:spTgt spid="5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xEl>
                                              <p:pRg end="1" st="1"/>
                                            </p:txEl>
                                          </p:spTgt>
                                        </p:tgtEl>
                                        <p:attrNameLst>
                                          <p:attrName>style.visibility</p:attrName>
                                        </p:attrNameLst>
                                      </p:cBhvr>
                                      <p:to>
                                        <p:strVal val="visible"/>
                                      </p:to>
                                    </p:set>
                                    <p:animEffect filter="fade" transition="in">
                                      <p:cBhvr>
                                        <p:cTn dur="500"/>
                                        <p:tgtEl>
                                          <p:spTgt spid="5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xEl>
                                              <p:pRg end="2" st="2"/>
                                            </p:txEl>
                                          </p:spTgt>
                                        </p:tgtEl>
                                        <p:attrNameLst>
                                          <p:attrName>style.visibility</p:attrName>
                                        </p:attrNameLst>
                                      </p:cBhvr>
                                      <p:to>
                                        <p:strVal val="visible"/>
                                      </p:to>
                                    </p:set>
                                    <p:animEffect filter="fade" transition="in">
                                      <p:cBhvr>
                                        <p:cTn dur="500"/>
                                        <p:tgtEl>
                                          <p:spTgt spid="5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xEl>
                                              <p:pRg end="3" st="3"/>
                                            </p:txEl>
                                          </p:spTgt>
                                        </p:tgtEl>
                                        <p:attrNameLst>
                                          <p:attrName>style.visibility</p:attrName>
                                        </p:attrNameLst>
                                      </p:cBhvr>
                                      <p:to>
                                        <p:strVal val="visible"/>
                                      </p:to>
                                    </p:set>
                                    <p:animEffect filter="fade" transition="in">
                                      <p:cBhvr>
                                        <p:cTn dur="500"/>
                                        <p:tgtEl>
                                          <p:spTgt spid="52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5">
                                            <p:txEl>
                                              <p:pRg end="4" st="4"/>
                                            </p:txEl>
                                          </p:spTgt>
                                        </p:tgtEl>
                                        <p:attrNameLst>
                                          <p:attrName>style.visibility</p:attrName>
                                        </p:attrNameLst>
                                      </p:cBhvr>
                                      <p:to>
                                        <p:strVal val="visible"/>
                                      </p:to>
                                    </p:set>
                                    <p:animEffect filter="fade" transition="in">
                                      <p:cBhvr>
                                        <p:cTn dur="500"/>
                                        <p:tgtEl>
                                          <p:spTgt spid="52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6"/>
                                        </p:tgtEl>
                                        <p:attrNameLst>
                                          <p:attrName>style.visibility</p:attrName>
                                        </p:attrNameLst>
                                      </p:cBhvr>
                                      <p:to>
                                        <p:strVal val="visible"/>
                                      </p:to>
                                    </p:set>
                                    <p:animEffect filter="fade" transition="in">
                                      <p:cBhvr>
                                        <p:cTn dur="500"/>
                                        <p:tgtEl>
                                          <p:spTgt spid="526"/>
                                        </p:tgtEl>
                                      </p:cBhvr>
                                    </p:animEffect>
                                  </p:childTnLst>
                                </p:cTn>
                              </p:par>
                              <p:par>
                                <p:cTn fill="hold" nodeType="with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500"/>
                                        <p:tgtEl>
                                          <p:spTgt spid="528"/>
                                        </p:tgtEl>
                                      </p:cBhvr>
                                    </p:animEffect>
                                  </p:childTnLst>
                                </p:cTn>
                              </p:par>
                              <p:par>
                                <p:cTn fill="hold" nodeType="with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500"/>
                                        <p:tgtEl>
                                          <p:spTgt spid="527"/>
                                        </p:tgtEl>
                                      </p:cBhvr>
                                    </p:animEffect>
                                  </p:childTnLst>
                                </p:cTn>
                              </p:par>
                              <p:par>
                                <p:cTn fill="hold" nodeType="withEffect" presetClass="entr" presetID="10" presetSubtype="0">
                                  <p:stCondLst>
                                    <p:cond delay="0"/>
                                  </p:stCondLst>
                                  <p:childTnLst>
                                    <p:set>
                                      <p:cBhvr>
                                        <p:cTn dur="1" fill="hold">
                                          <p:stCondLst>
                                            <p:cond delay="0"/>
                                          </p:stCondLst>
                                        </p:cTn>
                                        <p:tgtEl>
                                          <p:spTgt spid="529"/>
                                        </p:tgtEl>
                                        <p:attrNameLst>
                                          <p:attrName>style.visibility</p:attrName>
                                        </p:attrNameLst>
                                      </p:cBhvr>
                                      <p:to>
                                        <p:strVal val="visible"/>
                                      </p:to>
                                    </p:set>
                                    <p:animEffect filter="fade" transition="in">
                                      <p:cBhvr>
                                        <p:cTn dur="500"/>
                                        <p:tgtEl>
                                          <p:spTgt spid="5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3"/>
          <p:cNvSpPr txBox="1"/>
          <p:nvPr>
            <p:ph type="title"/>
          </p:nvPr>
        </p:nvSpPr>
        <p:spPr>
          <a:xfrm>
            <a:off x="1703958" y="1240907"/>
            <a:ext cx="7772400" cy="1143000"/>
          </a:xfrm>
          <a:prstGeom prst="rect">
            <a:avLst/>
          </a:prstGeom>
          <a:noFill/>
          <a:ln>
            <a:noFill/>
          </a:ln>
        </p:spPr>
        <p:txBody>
          <a:bodyPr anchorCtr="0" anchor="t" bIns="44450" lIns="90475" spcFirstLastPara="1" rIns="90475" wrap="square" tIns="4445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or buy $ in NY and sell them in Frankfurt</a:t>
            </a:r>
            <a:endParaRPr/>
          </a:p>
        </p:txBody>
      </p:sp>
      <p:sp>
        <p:nvSpPr>
          <p:cNvPr id="536" name="Google Shape;536;p53"/>
          <p:cNvSpPr txBox="1"/>
          <p:nvPr>
            <p:ph idx="1" type="body"/>
          </p:nvPr>
        </p:nvSpPr>
        <p:spPr>
          <a:xfrm>
            <a:off x="2128906" y="2450839"/>
            <a:ext cx="7759615" cy="4181475"/>
          </a:xfrm>
          <a:prstGeom prst="rect">
            <a:avLst/>
          </a:prstGeom>
          <a:noFill/>
          <a:ln>
            <a:noFill/>
          </a:ln>
        </p:spPr>
        <p:txBody>
          <a:bodyPr anchorCtr="0" anchor="t" bIns="44450" lIns="90475" spcFirstLastPara="1" rIns="90475" wrap="square" tIns="44450">
            <a:noAutofit/>
          </a:bodyPr>
          <a:lstStyle/>
          <a:p>
            <a:pPr indent="-228600" lvl="0" marL="228600" rtl="0" algn="l">
              <a:lnSpc>
                <a:spcPct val="90000"/>
              </a:lnSpc>
              <a:spcBef>
                <a:spcPts val="0"/>
              </a:spcBef>
              <a:spcAft>
                <a:spcPts val="0"/>
              </a:spcAft>
              <a:buClr>
                <a:schemeClr val="dk1"/>
              </a:buClr>
              <a:buSzPts val="3200"/>
              <a:buChar char="•"/>
            </a:pPr>
            <a:r>
              <a:rPr lang="en-US" u="sng"/>
              <a:t>NY</a:t>
            </a:r>
            <a:r>
              <a:rPr lang="en-US"/>
              <a:t>: Buy $1,123,595 w/ €1,000,000               </a:t>
            </a:r>
            <a:r>
              <a:rPr lang="en-US" sz="2400"/>
              <a:t>(</a:t>
            </a:r>
            <a:r>
              <a:rPr lang="en-US" sz="2400">
                <a:solidFill>
                  <a:srgbClr val="0000FF"/>
                </a:solidFill>
              </a:rPr>
              <a:t>at $1 = €0.89</a:t>
            </a:r>
            <a:r>
              <a:rPr lang="en-US" sz="2400"/>
              <a:t>)</a:t>
            </a:r>
            <a:endParaRPr/>
          </a:p>
          <a:p>
            <a:pPr indent="-228600" lvl="0" marL="228600" rtl="0" algn="l">
              <a:lnSpc>
                <a:spcPct val="90000"/>
              </a:lnSpc>
              <a:spcBef>
                <a:spcPts val="1200"/>
              </a:spcBef>
              <a:spcAft>
                <a:spcPts val="0"/>
              </a:spcAft>
              <a:buClr>
                <a:schemeClr val="dk1"/>
              </a:buClr>
              <a:buSzPts val="3200"/>
              <a:buChar char="•"/>
            </a:pPr>
            <a:r>
              <a:rPr lang="en-US" u="sng"/>
              <a:t>Frkft</a:t>
            </a:r>
            <a:r>
              <a:rPr lang="en-US"/>
              <a:t>: Sell $1,123,595 for 1,011,235€             </a:t>
            </a:r>
            <a:r>
              <a:rPr lang="en-US" sz="2400"/>
              <a:t>(</a:t>
            </a:r>
            <a:r>
              <a:rPr lang="en-US" sz="2400">
                <a:solidFill>
                  <a:srgbClr val="0000FF"/>
                </a:solidFill>
              </a:rPr>
              <a:t>at $1 = €0.90</a:t>
            </a:r>
            <a:r>
              <a:rPr lang="en-US" sz="2400"/>
              <a:t>)</a:t>
            </a:r>
            <a:endParaRPr/>
          </a:p>
          <a:p>
            <a:pPr indent="-228600" lvl="0" marL="228600" rtl="0" algn="l">
              <a:lnSpc>
                <a:spcPct val="90000"/>
              </a:lnSpc>
              <a:spcBef>
                <a:spcPts val="1200"/>
              </a:spcBef>
              <a:spcAft>
                <a:spcPts val="0"/>
              </a:spcAft>
              <a:buClr>
                <a:schemeClr val="dk1"/>
              </a:buClr>
              <a:buSzPts val="3200"/>
              <a:buChar char="•"/>
            </a:pPr>
            <a:r>
              <a:rPr lang="en-US"/>
              <a:t>Profit = €11,235 </a:t>
            </a:r>
            <a:r>
              <a:rPr i="1" lang="en-US"/>
              <a:t>(risk free)</a:t>
            </a:r>
            <a:endParaRPr/>
          </a:p>
          <a:p>
            <a:pPr indent="-228600" lvl="0" marL="228600" rtl="0" algn="l">
              <a:lnSpc>
                <a:spcPct val="90000"/>
              </a:lnSpc>
              <a:spcBef>
                <a:spcPts val="1200"/>
              </a:spcBef>
              <a:spcAft>
                <a:spcPts val="0"/>
              </a:spcAft>
              <a:buClr>
                <a:schemeClr val="dk1"/>
              </a:buClr>
              <a:buSzPts val="3200"/>
              <a:buChar char="•"/>
            </a:pPr>
            <a:r>
              <a:rPr lang="en-US" u="sng"/>
              <a:t>Effect</a:t>
            </a:r>
            <a:r>
              <a:rPr lang="en-US"/>
              <a:t>:   $ demand in NY (  price);  $ supply in Frankfurt (  price) </a:t>
            </a:r>
            <a:endParaRPr/>
          </a:p>
          <a:p>
            <a:pPr indent="-228600" lvl="0" marL="228600" rtl="0" algn="ctr">
              <a:lnSpc>
                <a:spcPct val="90000"/>
              </a:lnSpc>
              <a:spcBef>
                <a:spcPts val="1800"/>
              </a:spcBef>
              <a:spcAft>
                <a:spcPts val="0"/>
              </a:spcAft>
              <a:buClr>
                <a:srgbClr val="0000FF"/>
              </a:buClr>
              <a:buSzPts val="2400"/>
              <a:buNone/>
            </a:pPr>
            <a:r>
              <a:rPr i="1" lang="en-US" sz="2400">
                <a:solidFill>
                  <a:srgbClr val="0000FF"/>
                </a:solidFill>
              </a:rPr>
              <a:t>	(Note that you can “start” with either currency the only difference would be whether the gain is realized in $ or €)</a:t>
            </a:r>
            <a:endParaRPr/>
          </a:p>
          <a:p>
            <a:pPr indent="-25400" lvl="0" marL="228600" rtl="0" algn="l">
              <a:lnSpc>
                <a:spcPct val="90000"/>
              </a:lnSpc>
              <a:spcBef>
                <a:spcPts val="2400"/>
              </a:spcBef>
              <a:spcAft>
                <a:spcPts val="0"/>
              </a:spcAft>
              <a:buClr>
                <a:schemeClr val="dk1"/>
              </a:buClr>
              <a:buSzPts val="3200"/>
              <a:buNone/>
            </a:pPr>
            <a:r>
              <a:t/>
            </a:r>
            <a:endParaRPr/>
          </a:p>
        </p:txBody>
      </p:sp>
      <p:cxnSp>
        <p:nvCxnSpPr>
          <p:cNvPr id="537" name="Google Shape;537;p53"/>
          <p:cNvCxnSpPr/>
          <p:nvPr/>
        </p:nvCxnSpPr>
        <p:spPr>
          <a:xfrm rot="10800000">
            <a:off x="7954823" y="4950027"/>
            <a:ext cx="0" cy="381000"/>
          </a:xfrm>
          <a:prstGeom prst="straightConnector1">
            <a:avLst/>
          </a:prstGeom>
          <a:noFill/>
          <a:ln cap="flat" cmpd="sng" w="38100">
            <a:solidFill>
              <a:schemeClr val="dk1"/>
            </a:solidFill>
            <a:prstDash val="solid"/>
            <a:round/>
            <a:headEnd len="med" w="med" type="none"/>
            <a:tailEnd len="med" w="med" type="triangle"/>
          </a:ln>
        </p:spPr>
      </p:cxnSp>
      <p:cxnSp>
        <p:nvCxnSpPr>
          <p:cNvPr id="538" name="Google Shape;538;p53"/>
          <p:cNvCxnSpPr/>
          <p:nvPr/>
        </p:nvCxnSpPr>
        <p:spPr>
          <a:xfrm>
            <a:off x="4669417" y="5408951"/>
            <a:ext cx="0" cy="381000"/>
          </a:xfrm>
          <a:prstGeom prst="straightConnector1">
            <a:avLst/>
          </a:prstGeom>
          <a:noFill/>
          <a:ln cap="flat" cmpd="sng" w="38100">
            <a:solidFill>
              <a:schemeClr val="dk1"/>
            </a:solidFill>
            <a:prstDash val="solid"/>
            <a:round/>
            <a:headEnd len="med" w="med" type="none"/>
            <a:tailEnd len="med" w="med" type="triangle"/>
          </a:ln>
        </p:spPr>
      </p:cxnSp>
      <p:cxnSp>
        <p:nvCxnSpPr>
          <p:cNvPr id="539" name="Google Shape;539;p53"/>
          <p:cNvCxnSpPr/>
          <p:nvPr/>
        </p:nvCxnSpPr>
        <p:spPr>
          <a:xfrm rot="10800000">
            <a:off x="3714890" y="4934644"/>
            <a:ext cx="0" cy="381000"/>
          </a:xfrm>
          <a:prstGeom prst="straightConnector1">
            <a:avLst/>
          </a:prstGeom>
          <a:noFill/>
          <a:ln cap="flat" cmpd="sng" w="38100">
            <a:solidFill>
              <a:schemeClr val="dk1"/>
            </a:solidFill>
            <a:prstDash val="solid"/>
            <a:round/>
            <a:headEnd len="med" w="med" type="none"/>
            <a:tailEnd len="med" w="med" type="triangle"/>
          </a:ln>
        </p:spPr>
      </p:cxnSp>
      <p:cxnSp>
        <p:nvCxnSpPr>
          <p:cNvPr id="540" name="Google Shape;540;p53"/>
          <p:cNvCxnSpPr/>
          <p:nvPr/>
        </p:nvCxnSpPr>
        <p:spPr>
          <a:xfrm rot="10800000">
            <a:off x="6683030" y="4988432"/>
            <a:ext cx="0" cy="381000"/>
          </a:xfrm>
          <a:prstGeom prst="straightConnector1">
            <a:avLst/>
          </a:prstGeom>
          <a:noFill/>
          <a:ln cap="flat" cmpd="sng" w="38100">
            <a:solidFill>
              <a:schemeClr val="dk1"/>
            </a:solidFill>
            <a:prstDash val="solid"/>
            <a:round/>
            <a:headEnd len="med" w="med" type="none"/>
            <a:tailEnd len="med" w="med" type="triangle"/>
          </a:ln>
        </p:spPr>
      </p:cxnSp>
      <p:sp>
        <p:nvSpPr>
          <p:cNvPr id="541" name="Google Shape;541;p53"/>
          <p:cNvSpPr txBox="1"/>
          <p:nvPr>
            <p:ph idx="12" type="sldNum"/>
          </p:nvPr>
        </p:nvSpPr>
        <p:spPr>
          <a:xfrm>
            <a:off x="8610600" y="7216958"/>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54"/>
          <p:cNvSpPr txBox="1"/>
          <p:nvPr>
            <p:ph type="title"/>
          </p:nvPr>
        </p:nvSpPr>
        <p:spPr>
          <a:xfrm>
            <a:off x="1317812" y="128001"/>
            <a:ext cx="10270103" cy="9906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Interest Arbitrage </a:t>
            </a:r>
            <a:r>
              <a:rPr lang="en-US">
                <a:solidFill>
                  <a:srgbClr val="0000FF"/>
                </a:solidFill>
              </a:rPr>
              <a:t>(Carry Trade) </a:t>
            </a:r>
            <a:endParaRPr/>
          </a:p>
        </p:txBody>
      </p:sp>
      <p:sp>
        <p:nvSpPr>
          <p:cNvPr id="547" name="Google Shape;547;p54"/>
          <p:cNvSpPr txBox="1"/>
          <p:nvPr>
            <p:ph idx="1" type="body"/>
          </p:nvPr>
        </p:nvSpPr>
        <p:spPr>
          <a:xfrm>
            <a:off x="1600200" y="2057400"/>
            <a:ext cx="9170893" cy="2743200"/>
          </a:xfrm>
          <a:prstGeom prst="rect">
            <a:avLst/>
          </a:prstGeom>
          <a:noFill/>
          <a:ln>
            <a:noFill/>
          </a:ln>
        </p:spPr>
        <p:txBody>
          <a:bodyPr anchorCtr="0" anchor="t" bIns="44450" lIns="90475" spcFirstLastPara="1" rIns="90475" wrap="square" tIns="44450">
            <a:noAutofit/>
          </a:bodyPr>
          <a:lstStyle/>
          <a:p>
            <a:pPr indent="-228600" lvl="0" marL="228600" rtl="0" algn="l">
              <a:lnSpc>
                <a:spcPct val="90000"/>
              </a:lnSpc>
              <a:spcBef>
                <a:spcPts val="0"/>
              </a:spcBef>
              <a:spcAft>
                <a:spcPts val="0"/>
              </a:spcAft>
              <a:buClr>
                <a:schemeClr val="dk1"/>
              </a:buClr>
              <a:buSzPts val="3200"/>
              <a:buChar char="•"/>
            </a:pPr>
            <a:r>
              <a:rPr lang="en-US"/>
              <a:t>Investors/borrowers exploit interest rate differences while avoiding exchange risk</a:t>
            </a:r>
            <a:endParaRPr/>
          </a:p>
          <a:p>
            <a:pPr indent="-228600" lvl="0" marL="228600" rtl="0" algn="ctr">
              <a:lnSpc>
                <a:spcPct val="90000"/>
              </a:lnSpc>
              <a:spcBef>
                <a:spcPts val="3000"/>
              </a:spcBef>
              <a:spcAft>
                <a:spcPts val="0"/>
              </a:spcAft>
              <a:buClr>
                <a:srgbClr val="0000FF"/>
              </a:buClr>
              <a:buSzPts val="2800"/>
              <a:buNone/>
            </a:pPr>
            <a:r>
              <a:rPr i="1" lang="en-US" sz="2800">
                <a:solidFill>
                  <a:srgbClr val="0000FF"/>
                </a:solidFill>
              </a:rPr>
              <a:t>NOTE: Can occur when there are discontinuities between the “forward rate” between two currencies and the nominal interest rates in those countries. </a:t>
            </a:r>
            <a:endParaRPr/>
          </a:p>
          <a:p>
            <a:pPr indent="-228600" lvl="0" marL="228600" rtl="0" algn="l">
              <a:lnSpc>
                <a:spcPct val="90000"/>
              </a:lnSpc>
              <a:spcBef>
                <a:spcPts val="3000"/>
              </a:spcBef>
              <a:spcAft>
                <a:spcPts val="0"/>
              </a:spcAft>
              <a:buClr>
                <a:schemeClr val="dk1"/>
              </a:buClr>
              <a:buSzPts val="3200"/>
              <a:buChar char="•"/>
            </a:pPr>
            <a:r>
              <a:rPr lang="en-US"/>
              <a:t>...via forward exchange market</a:t>
            </a:r>
            <a:endParaRPr/>
          </a:p>
          <a:p>
            <a:pPr indent="-228600" lvl="0" marL="228600" rtl="0" algn="l">
              <a:lnSpc>
                <a:spcPct val="90000"/>
              </a:lnSpc>
              <a:spcBef>
                <a:spcPts val="3000"/>
              </a:spcBef>
              <a:spcAft>
                <a:spcPts val="0"/>
              </a:spcAft>
              <a:buClr>
                <a:schemeClr val="dk1"/>
              </a:buClr>
              <a:buSzPts val="3200"/>
              <a:buChar char="•"/>
            </a:pPr>
            <a:r>
              <a:rPr lang="en-US"/>
              <a:t>Highest volume type of arbitrage</a:t>
            </a:r>
            <a:endParaRPr/>
          </a:p>
        </p:txBody>
      </p:sp>
      <p:sp>
        <p:nvSpPr>
          <p:cNvPr id="548" name="Google Shape;548;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0" st="0"/>
                                            </p:txEl>
                                          </p:spTgt>
                                        </p:tgtEl>
                                        <p:attrNameLst>
                                          <p:attrName>style.visibility</p:attrName>
                                        </p:attrNameLst>
                                      </p:cBhvr>
                                      <p:to>
                                        <p:strVal val="visible"/>
                                      </p:to>
                                    </p:set>
                                    <p:animEffect filter="fade" transition="in">
                                      <p:cBhvr>
                                        <p:cTn dur="500"/>
                                        <p:tgtEl>
                                          <p:spTgt spid="5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 st="1"/>
                                            </p:txEl>
                                          </p:spTgt>
                                        </p:tgtEl>
                                        <p:attrNameLst>
                                          <p:attrName>style.visibility</p:attrName>
                                        </p:attrNameLst>
                                      </p:cBhvr>
                                      <p:to>
                                        <p:strVal val="visible"/>
                                      </p:to>
                                    </p:set>
                                    <p:animEffect filter="fade" transition="in">
                                      <p:cBhvr>
                                        <p:cTn dur="500"/>
                                        <p:tgtEl>
                                          <p:spTgt spid="5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2" st="2"/>
                                            </p:txEl>
                                          </p:spTgt>
                                        </p:tgtEl>
                                        <p:attrNameLst>
                                          <p:attrName>style.visibility</p:attrName>
                                        </p:attrNameLst>
                                      </p:cBhvr>
                                      <p:to>
                                        <p:strVal val="visible"/>
                                      </p:to>
                                    </p:set>
                                    <p:animEffect filter="fade" transition="in">
                                      <p:cBhvr>
                                        <p:cTn dur="500"/>
                                        <p:tgtEl>
                                          <p:spTgt spid="5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3" st="3"/>
                                            </p:txEl>
                                          </p:spTgt>
                                        </p:tgtEl>
                                        <p:attrNameLst>
                                          <p:attrName>style.visibility</p:attrName>
                                        </p:attrNameLst>
                                      </p:cBhvr>
                                      <p:to>
                                        <p:strVal val="visible"/>
                                      </p:to>
                                    </p:set>
                                    <p:animEffect filter="fade" transition="in">
                                      <p:cBhvr>
                                        <p:cTn dur="500"/>
                                        <p:tgtEl>
                                          <p:spTgt spid="54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55"/>
          <p:cNvSpPr txBox="1"/>
          <p:nvPr>
            <p:ph type="title"/>
          </p:nvPr>
        </p:nvSpPr>
        <p:spPr>
          <a:xfrm>
            <a:off x="1196788" y="371558"/>
            <a:ext cx="9392597" cy="1143000"/>
          </a:xfrm>
          <a:prstGeom prst="rect">
            <a:avLst/>
          </a:prstGeom>
          <a:noFill/>
          <a:ln>
            <a:noFill/>
          </a:ln>
        </p:spPr>
        <p:txBody>
          <a:bodyPr anchorCtr="0" anchor="t" bIns="44450" lIns="90475" spcFirstLastPara="1" rIns="90475" wrap="square" tIns="44450">
            <a:normAutofit fontScale="90000"/>
          </a:bodyPr>
          <a:lstStyle/>
          <a:p>
            <a:pPr indent="0" lvl="0" marL="0" rtl="0" algn="l">
              <a:lnSpc>
                <a:spcPct val="71428"/>
              </a:lnSpc>
              <a:spcBef>
                <a:spcPts val="0"/>
              </a:spcBef>
              <a:spcAft>
                <a:spcPts val="0"/>
              </a:spcAft>
              <a:buClr>
                <a:schemeClr val="dk1"/>
              </a:buClr>
              <a:buSzPct val="100000"/>
              <a:buFont typeface="Calibri"/>
              <a:buNone/>
            </a:pPr>
            <a:r>
              <a:rPr lang="en-US" sz="4900" u="sng"/>
              <a:t>Example</a:t>
            </a:r>
            <a:r>
              <a:rPr lang="en-US" sz="4900"/>
              <a:t>:  </a:t>
            </a:r>
            <a:br>
              <a:rPr lang="en-US" sz="4000"/>
            </a:br>
            <a:br>
              <a:rPr lang="en-US" sz="1600"/>
            </a:br>
            <a:r>
              <a:rPr lang="en-US" sz="1600"/>
              <a:t>                                </a:t>
            </a:r>
            <a:r>
              <a:rPr lang="en-US" sz="2800">
                <a:latin typeface="Arial"/>
                <a:ea typeface="Arial"/>
                <a:cs typeface="Arial"/>
                <a:sym typeface="Arial"/>
              </a:rPr>
              <a:t>Rate for 90-day funds is 8% in NY, and 12% in London</a:t>
            </a:r>
            <a:endParaRPr/>
          </a:p>
        </p:txBody>
      </p:sp>
      <p:sp>
        <p:nvSpPr>
          <p:cNvPr id="554" name="Google Shape;554;p55"/>
          <p:cNvSpPr txBox="1"/>
          <p:nvPr>
            <p:ph idx="1" type="body"/>
          </p:nvPr>
        </p:nvSpPr>
        <p:spPr>
          <a:xfrm>
            <a:off x="2209800" y="2247900"/>
            <a:ext cx="8153400" cy="3886200"/>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2800"/>
              <a:buChar char="•"/>
            </a:pPr>
            <a:r>
              <a:rPr lang="en-US" sz="2800"/>
              <a:t> Can a US investor capitalize on higher rates in London, yet avoid exchange risk?</a:t>
            </a:r>
            <a:endParaRPr/>
          </a:p>
          <a:p>
            <a:pPr indent="-228600" lvl="0" marL="228600" rtl="0" algn="l">
              <a:lnSpc>
                <a:spcPct val="90000"/>
              </a:lnSpc>
              <a:spcBef>
                <a:spcPts val="1800"/>
              </a:spcBef>
              <a:spcAft>
                <a:spcPts val="0"/>
              </a:spcAft>
              <a:buClr>
                <a:schemeClr val="dk1"/>
              </a:buClr>
              <a:buSzPts val="2800"/>
              <a:buChar char="•"/>
            </a:pPr>
            <a:r>
              <a:rPr lang="en-US" sz="2800"/>
              <a:t> </a:t>
            </a:r>
            <a:r>
              <a:rPr lang="en-US" sz="2800" u="sng"/>
              <a:t>Solution</a:t>
            </a:r>
            <a:r>
              <a:rPr lang="en-US" sz="2800"/>
              <a:t>:  </a:t>
            </a:r>
            <a:r>
              <a:rPr i="1" lang="en-US" sz="2800"/>
              <a:t>(Hedge the investment)</a:t>
            </a:r>
            <a:endParaRPr/>
          </a:p>
          <a:p>
            <a:pPr indent="-228600" lvl="1" marL="685800" rtl="0" algn="l">
              <a:lnSpc>
                <a:spcPct val="90000"/>
              </a:lnSpc>
              <a:spcBef>
                <a:spcPts val="1800"/>
              </a:spcBef>
              <a:spcAft>
                <a:spcPts val="0"/>
              </a:spcAft>
              <a:buClr>
                <a:schemeClr val="dk1"/>
              </a:buClr>
              <a:buSzPts val="2800"/>
              <a:buChar char="•"/>
            </a:pPr>
            <a:r>
              <a:rPr lang="en-US"/>
              <a:t> buy </a:t>
            </a:r>
            <a:r>
              <a:rPr b="1" lang="en-US" sz="3200">
                <a:latin typeface="Times New Roman"/>
                <a:ea typeface="Times New Roman"/>
                <a:cs typeface="Times New Roman"/>
                <a:sym typeface="Times New Roman"/>
              </a:rPr>
              <a:t>£</a:t>
            </a:r>
            <a:r>
              <a:rPr lang="en-US"/>
              <a:t> to invest in London @12%</a:t>
            </a:r>
            <a:endParaRPr/>
          </a:p>
          <a:p>
            <a:pPr indent="-228600" lvl="1" marL="685800" rtl="0" algn="l">
              <a:lnSpc>
                <a:spcPct val="90000"/>
              </a:lnSpc>
              <a:spcBef>
                <a:spcPts val="1800"/>
              </a:spcBef>
              <a:spcAft>
                <a:spcPts val="0"/>
              </a:spcAft>
              <a:buClr>
                <a:schemeClr val="dk1"/>
              </a:buClr>
              <a:buSzPts val="2800"/>
              <a:buChar char="•"/>
            </a:pPr>
            <a:r>
              <a:rPr lang="en-US"/>
              <a:t> at the same time, sell </a:t>
            </a:r>
            <a:r>
              <a:rPr b="1" lang="en-US" sz="3200">
                <a:latin typeface="Times New Roman"/>
                <a:ea typeface="Times New Roman"/>
                <a:cs typeface="Times New Roman"/>
                <a:sym typeface="Times New Roman"/>
              </a:rPr>
              <a:t>£</a:t>
            </a:r>
            <a:r>
              <a:rPr lang="en-US"/>
              <a:t> 90 days forward at the forward rate (to redeem </a:t>
            </a:r>
            <a:r>
              <a:rPr b="1" lang="en-US">
                <a:latin typeface="Times New Roman"/>
                <a:ea typeface="Times New Roman"/>
                <a:cs typeface="Times New Roman"/>
                <a:sym typeface="Times New Roman"/>
              </a:rPr>
              <a:t>£ </a:t>
            </a:r>
            <a:r>
              <a:rPr lang="en-US"/>
              <a:t>invested)</a:t>
            </a:r>
            <a:endParaRPr/>
          </a:p>
          <a:p>
            <a:pPr indent="-228600" lvl="1" marL="685800" rtl="0" algn="ctr">
              <a:lnSpc>
                <a:spcPct val="90000"/>
              </a:lnSpc>
              <a:spcBef>
                <a:spcPts val="1800"/>
              </a:spcBef>
              <a:spcAft>
                <a:spcPts val="0"/>
              </a:spcAft>
              <a:buClr>
                <a:srgbClr val="0000FF"/>
              </a:buClr>
              <a:buSzPts val="2800"/>
              <a:buNone/>
            </a:pPr>
            <a:r>
              <a:rPr i="1" lang="en-US">
                <a:solidFill>
                  <a:srgbClr val="0000FF"/>
                </a:solidFill>
              </a:rPr>
              <a:t> </a:t>
            </a:r>
            <a:endParaRPr/>
          </a:p>
        </p:txBody>
      </p:sp>
      <p:sp>
        <p:nvSpPr>
          <p:cNvPr id="555" name="Google Shape;555;p55"/>
          <p:cNvSpPr txBox="1"/>
          <p:nvPr/>
        </p:nvSpPr>
        <p:spPr>
          <a:xfrm>
            <a:off x="4038600" y="6134100"/>
            <a:ext cx="5029200" cy="861774"/>
          </a:xfrm>
          <a:prstGeom prst="rect">
            <a:avLst/>
          </a:prstGeom>
          <a:noFill/>
          <a:ln>
            <a:noFill/>
          </a:ln>
        </p:spPr>
        <p:txBody>
          <a:bodyPr anchorCtr="0" anchor="t" bIns="45700" lIns="91425" spcFirstLastPara="1" rIns="91425" wrap="square" tIns="45700">
            <a:spAutoFit/>
          </a:bodyPr>
          <a:lstStyle/>
          <a:p>
            <a:pPr indent="0" lvl="1" marL="0" marR="0" rtl="0" algn="l">
              <a:spcBef>
                <a:spcPts val="0"/>
              </a:spcBef>
              <a:spcAft>
                <a:spcPts val="0"/>
              </a:spcAft>
              <a:buNone/>
            </a:pPr>
            <a:r>
              <a:rPr b="0" i="1" lang="en-US" sz="3200" u="none" cap="none" strike="noStrike">
                <a:solidFill>
                  <a:srgbClr val="0000FF"/>
                </a:solidFill>
                <a:latin typeface="Calibri"/>
                <a:ea typeface="Calibri"/>
                <a:cs typeface="Calibri"/>
                <a:sym typeface="Calibri"/>
              </a:rPr>
              <a:t>eliminates exchange risk</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xEl>
                                              <p:pRg end="0" st="0"/>
                                            </p:txEl>
                                          </p:spTgt>
                                        </p:tgtEl>
                                        <p:attrNameLst>
                                          <p:attrName>style.visibility</p:attrName>
                                        </p:attrNameLst>
                                      </p:cBhvr>
                                      <p:to>
                                        <p:strVal val="visible"/>
                                      </p:to>
                                    </p:set>
                                    <p:animEffect filter="fade" transition="in">
                                      <p:cBhvr>
                                        <p:cTn dur="500"/>
                                        <p:tgtEl>
                                          <p:spTgt spid="5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xEl>
                                              <p:pRg end="1" st="1"/>
                                            </p:txEl>
                                          </p:spTgt>
                                        </p:tgtEl>
                                        <p:attrNameLst>
                                          <p:attrName>style.visibility</p:attrName>
                                        </p:attrNameLst>
                                      </p:cBhvr>
                                      <p:to>
                                        <p:strVal val="visible"/>
                                      </p:to>
                                    </p:set>
                                    <p:animEffect filter="fade" transition="in">
                                      <p:cBhvr>
                                        <p:cTn dur="500"/>
                                        <p:tgtEl>
                                          <p:spTgt spid="5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xEl>
                                              <p:pRg end="2" st="2"/>
                                            </p:txEl>
                                          </p:spTgt>
                                        </p:tgtEl>
                                        <p:attrNameLst>
                                          <p:attrName>style.visibility</p:attrName>
                                        </p:attrNameLst>
                                      </p:cBhvr>
                                      <p:to>
                                        <p:strVal val="visible"/>
                                      </p:to>
                                    </p:set>
                                    <p:animEffect filter="fade" transition="in">
                                      <p:cBhvr>
                                        <p:cTn dur="500"/>
                                        <p:tgtEl>
                                          <p:spTgt spid="55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xEl>
                                              <p:pRg end="3" st="3"/>
                                            </p:txEl>
                                          </p:spTgt>
                                        </p:tgtEl>
                                        <p:attrNameLst>
                                          <p:attrName>style.visibility</p:attrName>
                                        </p:attrNameLst>
                                      </p:cBhvr>
                                      <p:to>
                                        <p:strVal val="visible"/>
                                      </p:to>
                                    </p:set>
                                    <p:animEffect filter="fade" transition="in">
                                      <p:cBhvr>
                                        <p:cTn dur="500"/>
                                        <p:tgtEl>
                                          <p:spTgt spid="55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xEl>
                                              <p:pRg end="4" st="4"/>
                                            </p:txEl>
                                          </p:spTgt>
                                        </p:tgtEl>
                                        <p:attrNameLst>
                                          <p:attrName>style.visibility</p:attrName>
                                        </p:attrNameLst>
                                      </p:cBhvr>
                                      <p:to>
                                        <p:strVal val="visible"/>
                                      </p:to>
                                    </p:set>
                                    <p:animEffect filter="fade" transition="in">
                                      <p:cBhvr>
                                        <p:cTn dur="500"/>
                                        <p:tgtEl>
                                          <p:spTgt spid="55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6"/>
          <p:cNvSpPr txBox="1"/>
          <p:nvPr>
            <p:ph type="title"/>
          </p:nvPr>
        </p:nvSpPr>
        <p:spPr>
          <a:xfrm>
            <a:off x="1210235" y="288940"/>
            <a:ext cx="9340745" cy="1143000"/>
          </a:xfrm>
          <a:prstGeom prst="rect">
            <a:avLst/>
          </a:prstGeom>
          <a:noFill/>
          <a:ln>
            <a:noFill/>
          </a:ln>
        </p:spPr>
        <p:txBody>
          <a:bodyPr anchorCtr="0" anchor="t" bIns="44450" lIns="90475" spcFirstLastPara="1" rIns="90475" wrap="square" tIns="44450">
            <a:normAutofit fontScale="90000"/>
          </a:bodyPr>
          <a:lstStyle/>
          <a:p>
            <a:pPr indent="0" lvl="0" marL="0" rtl="0" algn="l">
              <a:lnSpc>
                <a:spcPct val="71428"/>
              </a:lnSpc>
              <a:spcBef>
                <a:spcPts val="0"/>
              </a:spcBef>
              <a:spcAft>
                <a:spcPts val="0"/>
              </a:spcAft>
              <a:buClr>
                <a:schemeClr val="dk1"/>
              </a:buClr>
              <a:buSzPct val="100000"/>
              <a:buFont typeface="Calibri"/>
              <a:buNone/>
            </a:pPr>
            <a:r>
              <a:rPr lang="en-US" sz="4900" u="sng"/>
              <a:t>Example</a:t>
            </a:r>
            <a:r>
              <a:rPr lang="en-US" sz="4900"/>
              <a:t>:  </a:t>
            </a:r>
            <a:br>
              <a:rPr lang="en-US" sz="4000"/>
            </a:br>
            <a:br>
              <a:rPr lang="en-US" sz="4000"/>
            </a:br>
            <a:r>
              <a:rPr lang="en-US" sz="4000"/>
              <a:t>         </a:t>
            </a:r>
            <a:r>
              <a:rPr lang="en-US" sz="2800">
                <a:latin typeface="Arial"/>
                <a:ea typeface="Arial"/>
                <a:cs typeface="Arial"/>
                <a:sym typeface="Arial"/>
              </a:rPr>
              <a:t>Rate for 90-day funds is 8% in NY,   and 12% in London</a:t>
            </a:r>
            <a:endParaRPr/>
          </a:p>
        </p:txBody>
      </p:sp>
      <p:sp>
        <p:nvSpPr>
          <p:cNvPr id="562" name="Google Shape;562;p56"/>
          <p:cNvSpPr txBox="1"/>
          <p:nvPr>
            <p:ph idx="1" type="body"/>
          </p:nvPr>
        </p:nvSpPr>
        <p:spPr>
          <a:xfrm>
            <a:off x="1658472" y="2057401"/>
            <a:ext cx="7762875" cy="4181475"/>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200"/>
              <a:buChar char="•"/>
            </a:pPr>
            <a:r>
              <a:rPr lang="en-US"/>
              <a:t>Spot rate: £ =$1.65</a:t>
            </a:r>
            <a:endParaRPr/>
          </a:p>
          <a:p>
            <a:pPr indent="-228600" lvl="0" marL="228600" rtl="0" algn="l">
              <a:lnSpc>
                <a:spcPct val="90000"/>
              </a:lnSpc>
              <a:spcBef>
                <a:spcPts val="2400"/>
              </a:spcBef>
              <a:spcAft>
                <a:spcPts val="0"/>
              </a:spcAft>
              <a:buClr>
                <a:schemeClr val="dk1"/>
              </a:buClr>
              <a:buSzPts val="3200"/>
              <a:buChar char="•"/>
            </a:pPr>
            <a:r>
              <a:rPr lang="en-US"/>
              <a:t>90-day Forward rate: £ =$1.64</a:t>
            </a:r>
            <a:endParaRPr/>
          </a:p>
          <a:p>
            <a:pPr indent="-228600" lvl="0" marL="228600" rtl="0" algn="l">
              <a:lnSpc>
                <a:spcPct val="90000"/>
              </a:lnSpc>
              <a:spcBef>
                <a:spcPts val="2400"/>
              </a:spcBef>
              <a:spcAft>
                <a:spcPts val="0"/>
              </a:spcAft>
              <a:buClr>
                <a:srgbClr val="0000FF"/>
              </a:buClr>
              <a:buSzPts val="3200"/>
              <a:buNone/>
            </a:pPr>
            <a:r>
              <a:rPr i="1" lang="en-US">
                <a:solidFill>
                  <a:srgbClr val="0000FF"/>
                </a:solidFill>
              </a:rPr>
              <a:t>   Will NY investor with $1 million want to invest in London to earn higher interest rate?  </a:t>
            </a:r>
            <a:endParaRPr/>
          </a:p>
        </p:txBody>
      </p:sp>
      <p:sp>
        <p:nvSpPr>
          <p:cNvPr id="563" name="Google Shape;563;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57"/>
          <p:cNvSpPr txBox="1"/>
          <p:nvPr>
            <p:ph type="title"/>
          </p:nvPr>
        </p:nvSpPr>
        <p:spPr>
          <a:xfrm>
            <a:off x="1331259" y="288940"/>
            <a:ext cx="9219721" cy="1143000"/>
          </a:xfrm>
          <a:prstGeom prst="rect">
            <a:avLst/>
          </a:prstGeom>
          <a:noFill/>
          <a:ln>
            <a:noFill/>
          </a:ln>
        </p:spPr>
        <p:txBody>
          <a:bodyPr anchorCtr="0" anchor="t" bIns="44450" lIns="90475" spcFirstLastPara="1" rIns="90475" wrap="square" tIns="44450">
            <a:normAutofit fontScale="90000"/>
          </a:bodyPr>
          <a:lstStyle/>
          <a:p>
            <a:pPr indent="0" lvl="0" marL="0" rtl="0" algn="l">
              <a:lnSpc>
                <a:spcPct val="61224"/>
              </a:lnSpc>
              <a:spcBef>
                <a:spcPts val="0"/>
              </a:spcBef>
              <a:spcAft>
                <a:spcPts val="0"/>
              </a:spcAft>
              <a:buClr>
                <a:schemeClr val="dk1"/>
              </a:buClr>
              <a:buSzPct val="100000"/>
              <a:buFont typeface="Calibri"/>
              <a:buNone/>
            </a:pPr>
            <a:r>
              <a:rPr lang="en-US" sz="4900" u="sng"/>
              <a:t>Example</a:t>
            </a:r>
            <a:r>
              <a:rPr lang="en-US" sz="4900"/>
              <a:t>:  </a:t>
            </a:r>
            <a:br>
              <a:rPr lang="en-US" sz="3600"/>
            </a:br>
            <a:br>
              <a:rPr lang="en-US"/>
            </a:br>
            <a:r>
              <a:rPr lang="en-US" sz="2800">
                <a:latin typeface="Arial"/>
                <a:ea typeface="Arial"/>
                <a:cs typeface="Arial"/>
                <a:sym typeface="Arial"/>
              </a:rPr>
              <a:t>Rate for 90-day funds is 8% in NY, and 12% in London</a:t>
            </a:r>
            <a:endParaRPr/>
          </a:p>
        </p:txBody>
      </p:sp>
      <p:sp>
        <p:nvSpPr>
          <p:cNvPr id="569" name="Google Shape;569;p57"/>
          <p:cNvSpPr txBox="1"/>
          <p:nvPr>
            <p:ph idx="1" type="body"/>
          </p:nvPr>
        </p:nvSpPr>
        <p:spPr>
          <a:xfrm>
            <a:off x="1902519" y="1939639"/>
            <a:ext cx="8077200" cy="4953000"/>
          </a:xfrm>
          <a:prstGeom prst="rect">
            <a:avLst/>
          </a:prstGeom>
          <a:noFill/>
          <a:ln>
            <a:noFill/>
          </a:ln>
        </p:spPr>
        <p:txBody>
          <a:bodyPr anchorCtr="0" anchor="t" bIns="44450" lIns="90475" spcFirstLastPara="1" rIns="90475" wrap="square" tIns="44450">
            <a:normAutofit lnSpcReduction="10000"/>
          </a:bodyPr>
          <a:lstStyle/>
          <a:p>
            <a:pPr indent="-228600" lvl="0" marL="228600" rtl="0" algn="l">
              <a:lnSpc>
                <a:spcPct val="90000"/>
              </a:lnSpc>
              <a:spcBef>
                <a:spcPts val="0"/>
              </a:spcBef>
              <a:spcAft>
                <a:spcPts val="0"/>
              </a:spcAft>
              <a:buClr>
                <a:schemeClr val="dk1"/>
              </a:buClr>
              <a:buSzPts val="2400"/>
              <a:buNone/>
            </a:pPr>
            <a:r>
              <a:rPr lang="en-US" sz="2400"/>
              <a:t>(If invested in US: $</a:t>
            </a:r>
            <a:r>
              <a:rPr i="1" lang="en-US" sz="2400"/>
              <a:t>1mil x 1.02* = $1,020,000)</a:t>
            </a:r>
            <a:endParaRPr/>
          </a:p>
          <a:p>
            <a:pPr indent="-228600" lvl="0" marL="228600" rtl="0" algn="l">
              <a:lnSpc>
                <a:spcPct val="90000"/>
              </a:lnSpc>
              <a:spcBef>
                <a:spcPts val="1200"/>
              </a:spcBef>
              <a:spcAft>
                <a:spcPts val="0"/>
              </a:spcAft>
              <a:buClr>
                <a:schemeClr val="dk1"/>
              </a:buClr>
              <a:buSzPts val="2400"/>
              <a:buChar char="•"/>
            </a:pPr>
            <a:r>
              <a:rPr lang="en-US" sz="2400"/>
              <a:t>Buy </a:t>
            </a:r>
            <a:r>
              <a:rPr lang="en-US" sz="2800">
                <a:latin typeface="Times New Roman"/>
                <a:ea typeface="Times New Roman"/>
                <a:cs typeface="Times New Roman"/>
                <a:sym typeface="Times New Roman"/>
              </a:rPr>
              <a:t>£</a:t>
            </a:r>
            <a:r>
              <a:rPr lang="en-US" sz="2400"/>
              <a:t> 606,060 on spot market ($1 mil @ $1.65)</a:t>
            </a:r>
            <a:endParaRPr i="1" sz="2400">
              <a:solidFill>
                <a:srgbClr val="0000FF"/>
              </a:solidFill>
            </a:endParaRPr>
          </a:p>
          <a:p>
            <a:pPr indent="-228600" lvl="0" marL="228600" rtl="0" algn="l">
              <a:lnSpc>
                <a:spcPct val="90000"/>
              </a:lnSpc>
              <a:spcBef>
                <a:spcPts val="0"/>
              </a:spcBef>
              <a:spcAft>
                <a:spcPts val="0"/>
              </a:spcAft>
              <a:buClr>
                <a:srgbClr val="0000FF"/>
              </a:buClr>
              <a:buSzPts val="2400"/>
              <a:buNone/>
            </a:pPr>
            <a:r>
              <a:rPr i="1" lang="en-US" sz="2400">
                <a:solidFill>
                  <a:srgbClr val="0000FF"/>
                </a:solidFill>
                <a:latin typeface="Times New Roman"/>
                <a:ea typeface="Times New Roman"/>
                <a:cs typeface="Times New Roman"/>
                <a:sym typeface="Times New Roman"/>
              </a:rPr>
              <a:t>		</a:t>
            </a:r>
            <a:r>
              <a:rPr i="1" lang="en-US" sz="2400">
                <a:solidFill>
                  <a:srgbClr val="0000FF"/>
                </a:solidFill>
              </a:rPr>
              <a:t>$1 mil @ $1.65 / </a:t>
            </a:r>
            <a:r>
              <a:rPr i="1" lang="en-US" sz="2800">
                <a:solidFill>
                  <a:srgbClr val="0000FF"/>
                </a:solidFill>
                <a:latin typeface="Calibri"/>
                <a:ea typeface="Calibri"/>
                <a:cs typeface="Calibri"/>
                <a:sym typeface="Calibri"/>
              </a:rPr>
              <a:t>£ </a:t>
            </a:r>
            <a:r>
              <a:rPr i="1" lang="en-US" sz="2400">
                <a:solidFill>
                  <a:srgbClr val="0000FF"/>
                </a:solidFill>
              </a:rPr>
              <a:t>= </a:t>
            </a:r>
            <a:r>
              <a:rPr i="1" lang="en-US" sz="2800">
                <a:solidFill>
                  <a:srgbClr val="0000FF"/>
                </a:solidFill>
                <a:latin typeface="Calibri"/>
                <a:ea typeface="Calibri"/>
                <a:cs typeface="Calibri"/>
                <a:sym typeface="Calibri"/>
              </a:rPr>
              <a:t>£ </a:t>
            </a:r>
            <a:r>
              <a:rPr i="1" lang="en-US" sz="2400">
                <a:solidFill>
                  <a:srgbClr val="0000FF"/>
                </a:solidFill>
              </a:rPr>
              <a:t>606,060 </a:t>
            </a:r>
            <a:endParaRPr/>
          </a:p>
          <a:p>
            <a:pPr indent="-228600" lvl="0" marL="228600" rtl="0" algn="l">
              <a:lnSpc>
                <a:spcPct val="90000"/>
              </a:lnSpc>
              <a:spcBef>
                <a:spcPts val="0"/>
              </a:spcBef>
              <a:spcAft>
                <a:spcPts val="0"/>
              </a:spcAft>
              <a:buClr>
                <a:srgbClr val="0000FF"/>
              </a:buClr>
              <a:buSzPts val="2400"/>
              <a:buNone/>
            </a:pPr>
            <a:r>
              <a:rPr i="1" lang="en-US" sz="2400">
                <a:solidFill>
                  <a:srgbClr val="0000FF"/>
                </a:solidFill>
                <a:latin typeface="Times New Roman"/>
                <a:ea typeface="Times New Roman"/>
                <a:cs typeface="Times New Roman"/>
                <a:sym typeface="Times New Roman"/>
              </a:rPr>
              <a:t>		</a:t>
            </a:r>
            <a:r>
              <a:rPr i="1" lang="en-US" sz="2800">
                <a:solidFill>
                  <a:srgbClr val="0000FF"/>
                </a:solidFill>
                <a:latin typeface="Calibri"/>
                <a:ea typeface="Calibri"/>
                <a:cs typeface="Calibri"/>
                <a:sym typeface="Calibri"/>
              </a:rPr>
              <a:t>£ </a:t>
            </a:r>
            <a:r>
              <a:rPr i="1" lang="en-US" sz="2400">
                <a:solidFill>
                  <a:srgbClr val="0000FF"/>
                </a:solidFill>
              </a:rPr>
              <a:t>606,060</a:t>
            </a:r>
            <a:r>
              <a:rPr lang="en-US" sz="2400"/>
              <a:t> </a:t>
            </a:r>
            <a:r>
              <a:rPr i="1" lang="en-US" sz="2400">
                <a:solidFill>
                  <a:srgbClr val="0000FF"/>
                </a:solidFill>
              </a:rPr>
              <a:t>x 1.02</a:t>
            </a:r>
            <a:r>
              <a:rPr i="1" lang="en-US" sz="2400"/>
              <a:t>*</a:t>
            </a:r>
            <a:r>
              <a:rPr i="1" lang="en-US" sz="2400">
                <a:solidFill>
                  <a:srgbClr val="0000FF"/>
                </a:solidFill>
              </a:rPr>
              <a:t> = </a:t>
            </a:r>
            <a:r>
              <a:rPr i="1" lang="en-US" sz="2800">
                <a:solidFill>
                  <a:srgbClr val="0000FF"/>
                </a:solidFill>
                <a:latin typeface="Calibri"/>
                <a:ea typeface="Calibri"/>
                <a:cs typeface="Calibri"/>
                <a:sym typeface="Calibri"/>
              </a:rPr>
              <a:t>£ </a:t>
            </a:r>
            <a:r>
              <a:rPr i="1" lang="en-US" sz="2400">
                <a:solidFill>
                  <a:srgbClr val="0000FF"/>
                </a:solidFill>
              </a:rPr>
              <a:t>624,242 </a:t>
            </a:r>
            <a:endParaRPr sz="2400"/>
          </a:p>
          <a:p>
            <a:pPr indent="-228600" lvl="0" marL="228600" rtl="0" algn="l">
              <a:lnSpc>
                <a:spcPct val="90000"/>
              </a:lnSpc>
              <a:spcBef>
                <a:spcPts val="1200"/>
              </a:spcBef>
              <a:spcAft>
                <a:spcPts val="0"/>
              </a:spcAft>
              <a:buClr>
                <a:schemeClr val="dk1"/>
              </a:buClr>
              <a:buSzPts val="2400"/>
              <a:buChar char="•"/>
            </a:pPr>
            <a:r>
              <a:rPr lang="en-US" sz="2400"/>
              <a:t>Convert  £ 624,242 to dollars at contracted forward rate ($1 mil @ $1.64/</a:t>
            </a:r>
            <a:r>
              <a:rPr lang="en-US" sz="2400">
                <a:latin typeface="Times New Roman"/>
                <a:ea typeface="Times New Roman"/>
                <a:cs typeface="Times New Roman"/>
                <a:sym typeface="Times New Roman"/>
              </a:rPr>
              <a:t> </a:t>
            </a:r>
            <a:r>
              <a:rPr lang="en-US" sz="2800">
                <a:latin typeface="Times New Roman"/>
                <a:ea typeface="Times New Roman"/>
                <a:cs typeface="Times New Roman"/>
                <a:sym typeface="Times New Roman"/>
              </a:rPr>
              <a:t>£</a:t>
            </a:r>
            <a:r>
              <a:rPr lang="en-US" sz="2800"/>
              <a:t>)</a:t>
            </a:r>
            <a:endParaRPr/>
          </a:p>
          <a:p>
            <a:pPr indent="-228600" lvl="0" marL="228600" rtl="0" algn="l">
              <a:lnSpc>
                <a:spcPct val="90000"/>
              </a:lnSpc>
              <a:spcBef>
                <a:spcPts val="1000"/>
              </a:spcBef>
              <a:spcAft>
                <a:spcPts val="0"/>
              </a:spcAft>
              <a:buClr>
                <a:schemeClr val="dk1"/>
              </a:buClr>
              <a:buSzPts val="2400"/>
              <a:buFont typeface="Calibri"/>
              <a:buNone/>
            </a:pPr>
            <a:r>
              <a:rPr i="1" lang="en-US" sz="2400"/>
              <a:t>	</a:t>
            </a:r>
            <a:r>
              <a:rPr i="1" lang="en-US" sz="2400">
                <a:solidFill>
                  <a:srgbClr val="0000FF"/>
                </a:solidFill>
              </a:rPr>
              <a:t>	 </a:t>
            </a:r>
            <a:r>
              <a:rPr i="1" lang="en-US" sz="2800">
                <a:solidFill>
                  <a:srgbClr val="0000FF"/>
                </a:solidFill>
                <a:latin typeface="Calibri"/>
                <a:ea typeface="Calibri"/>
                <a:cs typeface="Calibri"/>
                <a:sym typeface="Calibri"/>
              </a:rPr>
              <a:t>£</a:t>
            </a:r>
            <a:r>
              <a:rPr i="1" lang="en-US" sz="2400">
                <a:solidFill>
                  <a:srgbClr val="0000FF"/>
                </a:solidFill>
              </a:rPr>
              <a:t> x 1.64 = $1,023,757</a:t>
            </a:r>
            <a:endParaRPr/>
          </a:p>
          <a:p>
            <a:pPr indent="-228600" lvl="0" marL="228600" rtl="0" algn="l">
              <a:lnSpc>
                <a:spcPct val="90000"/>
              </a:lnSpc>
              <a:spcBef>
                <a:spcPts val="1200"/>
              </a:spcBef>
              <a:spcAft>
                <a:spcPts val="0"/>
              </a:spcAft>
              <a:buClr>
                <a:schemeClr val="dk1"/>
              </a:buClr>
              <a:buSzPts val="2400"/>
              <a:buChar char="•"/>
            </a:pPr>
            <a:r>
              <a:rPr lang="en-US" sz="2400"/>
              <a:t>Risk-free profit = $23,757</a:t>
            </a:r>
            <a:endParaRPr/>
          </a:p>
          <a:p>
            <a:pPr indent="-228600" lvl="0" marL="228600" rtl="0" algn="l">
              <a:lnSpc>
                <a:spcPct val="90000"/>
              </a:lnSpc>
              <a:spcBef>
                <a:spcPts val="1200"/>
              </a:spcBef>
              <a:spcAft>
                <a:spcPts val="0"/>
              </a:spcAft>
              <a:buClr>
                <a:schemeClr val="dk1"/>
              </a:buClr>
              <a:buSzPts val="2400"/>
              <a:buChar char="•"/>
            </a:pPr>
            <a:r>
              <a:rPr lang="en-US" sz="2400"/>
              <a:t>$23,757&gt;$20,000… arbitrage nets $3,757</a:t>
            </a:r>
            <a:endParaRPr/>
          </a:p>
          <a:p>
            <a:pPr indent="-228600" lvl="0" marL="228600" rtl="0" algn="ctr">
              <a:lnSpc>
                <a:spcPct val="90000"/>
              </a:lnSpc>
              <a:spcBef>
                <a:spcPts val="1000"/>
              </a:spcBef>
              <a:spcAft>
                <a:spcPts val="0"/>
              </a:spcAft>
              <a:buClr>
                <a:schemeClr val="dk1"/>
              </a:buClr>
              <a:buSzPts val="1400"/>
              <a:buNone/>
            </a:pPr>
            <a:r>
              <a:t/>
            </a:r>
            <a:endParaRPr b="1" i="1" sz="1400"/>
          </a:p>
          <a:p>
            <a:pPr indent="-228600" lvl="0" marL="228600" rtl="0" algn="ctr">
              <a:lnSpc>
                <a:spcPct val="90000"/>
              </a:lnSpc>
              <a:spcBef>
                <a:spcPts val="1000"/>
              </a:spcBef>
              <a:spcAft>
                <a:spcPts val="0"/>
              </a:spcAft>
              <a:buClr>
                <a:schemeClr val="dk1"/>
              </a:buClr>
              <a:buSzPts val="1800"/>
              <a:buNone/>
            </a:pPr>
            <a:r>
              <a:rPr b="1" i="1" lang="en-US" sz="1800"/>
              <a:t>*</a:t>
            </a:r>
            <a:r>
              <a:rPr b="1" i="1" lang="en-US" sz="1800">
                <a:solidFill>
                  <a:srgbClr val="FF0000"/>
                </a:solidFill>
              </a:rPr>
              <a:t> </a:t>
            </a:r>
            <a:r>
              <a:rPr b="1" i="1" lang="en-US" sz="1800"/>
              <a:t>simple interest for 90 days (1/4 of year):  2% (8%/4) in NY and 3% (12%/4) in London </a:t>
            </a:r>
            <a:endParaRPr/>
          </a:p>
        </p:txBody>
      </p:sp>
      <p:sp>
        <p:nvSpPr>
          <p:cNvPr id="570" name="Google Shape;570;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1" name="Google Shape;571;p57"/>
          <p:cNvSpPr txBox="1"/>
          <p:nvPr/>
        </p:nvSpPr>
        <p:spPr>
          <a:xfrm>
            <a:off x="7709010" y="3275380"/>
            <a:ext cx="22731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Time to hedge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0" st="0"/>
                                            </p:txEl>
                                          </p:spTgt>
                                        </p:tgtEl>
                                        <p:attrNameLst>
                                          <p:attrName>style.visibility</p:attrName>
                                        </p:attrNameLst>
                                      </p:cBhvr>
                                      <p:to>
                                        <p:strVal val="visible"/>
                                      </p:to>
                                    </p:set>
                                    <p:animEffect filter="fade" transition="in">
                                      <p:cBhvr>
                                        <p:cTn dur="500"/>
                                        <p:tgtEl>
                                          <p:spTgt spid="5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1" st="1"/>
                                            </p:txEl>
                                          </p:spTgt>
                                        </p:tgtEl>
                                        <p:attrNameLst>
                                          <p:attrName>style.visibility</p:attrName>
                                        </p:attrNameLst>
                                      </p:cBhvr>
                                      <p:to>
                                        <p:strVal val="visible"/>
                                      </p:to>
                                    </p:set>
                                    <p:animEffect filter="fade" transition="in">
                                      <p:cBhvr>
                                        <p:cTn dur="500"/>
                                        <p:tgtEl>
                                          <p:spTgt spid="5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2" st="2"/>
                                            </p:txEl>
                                          </p:spTgt>
                                        </p:tgtEl>
                                        <p:attrNameLst>
                                          <p:attrName>style.visibility</p:attrName>
                                        </p:attrNameLst>
                                      </p:cBhvr>
                                      <p:to>
                                        <p:strVal val="visible"/>
                                      </p:to>
                                    </p:set>
                                    <p:animEffect filter="fade" transition="in">
                                      <p:cBhvr>
                                        <p:cTn dur="500"/>
                                        <p:tgtEl>
                                          <p:spTgt spid="5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3" st="3"/>
                                            </p:txEl>
                                          </p:spTgt>
                                        </p:tgtEl>
                                        <p:attrNameLst>
                                          <p:attrName>style.visibility</p:attrName>
                                        </p:attrNameLst>
                                      </p:cBhvr>
                                      <p:to>
                                        <p:strVal val="visible"/>
                                      </p:to>
                                    </p:set>
                                    <p:animEffect filter="fade" transition="in">
                                      <p:cBhvr>
                                        <p:cTn dur="500"/>
                                        <p:tgtEl>
                                          <p:spTgt spid="5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4" st="4"/>
                                            </p:txEl>
                                          </p:spTgt>
                                        </p:tgtEl>
                                        <p:attrNameLst>
                                          <p:attrName>style.visibility</p:attrName>
                                        </p:attrNameLst>
                                      </p:cBhvr>
                                      <p:to>
                                        <p:strVal val="visible"/>
                                      </p:to>
                                    </p:set>
                                    <p:animEffect filter="fade" transition="in">
                                      <p:cBhvr>
                                        <p:cTn dur="500"/>
                                        <p:tgtEl>
                                          <p:spTgt spid="5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5" st="5"/>
                                            </p:txEl>
                                          </p:spTgt>
                                        </p:tgtEl>
                                        <p:attrNameLst>
                                          <p:attrName>style.visibility</p:attrName>
                                        </p:attrNameLst>
                                      </p:cBhvr>
                                      <p:to>
                                        <p:strVal val="visible"/>
                                      </p:to>
                                    </p:set>
                                    <p:animEffect filter="fade" transition="in">
                                      <p:cBhvr>
                                        <p:cTn dur="500"/>
                                        <p:tgtEl>
                                          <p:spTgt spid="5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6" st="6"/>
                                            </p:txEl>
                                          </p:spTgt>
                                        </p:tgtEl>
                                        <p:attrNameLst>
                                          <p:attrName>style.visibility</p:attrName>
                                        </p:attrNameLst>
                                      </p:cBhvr>
                                      <p:to>
                                        <p:strVal val="visible"/>
                                      </p:to>
                                    </p:set>
                                    <p:animEffect filter="fade" transition="in">
                                      <p:cBhvr>
                                        <p:cTn dur="500"/>
                                        <p:tgtEl>
                                          <p:spTgt spid="5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7" st="7"/>
                                            </p:txEl>
                                          </p:spTgt>
                                        </p:tgtEl>
                                        <p:attrNameLst>
                                          <p:attrName>style.visibility</p:attrName>
                                        </p:attrNameLst>
                                      </p:cBhvr>
                                      <p:to>
                                        <p:strVal val="visible"/>
                                      </p:to>
                                    </p:set>
                                    <p:animEffect filter="fade" transition="in">
                                      <p:cBhvr>
                                        <p:cTn dur="500"/>
                                        <p:tgtEl>
                                          <p:spTgt spid="5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8" st="8"/>
                                            </p:txEl>
                                          </p:spTgt>
                                        </p:tgtEl>
                                        <p:attrNameLst>
                                          <p:attrName>style.visibility</p:attrName>
                                        </p:attrNameLst>
                                      </p:cBhvr>
                                      <p:to>
                                        <p:strVal val="visible"/>
                                      </p:to>
                                    </p:set>
                                    <p:animEffect filter="fade" transition="in">
                                      <p:cBhvr>
                                        <p:cTn dur="500"/>
                                        <p:tgtEl>
                                          <p:spTgt spid="5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9">
                                            <p:txEl>
                                              <p:pRg end="9" st="9"/>
                                            </p:txEl>
                                          </p:spTgt>
                                        </p:tgtEl>
                                        <p:attrNameLst>
                                          <p:attrName>style.visibility</p:attrName>
                                        </p:attrNameLst>
                                      </p:cBhvr>
                                      <p:to>
                                        <p:strVal val="visible"/>
                                      </p:to>
                                    </p:set>
                                    <p:animEffect filter="fade" transition="in">
                                      <p:cBhvr>
                                        <p:cTn dur="500"/>
                                        <p:tgtEl>
                                          <p:spTgt spid="5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58"/>
          <p:cNvSpPr txBox="1"/>
          <p:nvPr>
            <p:ph type="title"/>
          </p:nvPr>
        </p:nvSpPr>
        <p:spPr>
          <a:xfrm>
            <a:off x="1265082" y="0"/>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909"/>
              </a:lnSpc>
              <a:spcBef>
                <a:spcPts val="0"/>
              </a:spcBef>
              <a:spcAft>
                <a:spcPts val="0"/>
              </a:spcAft>
              <a:buClr>
                <a:schemeClr val="dk1"/>
              </a:buClr>
              <a:buSzPts val="4400"/>
              <a:buFont typeface="Calibri"/>
              <a:buNone/>
            </a:pPr>
            <a:r>
              <a:rPr lang="en-US"/>
              <a:t>Interest Arbitrage a Key Determinant of Forward Rates</a:t>
            </a:r>
            <a:endParaRPr/>
          </a:p>
        </p:txBody>
      </p:sp>
      <p:sp>
        <p:nvSpPr>
          <p:cNvPr id="577" name="Google Shape;577;p58"/>
          <p:cNvSpPr txBox="1"/>
          <p:nvPr>
            <p:ph idx="1" type="body"/>
          </p:nvPr>
        </p:nvSpPr>
        <p:spPr>
          <a:xfrm>
            <a:off x="2073050" y="1939080"/>
            <a:ext cx="7772400"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lang="en-US" sz="3600"/>
              <a:t>Investors selling forward the currencies of high-interest rate nations</a:t>
            </a:r>
            <a:endParaRPr/>
          </a:p>
          <a:p>
            <a:pPr indent="-228600" lvl="1" marL="685800" rtl="0" algn="l">
              <a:lnSpc>
                <a:spcPct val="90000"/>
              </a:lnSpc>
              <a:spcBef>
                <a:spcPts val="500"/>
              </a:spcBef>
              <a:spcAft>
                <a:spcPts val="0"/>
              </a:spcAft>
              <a:buClr>
                <a:srgbClr val="0000FF"/>
              </a:buClr>
              <a:buSzPts val="3200"/>
              <a:buChar char="•"/>
            </a:pPr>
            <a:r>
              <a:rPr i="1" lang="en-US" sz="3200">
                <a:solidFill>
                  <a:srgbClr val="0000FF"/>
                </a:solidFill>
              </a:rPr>
              <a:t>forward rate discount</a:t>
            </a:r>
            <a:endParaRPr/>
          </a:p>
          <a:p>
            <a:pPr indent="-50800" lvl="1" marL="685800" rtl="0" algn="l">
              <a:lnSpc>
                <a:spcPct val="90000"/>
              </a:lnSpc>
              <a:spcBef>
                <a:spcPts val="500"/>
              </a:spcBef>
              <a:spcAft>
                <a:spcPts val="0"/>
              </a:spcAft>
              <a:buClr>
                <a:schemeClr val="dk1"/>
              </a:buClr>
              <a:buSzPts val="2800"/>
              <a:buNone/>
            </a:pPr>
            <a:r>
              <a:t/>
            </a:r>
            <a:endParaRPr i="1">
              <a:solidFill>
                <a:srgbClr val="0000FF"/>
              </a:solidFill>
            </a:endParaRPr>
          </a:p>
          <a:p>
            <a:pPr indent="-228600" lvl="0" marL="228600" rtl="0" algn="l">
              <a:lnSpc>
                <a:spcPct val="90000"/>
              </a:lnSpc>
              <a:spcBef>
                <a:spcPts val="1000"/>
              </a:spcBef>
              <a:spcAft>
                <a:spcPts val="0"/>
              </a:spcAft>
              <a:buClr>
                <a:schemeClr val="dk1"/>
              </a:buClr>
              <a:buSzPts val="3600"/>
              <a:buChar char="•"/>
            </a:pPr>
            <a:r>
              <a:rPr lang="en-US" sz="3600"/>
              <a:t>Investors buy forward the currencies of low-interest rate nations</a:t>
            </a:r>
            <a:endParaRPr/>
          </a:p>
          <a:p>
            <a:pPr indent="-228600" lvl="1" marL="685800" rtl="0" algn="l">
              <a:lnSpc>
                <a:spcPct val="90000"/>
              </a:lnSpc>
              <a:spcBef>
                <a:spcPts val="500"/>
              </a:spcBef>
              <a:spcAft>
                <a:spcPts val="0"/>
              </a:spcAft>
              <a:buClr>
                <a:srgbClr val="0000FF"/>
              </a:buClr>
              <a:buSzPts val="3200"/>
              <a:buChar char="•"/>
            </a:pPr>
            <a:r>
              <a:rPr i="1" lang="en-US" sz="3200">
                <a:solidFill>
                  <a:srgbClr val="0000FF"/>
                </a:solidFill>
              </a:rPr>
              <a:t>forward rate premium</a:t>
            </a:r>
            <a:endParaRPr/>
          </a:p>
        </p:txBody>
      </p:sp>
      <p:sp>
        <p:nvSpPr>
          <p:cNvPr id="578" name="Google Shape;578;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0" st="0"/>
                                            </p:txEl>
                                          </p:spTgt>
                                        </p:tgtEl>
                                        <p:attrNameLst>
                                          <p:attrName>style.visibility</p:attrName>
                                        </p:attrNameLst>
                                      </p:cBhvr>
                                      <p:to>
                                        <p:strVal val="visible"/>
                                      </p:to>
                                    </p:set>
                                    <p:animEffect filter="fade" transition="in">
                                      <p:cBhvr>
                                        <p:cTn dur="500"/>
                                        <p:tgtEl>
                                          <p:spTgt spid="5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1" st="1"/>
                                            </p:txEl>
                                          </p:spTgt>
                                        </p:tgtEl>
                                        <p:attrNameLst>
                                          <p:attrName>style.visibility</p:attrName>
                                        </p:attrNameLst>
                                      </p:cBhvr>
                                      <p:to>
                                        <p:strVal val="visible"/>
                                      </p:to>
                                    </p:set>
                                    <p:animEffect filter="fade" transition="in">
                                      <p:cBhvr>
                                        <p:cTn dur="500"/>
                                        <p:tgtEl>
                                          <p:spTgt spid="5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2" st="2"/>
                                            </p:txEl>
                                          </p:spTgt>
                                        </p:tgtEl>
                                        <p:attrNameLst>
                                          <p:attrName>style.visibility</p:attrName>
                                        </p:attrNameLst>
                                      </p:cBhvr>
                                      <p:to>
                                        <p:strVal val="visible"/>
                                      </p:to>
                                    </p:set>
                                    <p:animEffect filter="fade" transition="in">
                                      <p:cBhvr>
                                        <p:cTn dur="500"/>
                                        <p:tgtEl>
                                          <p:spTgt spid="5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3" st="3"/>
                                            </p:txEl>
                                          </p:spTgt>
                                        </p:tgtEl>
                                        <p:attrNameLst>
                                          <p:attrName>style.visibility</p:attrName>
                                        </p:attrNameLst>
                                      </p:cBhvr>
                                      <p:to>
                                        <p:strVal val="visible"/>
                                      </p:to>
                                    </p:set>
                                    <p:animEffect filter="fade" transition="in">
                                      <p:cBhvr>
                                        <p:cTn dur="500"/>
                                        <p:tgtEl>
                                          <p:spTgt spid="5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7">
                                            <p:txEl>
                                              <p:pRg end="4" st="4"/>
                                            </p:txEl>
                                          </p:spTgt>
                                        </p:tgtEl>
                                        <p:attrNameLst>
                                          <p:attrName>style.visibility</p:attrName>
                                        </p:attrNameLst>
                                      </p:cBhvr>
                                      <p:to>
                                        <p:strVal val="visible"/>
                                      </p:to>
                                    </p:set>
                                    <p:animEffect filter="fade" transition="in">
                                      <p:cBhvr>
                                        <p:cTn dur="500"/>
                                        <p:tgtEl>
                                          <p:spTgt spid="57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9"/>
          <p:cNvSpPr txBox="1"/>
          <p:nvPr>
            <p:ph type="title"/>
          </p:nvPr>
        </p:nvSpPr>
        <p:spPr>
          <a:xfrm>
            <a:off x="1560918" y="94666"/>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Summary</a:t>
            </a:r>
            <a:endParaRPr/>
          </a:p>
        </p:txBody>
      </p:sp>
      <p:sp>
        <p:nvSpPr>
          <p:cNvPr id="584" name="Google Shape;584;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a:t>Speculation</a:t>
            </a:r>
            <a:endParaRPr/>
          </a:p>
          <a:p>
            <a:pPr indent="-228600" lvl="1" marL="685800" rtl="0" algn="l">
              <a:lnSpc>
                <a:spcPct val="90000"/>
              </a:lnSpc>
              <a:spcBef>
                <a:spcPts val="500"/>
              </a:spcBef>
              <a:spcAft>
                <a:spcPts val="0"/>
              </a:spcAft>
              <a:buClr>
                <a:schemeClr val="dk1"/>
              </a:buClr>
              <a:buSzPts val="2800"/>
              <a:buChar char="•"/>
            </a:pPr>
            <a:r>
              <a:rPr lang="en-US"/>
              <a:t>Betting on what will happen in future</a:t>
            </a:r>
            <a:endParaRPr/>
          </a:p>
          <a:p>
            <a:pPr indent="-228600" lvl="1" marL="685800" rtl="0" algn="l">
              <a:lnSpc>
                <a:spcPct val="90000"/>
              </a:lnSpc>
              <a:spcBef>
                <a:spcPts val="500"/>
              </a:spcBef>
              <a:spcAft>
                <a:spcPts val="0"/>
              </a:spcAft>
              <a:buClr>
                <a:schemeClr val="dk1"/>
              </a:buClr>
              <a:buSzPts val="2800"/>
              <a:buChar char="•"/>
            </a:pPr>
            <a:r>
              <a:rPr lang="en-US"/>
              <a:t>Involves risk, depends on what actually happens in future</a:t>
            </a:r>
            <a:endParaRPr/>
          </a:p>
          <a:p>
            <a:pPr indent="-50800" lvl="1" marL="685800" rtl="0" algn="l">
              <a:lnSpc>
                <a:spcPct val="90000"/>
              </a:lnSpc>
              <a:spcBef>
                <a:spcPts val="5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3200"/>
              <a:buChar char="•"/>
            </a:pPr>
            <a:r>
              <a:rPr lang="en-US"/>
              <a:t>Arbitrage</a:t>
            </a:r>
            <a:endParaRPr/>
          </a:p>
          <a:p>
            <a:pPr indent="-228600" lvl="1" marL="685800" rtl="0" algn="l">
              <a:lnSpc>
                <a:spcPct val="90000"/>
              </a:lnSpc>
              <a:spcBef>
                <a:spcPts val="500"/>
              </a:spcBef>
              <a:spcAft>
                <a:spcPts val="0"/>
              </a:spcAft>
              <a:buClr>
                <a:schemeClr val="dk1"/>
              </a:buClr>
              <a:buSzPts val="2800"/>
              <a:buChar char="•"/>
            </a:pPr>
            <a:r>
              <a:rPr lang="en-US"/>
              <a:t>Exploits inconsistencies NOW</a:t>
            </a:r>
            <a:endParaRPr/>
          </a:p>
          <a:p>
            <a:pPr indent="-228600" lvl="1" marL="685800" rtl="0" algn="l">
              <a:lnSpc>
                <a:spcPct val="90000"/>
              </a:lnSpc>
              <a:spcBef>
                <a:spcPts val="500"/>
              </a:spcBef>
              <a:spcAft>
                <a:spcPts val="0"/>
              </a:spcAft>
              <a:buClr>
                <a:schemeClr val="dk1"/>
              </a:buClr>
              <a:buSzPts val="2800"/>
              <a:buChar char="•"/>
            </a:pPr>
            <a:r>
              <a:rPr lang="en-US"/>
              <a:t>Simultaneous, immediate transactions</a:t>
            </a:r>
            <a:endParaRPr/>
          </a:p>
          <a:p>
            <a:pPr indent="-228600" lvl="1" marL="685800" rtl="0" algn="l">
              <a:lnSpc>
                <a:spcPct val="90000"/>
              </a:lnSpc>
              <a:spcBef>
                <a:spcPts val="500"/>
              </a:spcBef>
              <a:spcAft>
                <a:spcPts val="0"/>
              </a:spcAft>
              <a:buClr>
                <a:schemeClr val="dk1"/>
              </a:buClr>
              <a:buSzPts val="2800"/>
              <a:buChar char="•"/>
            </a:pPr>
            <a:r>
              <a:rPr lang="en-US"/>
              <a:t>No risk, rates locked in now</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60"/>
          <p:cNvSpPr txBox="1"/>
          <p:nvPr>
            <p:ph type="ctrTitle"/>
          </p:nvPr>
        </p:nvSpPr>
        <p:spPr>
          <a:xfrm>
            <a:off x="2519086" y="2552700"/>
            <a:ext cx="7391400" cy="23622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lang="en-US" sz="3200">
                <a:latin typeface="Calibri"/>
                <a:ea typeface="Calibri"/>
                <a:cs typeface="Calibri"/>
                <a:sym typeface="Calibri"/>
              </a:rPr>
              <a:t>These slides have examples of 3-point arbitrage followed by some example problems on arbitrage and hedging.  </a:t>
            </a:r>
            <a:endParaRPr/>
          </a:p>
        </p:txBody>
      </p:sp>
      <p:sp>
        <p:nvSpPr>
          <p:cNvPr id="590" name="Google Shape;590;p60"/>
          <p:cNvSpPr txBox="1"/>
          <p:nvPr>
            <p:ph idx="1" type="subTitle"/>
          </p:nvPr>
        </p:nvSpPr>
        <p:spPr>
          <a:xfrm>
            <a:off x="2653556" y="1905000"/>
            <a:ext cx="6934200" cy="129540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4400"/>
              <a:buNone/>
            </a:pPr>
            <a:r>
              <a:rPr b="1" i="1" lang="en-US" sz="4400">
                <a:latin typeface="Calibri"/>
                <a:ea typeface="Calibri"/>
                <a:cs typeface="Calibri"/>
                <a:sym typeface="Calibri"/>
              </a:rPr>
              <a:t>Additional slides  - NOT exam material  </a:t>
            </a:r>
            <a:endParaRPr b="1" i="1" sz="4400">
              <a:latin typeface="Calibri"/>
              <a:ea typeface="Calibri"/>
              <a:cs typeface="Calibri"/>
              <a:sym typeface="Calibri"/>
            </a:endParaRPr>
          </a:p>
        </p:txBody>
      </p:sp>
      <p:sp>
        <p:nvSpPr>
          <p:cNvPr id="591" name="Google Shape;591;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1"/>
          <p:cNvSpPr txBox="1"/>
          <p:nvPr>
            <p:ph type="title"/>
          </p:nvPr>
        </p:nvSpPr>
        <p:spPr>
          <a:xfrm>
            <a:off x="2895600" y="135320"/>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000"/>
              <a:buFont typeface="Calibri"/>
              <a:buNone/>
            </a:pPr>
            <a:r>
              <a:rPr lang="en-US" sz="4000"/>
              <a:t>3-Point Ex. Arbitrage</a:t>
            </a:r>
            <a:endParaRPr/>
          </a:p>
        </p:txBody>
      </p:sp>
      <p:sp>
        <p:nvSpPr>
          <p:cNvPr id="597" name="Google Shape;597;p61"/>
          <p:cNvSpPr txBox="1"/>
          <p:nvPr>
            <p:ph idx="1" type="body"/>
          </p:nvPr>
        </p:nvSpPr>
        <p:spPr>
          <a:xfrm>
            <a:off x="2209800" y="1739180"/>
            <a:ext cx="3810000" cy="4114800"/>
          </a:xfrm>
          <a:prstGeom prst="rect">
            <a:avLst/>
          </a:prstGeom>
          <a:noFill/>
          <a:ln>
            <a:noFill/>
          </a:ln>
        </p:spPr>
        <p:txBody>
          <a:bodyPr anchorCtr="0" anchor="t" bIns="44450" lIns="90475" spcFirstLastPara="1" rIns="90475" wrap="square" tIns="44450">
            <a:normAutofit fontScale="92500"/>
          </a:bodyPr>
          <a:lstStyle/>
          <a:p>
            <a:pPr indent="-228600" lvl="0" marL="228600" rtl="0" algn="l">
              <a:lnSpc>
                <a:spcPct val="90000"/>
              </a:lnSpc>
              <a:spcBef>
                <a:spcPts val="0"/>
              </a:spcBef>
              <a:spcAft>
                <a:spcPts val="0"/>
              </a:spcAft>
              <a:buClr>
                <a:schemeClr val="dk1"/>
              </a:buClr>
              <a:buSzPct val="100000"/>
              <a:buChar char="•"/>
            </a:pPr>
            <a:r>
              <a:rPr lang="en-US"/>
              <a:t>3 markets; $, €, and £ selling for the same price in each market</a:t>
            </a:r>
            <a:endParaRPr/>
          </a:p>
          <a:p>
            <a:pPr indent="-228600" lvl="0" marL="228600" rtl="0" algn="l">
              <a:lnSpc>
                <a:spcPct val="90000"/>
              </a:lnSpc>
              <a:spcBef>
                <a:spcPts val="1800"/>
              </a:spcBef>
              <a:spcAft>
                <a:spcPts val="0"/>
              </a:spcAft>
              <a:buClr>
                <a:schemeClr val="dk1"/>
              </a:buClr>
              <a:buSzPct val="100000"/>
              <a:buChar char="•"/>
            </a:pPr>
            <a:r>
              <a:rPr lang="en-US"/>
              <a:t>Any chance for arbitrage?</a:t>
            </a:r>
            <a:endParaRPr/>
          </a:p>
          <a:p>
            <a:pPr indent="-228600" lvl="0" marL="228600" rtl="0" algn="l">
              <a:lnSpc>
                <a:spcPct val="90000"/>
              </a:lnSpc>
              <a:spcBef>
                <a:spcPts val="1800"/>
              </a:spcBef>
              <a:spcAft>
                <a:spcPts val="0"/>
              </a:spcAft>
              <a:buClr>
                <a:schemeClr val="dk1"/>
              </a:buClr>
              <a:buSzPct val="100000"/>
              <a:buChar char="•"/>
            </a:pPr>
            <a:r>
              <a:rPr lang="en-US"/>
              <a:t>No 2-point arb.</a:t>
            </a:r>
            <a:endParaRPr/>
          </a:p>
          <a:p>
            <a:pPr indent="-228600" lvl="0" marL="228600" rtl="0" algn="l">
              <a:lnSpc>
                <a:spcPct val="90000"/>
              </a:lnSpc>
              <a:spcBef>
                <a:spcPts val="1800"/>
              </a:spcBef>
              <a:spcAft>
                <a:spcPts val="0"/>
              </a:spcAft>
              <a:buClr>
                <a:schemeClr val="dk1"/>
              </a:buClr>
              <a:buSzPct val="100000"/>
              <a:buChar char="•"/>
            </a:pPr>
            <a:r>
              <a:rPr lang="en-US"/>
              <a:t>BUT, opportunity for 3-point arbitrage</a:t>
            </a:r>
            <a:endParaRPr/>
          </a:p>
        </p:txBody>
      </p:sp>
      <p:sp>
        <p:nvSpPr>
          <p:cNvPr id="598" name="Google Shape;598;p61"/>
          <p:cNvSpPr txBox="1"/>
          <p:nvPr>
            <p:ph idx="2" type="body"/>
          </p:nvPr>
        </p:nvSpPr>
        <p:spPr>
          <a:xfrm>
            <a:off x="6172200" y="1825625"/>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200"/>
              <a:buFont typeface="Calibri"/>
              <a:buNone/>
            </a:pPr>
            <a:r>
              <a:rPr lang="en-US"/>
              <a:t> </a:t>
            </a:r>
            <a:endParaRPr/>
          </a:p>
        </p:txBody>
      </p:sp>
      <p:cxnSp>
        <p:nvCxnSpPr>
          <p:cNvPr id="599" name="Google Shape;599;p61"/>
          <p:cNvCxnSpPr/>
          <p:nvPr/>
        </p:nvCxnSpPr>
        <p:spPr>
          <a:xfrm flipH="1">
            <a:off x="7189788" y="2643188"/>
            <a:ext cx="1243012" cy="1878012"/>
          </a:xfrm>
          <a:prstGeom prst="straightConnector1">
            <a:avLst/>
          </a:prstGeom>
          <a:noFill/>
          <a:ln cap="flat" cmpd="sng" w="50800">
            <a:solidFill>
              <a:schemeClr val="dk1"/>
            </a:solidFill>
            <a:prstDash val="dot"/>
            <a:round/>
            <a:headEnd len="med" w="med" type="none"/>
            <a:tailEnd len="med" w="med" type="none"/>
          </a:ln>
        </p:spPr>
      </p:cxnSp>
      <p:cxnSp>
        <p:nvCxnSpPr>
          <p:cNvPr id="600" name="Google Shape;600;p61"/>
          <p:cNvCxnSpPr/>
          <p:nvPr/>
        </p:nvCxnSpPr>
        <p:spPr>
          <a:xfrm>
            <a:off x="7367588" y="4572000"/>
            <a:ext cx="2182812" cy="0"/>
          </a:xfrm>
          <a:prstGeom prst="straightConnector1">
            <a:avLst/>
          </a:prstGeom>
          <a:noFill/>
          <a:ln cap="flat" cmpd="sng" w="50800">
            <a:solidFill>
              <a:schemeClr val="dk1"/>
            </a:solidFill>
            <a:prstDash val="dot"/>
            <a:round/>
            <a:headEnd len="med" w="med" type="none"/>
            <a:tailEnd len="med" w="med" type="none"/>
          </a:ln>
        </p:spPr>
      </p:cxnSp>
      <p:cxnSp>
        <p:nvCxnSpPr>
          <p:cNvPr id="601" name="Google Shape;601;p61"/>
          <p:cNvCxnSpPr/>
          <p:nvPr/>
        </p:nvCxnSpPr>
        <p:spPr>
          <a:xfrm>
            <a:off x="8434388" y="2643188"/>
            <a:ext cx="1116012" cy="1878012"/>
          </a:xfrm>
          <a:prstGeom prst="straightConnector1">
            <a:avLst/>
          </a:prstGeom>
          <a:noFill/>
          <a:ln cap="flat" cmpd="sng" w="50800">
            <a:solidFill>
              <a:schemeClr val="dk1"/>
            </a:solidFill>
            <a:prstDash val="dot"/>
            <a:round/>
            <a:headEnd len="med" w="med" type="none"/>
            <a:tailEnd len="med" w="med" type="none"/>
          </a:ln>
        </p:spPr>
      </p:cxnSp>
      <p:sp>
        <p:nvSpPr>
          <p:cNvPr id="602" name="Google Shape;602;p61"/>
          <p:cNvSpPr/>
          <p:nvPr/>
        </p:nvSpPr>
        <p:spPr>
          <a:xfrm>
            <a:off x="9372600" y="4648200"/>
            <a:ext cx="1143000" cy="6096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Frankfurt</a:t>
            </a:r>
            <a:endParaRPr/>
          </a:p>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603" name="Google Shape;603;p61"/>
          <p:cNvSpPr/>
          <p:nvPr/>
        </p:nvSpPr>
        <p:spPr>
          <a:xfrm>
            <a:off x="7924800" y="2209800"/>
            <a:ext cx="10668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London</a:t>
            </a:r>
            <a:endParaRPr/>
          </a:p>
        </p:txBody>
      </p:sp>
      <p:sp>
        <p:nvSpPr>
          <p:cNvPr id="604" name="Google Shape;604;p61"/>
          <p:cNvSpPr/>
          <p:nvPr/>
        </p:nvSpPr>
        <p:spPr>
          <a:xfrm>
            <a:off x="7086600" y="4648200"/>
            <a:ext cx="6096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NY</a:t>
            </a:r>
            <a:endParaRPr/>
          </a:p>
        </p:txBody>
      </p:sp>
      <p:sp>
        <p:nvSpPr>
          <p:cNvPr id="605" name="Google Shape;605;p61"/>
          <p:cNvSpPr txBox="1"/>
          <p:nvPr/>
        </p:nvSpPr>
        <p:spPr>
          <a:xfrm>
            <a:off x="7696200" y="4724401"/>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€ 1.15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(€=$.86)</a:t>
            </a:r>
            <a:endParaRPr/>
          </a:p>
        </p:txBody>
      </p:sp>
      <p:sp>
        <p:nvSpPr>
          <p:cNvPr id="606" name="Google Shape;606;p61"/>
          <p:cNvSpPr txBox="1"/>
          <p:nvPr/>
        </p:nvSpPr>
        <p:spPr>
          <a:xfrm>
            <a:off x="5942380" y="3200401"/>
            <a:ext cx="1676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£=$1.65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($=£ 0.606)</a:t>
            </a:r>
            <a:endParaRPr/>
          </a:p>
        </p:txBody>
      </p:sp>
      <p:sp>
        <p:nvSpPr>
          <p:cNvPr id="607" name="Google Shape;607;p61"/>
          <p:cNvSpPr txBox="1"/>
          <p:nvPr/>
        </p:nvSpPr>
        <p:spPr>
          <a:xfrm>
            <a:off x="9144000" y="3200401"/>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£0.5</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€2)</a:t>
            </a:r>
            <a:endParaRPr/>
          </a:p>
        </p:txBody>
      </p:sp>
      <p:sp>
        <p:nvSpPr>
          <p:cNvPr id="608" name="Google Shape;608;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dk1"/>
                </a:solidFill>
              </a:rPr>
              <a:t>‹#›</a:t>
            </a:fld>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xEl>
                                              <p:pRg end="0" st="0"/>
                                            </p:txEl>
                                          </p:spTgt>
                                        </p:tgtEl>
                                        <p:attrNameLst>
                                          <p:attrName>style.visibility</p:attrName>
                                        </p:attrNameLst>
                                      </p:cBhvr>
                                      <p:to>
                                        <p:strVal val="visible"/>
                                      </p:to>
                                    </p:set>
                                    <p:animEffect filter="fade" transition="in">
                                      <p:cBhvr>
                                        <p:cTn dur="500"/>
                                        <p:tgtEl>
                                          <p:spTgt spid="5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xEl>
                                              <p:pRg end="1" st="1"/>
                                            </p:txEl>
                                          </p:spTgt>
                                        </p:tgtEl>
                                        <p:attrNameLst>
                                          <p:attrName>style.visibility</p:attrName>
                                        </p:attrNameLst>
                                      </p:cBhvr>
                                      <p:to>
                                        <p:strVal val="visible"/>
                                      </p:to>
                                    </p:set>
                                    <p:animEffect filter="fade" transition="in">
                                      <p:cBhvr>
                                        <p:cTn dur="500"/>
                                        <p:tgtEl>
                                          <p:spTgt spid="5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xEl>
                                              <p:pRg end="2" st="2"/>
                                            </p:txEl>
                                          </p:spTgt>
                                        </p:tgtEl>
                                        <p:attrNameLst>
                                          <p:attrName>style.visibility</p:attrName>
                                        </p:attrNameLst>
                                      </p:cBhvr>
                                      <p:to>
                                        <p:strVal val="visible"/>
                                      </p:to>
                                    </p:set>
                                    <p:animEffect filter="fade" transition="in">
                                      <p:cBhvr>
                                        <p:cTn dur="500"/>
                                        <p:tgtEl>
                                          <p:spTgt spid="5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7">
                                            <p:txEl>
                                              <p:pRg end="3" st="3"/>
                                            </p:txEl>
                                          </p:spTgt>
                                        </p:tgtEl>
                                        <p:attrNameLst>
                                          <p:attrName>style.visibility</p:attrName>
                                        </p:attrNameLst>
                                      </p:cBhvr>
                                      <p:to>
                                        <p:strVal val="visible"/>
                                      </p:to>
                                    </p:set>
                                    <p:animEffect filter="fade" transition="in">
                                      <p:cBhvr>
                                        <p:cTn dur="500"/>
                                        <p:tgtEl>
                                          <p:spTgt spid="59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62"/>
          <p:cNvSpPr txBox="1"/>
          <p:nvPr>
            <p:ph type="title"/>
          </p:nvPr>
        </p:nvSpPr>
        <p:spPr>
          <a:xfrm>
            <a:off x="2895600" y="148767"/>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3-Point Ex. Arbitrage</a:t>
            </a:r>
            <a:endParaRPr/>
          </a:p>
        </p:txBody>
      </p:sp>
      <p:sp>
        <p:nvSpPr>
          <p:cNvPr id="614" name="Google Shape;614;p62"/>
          <p:cNvSpPr txBox="1"/>
          <p:nvPr>
            <p:ph idx="1" type="body"/>
          </p:nvPr>
        </p:nvSpPr>
        <p:spPr>
          <a:xfrm>
            <a:off x="2209800" y="1599007"/>
            <a:ext cx="3810000" cy="4114800"/>
          </a:xfrm>
          <a:prstGeom prst="rect">
            <a:avLst/>
          </a:prstGeom>
          <a:noFill/>
          <a:ln>
            <a:noFill/>
          </a:ln>
        </p:spPr>
        <p:txBody>
          <a:bodyPr anchorCtr="0" anchor="t" bIns="44450" lIns="90475" spcFirstLastPara="1" rIns="90475" wrap="square" tIns="4445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u="sng"/>
              <a:t>Definition</a:t>
            </a:r>
            <a:r>
              <a:rPr lang="en-US"/>
              <a:t>:  buying &amp; selling of 3 different currencies for risk- free profit</a:t>
            </a:r>
            <a:endParaRPr/>
          </a:p>
          <a:p>
            <a:pPr indent="-228600" lvl="0" marL="228600" rtl="0" algn="l">
              <a:lnSpc>
                <a:spcPct val="90000"/>
              </a:lnSpc>
              <a:spcBef>
                <a:spcPts val="1800"/>
              </a:spcBef>
              <a:spcAft>
                <a:spcPts val="0"/>
              </a:spcAft>
              <a:buClr>
                <a:schemeClr val="dk1"/>
              </a:buClr>
              <a:buSzPct val="100000"/>
              <a:buChar char="•"/>
            </a:pPr>
            <a:r>
              <a:rPr lang="en-US"/>
              <a:t>Need to calculate the </a:t>
            </a:r>
            <a:r>
              <a:rPr lang="en-US" u="sng"/>
              <a:t>CROSS RATE:</a:t>
            </a:r>
            <a:endParaRPr/>
          </a:p>
          <a:p>
            <a:pPr indent="-228600" lvl="0" marL="228600" rtl="0" algn="l">
              <a:lnSpc>
                <a:spcPct val="90000"/>
              </a:lnSpc>
              <a:spcBef>
                <a:spcPts val="1800"/>
              </a:spcBef>
              <a:spcAft>
                <a:spcPts val="0"/>
              </a:spcAft>
              <a:buClr>
                <a:schemeClr val="dk1"/>
              </a:buClr>
              <a:buSzPct val="100000"/>
              <a:buNone/>
            </a:pPr>
            <a:r>
              <a:rPr i="1" lang="en-US"/>
              <a:t>   Exchange rate between 2 currencies calculated via a 3rd currency</a:t>
            </a:r>
            <a:endParaRPr/>
          </a:p>
        </p:txBody>
      </p:sp>
      <p:sp>
        <p:nvSpPr>
          <p:cNvPr id="615" name="Google Shape;615;p62"/>
          <p:cNvSpPr txBox="1"/>
          <p:nvPr>
            <p:ph idx="2" type="body"/>
          </p:nvPr>
        </p:nvSpPr>
        <p:spPr>
          <a:xfrm>
            <a:off x="6172200" y="1839072"/>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200"/>
              <a:buFont typeface="Calibri"/>
              <a:buNone/>
            </a:pPr>
            <a:r>
              <a:rPr lang="en-US"/>
              <a:t> </a:t>
            </a:r>
            <a:endParaRPr/>
          </a:p>
        </p:txBody>
      </p:sp>
      <p:cxnSp>
        <p:nvCxnSpPr>
          <p:cNvPr id="616" name="Google Shape;616;p62"/>
          <p:cNvCxnSpPr/>
          <p:nvPr/>
        </p:nvCxnSpPr>
        <p:spPr>
          <a:xfrm flipH="1">
            <a:off x="7189788" y="2608470"/>
            <a:ext cx="1243012" cy="1878012"/>
          </a:xfrm>
          <a:prstGeom prst="straightConnector1">
            <a:avLst/>
          </a:prstGeom>
          <a:noFill/>
          <a:ln cap="flat" cmpd="sng" w="50800">
            <a:solidFill>
              <a:schemeClr val="dk1"/>
            </a:solidFill>
            <a:prstDash val="dot"/>
            <a:round/>
            <a:headEnd len="med" w="med" type="none"/>
            <a:tailEnd len="med" w="med" type="none"/>
          </a:ln>
        </p:spPr>
      </p:cxnSp>
      <p:cxnSp>
        <p:nvCxnSpPr>
          <p:cNvPr id="617" name="Google Shape;617;p62"/>
          <p:cNvCxnSpPr/>
          <p:nvPr/>
        </p:nvCxnSpPr>
        <p:spPr>
          <a:xfrm>
            <a:off x="7367588" y="4537282"/>
            <a:ext cx="2182812" cy="0"/>
          </a:xfrm>
          <a:prstGeom prst="straightConnector1">
            <a:avLst/>
          </a:prstGeom>
          <a:noFill/>
          <a:ln cap="flat" cmpd="sng" w="50800">
            <a:solidFill>
              <a:schemeClr val="dk1"/>
            </a:solidFill>
            <a:prstDash val="dot"/>
            <a:round/>
            <a:headEnd len="med" w="med" type="none"/>
            <a:tailEnd len="med" w="med" type="none"/>
          </a:ln>
        </p:spPr>
      </p:cxnSp>
      <p:cxnSp>
        <p:nvCxnSpPr>
          <p:cNvPr id="618" name="Google Shape;618;p62"/>
          <p:cNvCxnSpPr/>
          <p:nvPr/>
        </p:nvCxnSpPr>
        <p:spPr>
          <a:xfrm>
            <a:off x="8434388" y="2608470"/>
            <a:ext cx="1116012" cy="1878012"/>
          </a:xfrm>
          <a:prstGeom prst="straightConnector1">
            <a:avLst/>
          </a:prstGeom>
          <a:noFill/>
          <a:ln cap="flat" cmpd="sng" w="50800">
            <a:solidFill>
              <a:schemeClr val="dk1"/>
            </a:solidFill>
            <a:prstDash val="dot"/>
            <a:round/>
            <a:headEnd len="med" w="med" type="none"/>
            <a:tailEnd len="med" w="med" type="none"/>
          </a:ln>
        </p:spPr>
      </p:cxnSp>
      <p:sp>
        <p:nvSpPr>
          <p:cNvPr id="619" name="Google Shape;619;p62"/>
          <p:cNvSpPr/>
          <p:nvPr/>
        </p:nvSpPr>
        <p:spPr>
          <a:xfrm>
            <a:off x="9372600" y="4613482"/>
            <a:ext cx="1143000" cy="6096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Frankfurt</a:t>
            </a:r>
            <a:endParaRPr/>
          </a:p>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620" name="Google Shape;620;p62"/>
          <p:cNvSpPr/>
          <p:nvPr/>
        </p:nvSpPr>
        <p:spPr>
          <a:xfrm>
            <a:off x="7086600" y="4613482"/>
            <a:ext cx="6096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NY</a:t>
            </a:r>
            <a:endParaRPr/>
          </a:p>
        </p:txBody>
      </p:sp>
      <p:sp>
        <p:nvSpPr>
          <p:cNvPr id="621" name="Google Shape;621;p62"/>
          <p:cNvSpPr/>
          <p:nvPr/>
        </p:nvSpPr>
        <p:spPr>
          <a:xfrm>
            <a:off x="7924800" y="2175082"/>
            <a:ext cx="10668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London</a:t>
            </a:r>
            <a:endParaRPr/>
          </a:p>
        </p:txBody>
      </p:sp>
      <p:sp>
        <p:nvSpPr>
          <p:cNvPr id="622" name="Google Shape;622;p62"/>
          <p:cNvSpPr txBox="1"/>
          <p:nvPr/>
        </p:nvSpPr>
        <p:spPr>
          <a:xfrm>
            <a:off x="7696200" y="4689683"/>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€ 1.15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(€=$.86)</a:t>
            </a:r>
            <a:endParaRPr/>
          </a:p>
        </p:txBody>
      </p:sp>
      <p:sp>
        <p:nvSpPr>
          <p:cNvPr id="623" name="Google Shape;623;p62"/>
          <p:cNvSpPr txBox="1"/>
          <p:nvPr/>
        </p:nvSpPr>
        <p:spPr>
          <a:xfrm>
            <a:off x="5980785" y="3165683"/>
            <a:ext cx="1676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£=$1.65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($=£ 0.606)</a:t>
            </a:r>
            <a:endParaRPr/>
          </a:p>
        </p:txBody>
      </p:sp>
      <p:sp>
        <p:nvSpPr>
          <p:cNvPr id="624" name="Google Shape;624;p62"/>
          <p:cNvSpPr txBox="1"/>
          <p:nvPr/>
        </p:nvSpPr>
        <p:spPr>
          <a:xfrm>
            <a:off x="9144000" y="3165683"/>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£0.5</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€2)</a:t>
            </a:r>
            <a:endParaRPr/>
          </a:p>
        </p:txBody>
      </p:sp>
      <p:sp>
        <p:nvSpPr>
          <p:cNvPr id="625" name="Google Shape;625;p62">
            <a:hlinkClick action="ppaction://hlinksldjump" r:id="rId3"/>
          </p:cNvPr>
          <p:cNvSpPr/>
          <p:nvPr/>
        </p:nvSpPr>
        <p:spPr>
          <a:xfrm>
            <a:off x="10058400" y="6109447"/>
            <a:ext cx="228600" cy="457200"/>
          </a:xfrm>
          <a:custGeom>
            <a:rect b="b" l="l" r="r" t="t"/>
            <a:pathLst>
              <a:path extrusionOk="0" h="120000" w="120000">
                <a:moveTo>
                  <a:pt x="0" y="0"/>
                </a:moveTo>
                <a:lnTo>
                  <a:pt x="120000" y="0"/>
                </a:lnTo>
                <a:lnTo>
                  <a:pt x="120000" y="120000"/>
                </a:lnTo>
                <a:lnTo>
                  <a:pt x="0" y="120000"/>
                </a:lnTo>
                <a:close/>
                <a:moveTo>
                  <a:pt x="105000" y="60000"/>
                </a:moveTo>
                <a:lnTo>
                  <a:pt x="15000" y="37500"/>
                </a:lnTo>
                <a:lnTo>
                  <a:pt x="15000" y="82500"/>
                </a:lnTo>
                <a:close/>
              </a:path>
              <a:path extrusionOk="0" fill="darken" h="120000" w="120000">
                <a:moveTo>
                  <a:pt x="105000" y="60000"/>
                </a:moveTo>
                <a:lnTo>
                  <a:pt x="15000" y="37500"/>
                </a:lnTo>
                <a:lnTo>
                  <a:pt x="15000" y="82500"/>
                </a:lnTo>
                <a:close/>
              </a:path>
              <a:path extrusionOk="0" fill="none" h="120000" w="120000">
                <a:moveTo>
                  <a:pt x="105000" y="60000"/>
                </a:moveTo>
                <a:lnTo>
                  <a:pt x="15000" y="82500"/>
                </a:lnTo>
                <a:lnTo>
                  <a:pt x="15000" y="375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62"/>
          <p:cNvSpPr txBox="1"/>
          <p:nvPr>
            <p:ph idx="12" type="sldNum"/>
          </p:nvPr>
        </p:nvSpPr>
        <p:spPr>
          <a:xfrm>
            <a:off x="8610600" y="6369797"/>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chemeClr val="dk1"/>
                </a:solidFill>
              </a:rPr>
              <a:t>‹#›</a:t>
            </a:fld>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xEl>
                                              <p:pRg end="0" st="0"/>
                                            </p:txEl>
                                          </p:spTgt>
                                        </p:tgtEl>
                                        <p:attrNameLst>
                                          <p:attrName>style.visibility</p:attrName>
                                        </p:attrNameLst>
                                      </p:cBhvr>
                                      <p:to>
                                        <p:strVal val="visible"/>
                                      </p:to>
                                    </p:set>
                                    <p:animEffect filter="fade" transition="in">
                                      <p:cBhvr>
                                        <p:cTn dur="500"/>
                                        <p:tgtEl>
                                          <p:spTgt spid="6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xEl>
                                              <p:pRg end="1" st="1"/>
                                            </p:txEl>
                                          </p:spTgt>
                                        </p:tgtEl>
                                        <p:attrNameLst>
                                          <p:attrName>style.visibility</p:attrName>
                                        </p:attrNameLst>
                                      </p:cBhvr>
                                      <p:to>
                                        <p:strVal val="visible"/>
                                      </p:to>
                                    </p:set>
                                    <p:animEffect filter="fade" transition="in">
                                      <p:cBhvr>
                                        <p:cTn dur="500"/>
                                        <p:tgtEl>
                                          <p:spTgt spid="6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4">
                                            <p:txEl>
                                              <p:pRg end="2" st="2"/>
                                            </p:txEl>
                                          </p:spTgt>
                                        </p:tgtEl>
                                        <p:attrNameLst>
                                          <p:attrName>style.visibility</p:attrName>
                                        </p:attrNameLst>
                                      </p:cBhvr>
                                      <p:to>
                                        <p:strVal val="visible"/>
                                      </p:to>
                                    </p:set>
                                    <p:animEffect filter="fade" transition="in">
                                      <p:cBhvr>
                                        <p:cTn dur="500"/>
                                        <p:tgtEl>
                                          <p:spTgt spid="61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63"/>
          <p:cNvSpPr txBox="1"/>
          <p:nvPr>
            <p:ph type="title"/>
          </p:nvPr>
        </p:nvSpPr>
        <p:spPr>
          <a:xfrm>
            <a:off x="2895600" y="96915"/>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800"/>
              <a:buFont typeface="Calibri"/>
              <a:buNone/>
            </a:pPr>
            <a:r>
              <a:rPr lang="en-US" sz="4800"/>
              <a:t>3-Point Ex. Arbitrage</a:t>
            </a:r>
            <a:endParaRPr/>
          </a:p>
        </p:txBody>
      </p:sp>
      <p:sp>
        <p:nvSpPr>
          <p:cNvPr id="632" name="Google Shape;632;p63"/>
          <p:cNvSpPr txBox="1"/>
          <p:nvPr>
            <p:ph idx="1" type="body"/>
          </p:nvPr>
        </p:nvSpPr>
        <p:spPr>
          <a:xfrm>
            <a:off x="838200" y="1825625"/>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200"/>
              <a:buFont typeface="Calibri"/>
              <a:buNone/>
            </a:pPr>
            <a:r>
              <a:rPr b="1" lang="en-US"/>
              <a:t>     </a:t>
            </a:r>
            <a:r>
              <a:rPr lang="en-US" sz="3600" u="sng"/>
              <a:t>New York</a:t>
            </a:r>
            <a:r>
              <a:rPr lang="en-US" sz="3600"/>
              <a:t> </a:t>
            </a:r>
            <a:endParaRPr/>
          </a:p>
          <a:p>
            <a:pPr indent="-228600" lvl="1" marL="685800" rtl="0" algn="l">
              <a:lnSpc>
                <a:spcPct val="90000"/>
              </a:lnSpc>
              <a:spcBef>
                <a:spcPts val="500"/>
              </a:spcBef>
              <a:spcAft>
                <a:spcPts val="0"/>
              </a:spcAft>
              <a:buClr>
                <a:schemeClr val="dk1"/>
              </a:buClr>
              <a:buSzPts val="2800"/>
              <a:buChar char="•"/>
            </a:pPr>
            <a:r>
              <a:rPr lang="en-US"/>
              <a:t> $= </a:t>
            </a:r>
            <a:r>
              <a:rPr b="1" lang="en-US">
                <a:latin typeface="Times New Roman"/>
                <a:ea typeface="Times New Roman"/>
                <a:cs typeface="Times New Roman"/>
                <a:sym typeface="Times New Roman"/>
              </a:rPr>
              <a:t>£</a:t>
            </a:r>
            <a:r>
              <a:rPr lang="en-US"/>
              <a:t> 0.606</a:t>
            </a:r>
            <a:endParaRPr/>
          </a:p>
          <a:p>
            <a:pPr indent="-228600" lvl="1" marL="685800" rtl="0" algn="l">
              <a:lnSpc>
                <a:spcPct val="90000"/>
              </a:lnSpc>
              <a:spcBef>
                <a:spcPts val="500"/>
              </a:spcBef>
              <a:spcAft>
                <a:spcPts val="0"/>
              </a:spcAft>
              <a:buClr>
                <a:schemeClr val="dk1"/>
              </a:buClr>
              <a:buSzPts val="2800"/>
              <a:buChar char="•"/>
            </a:pPr>
            <a:r>
              <a:rPr lang="en-US"/>
              <a:t> $= € 1.15</a:t>
            </a:r>
            <a:endParaRPr/>
          </a:p>
          <a:p>
            <a:pPr indent="-228600" lvl="0" marL="228600" rtl="0" algn="l">
              <a:lnSpc>
                <a:spcPct val="90000"/>
              </a:lnSpc>
              <a:spcBef>
                <a:spcPts val="1000"/>
              </a:spcBef>
              <a:spcAft>
                <a:spcPts val="0"/>
              </a:spcAft>
              <a:buClr>
                <a:schemeClr val="dk1"/>
              </a:buClr>
              <a:buSzPts val="3200"/>
              <a:buFont typeface="Calibri"/>
              <a:buNone/>
            </a:pPr>
            <a:r>
              <a:rPr i="1" lang="en-US"/>
              <a:t>     </a:t>
            </a:r>
            <a:r>
              <a:rPr i="1" lang="en-US">
                <a:solidFill>
                  <a:srgbClr val="FF0000"/>
                </a:solidFill>
              </a:rPr>
              <a:t>CROSSRATE:</a:t>
            </a:r>
            <a:br>
              <a:rPr i="1" lang="en-US">
                <a:solidFill>
                  <a:srgbClr val="FF0000"/>
                </a:solidFill>
              </a:rPr>
            </a:br>
            <a:r>
              <a:rPr i="1" lang="en-US">
                <a:solidFill>
                  <a:srgbClr val="FF0000"/>
                </a:solidFill>
              </a:rPr>
              <a:t>  (</a:t>
            </a:r>
            <a:r>
              <a:rPr b="1" lang="en-US">
                <a:solidFill>
                  <a:srgbClr val="FF0000"/>
                </a:solidFill>
                <a:latin typeface="Times New Roman"/>
                <a:ea typeface="Times New Roman"/>
                <a:cs typeface="Times New Roman"/>
                <a:sym typeface="Times New Roman"/>
              </a:rPr>
              <a:t>£</a:t>
            </a:r>
            <a:r>
              <a:rPr i="1" lang="en-US">
                <a:solidFill>
                  <a:srgbClr val="FF0000"/>
                </a:solidFill>
              </a:rPr>
              <a:t> = € 1.90)</a:t>
            </a:r>
            <a:endParaRPr>
              <a:solidFill>
                <a:srgbClr val="FF0000"/>
              </a:solidFill>
            </a:endParaRPr>
          </a:p>
          <a:p>
            <a:pPr indent="-228600" lvl="1" marL="685800" rtl="0" algn="l">
              <a:lnSpc>
                <a:spcPct val="90000"/>
              </a:lnSpc>
              <a:spcBef>
                <a:spcPts val="500"/>
              </a:spcBef>
              <a:spcAft>
                <a:spcPts val="0"/>
              </a:spcAft>
              <a:buClr>
                <a:schemeClr val="dk1"/>
              </a:buClr>
              <a:buSzPts val="3200"/>
              <a:buChar char="•"/>
            </a:pPr>
            <a:r>
              <a:rPr lang="en-US" sz="3200">
                <a:latin typeface="Times New Roman"/>
                <a:ea typeface="Times New Roman"/>
                <a:cs typeface="Times New Roman"/>
                <a:sym typeface="Times New Roman"/>
              </a:rPr>
              <a:t> </a:t>
            </a:r>
            <a:r>
              <a:rPr lang="en-US"/>
              <a:t>Therefore</a:t>
            </a:r>
            <a:r>
              <a:rPr lang="en-US" sz="3200">
                <a:latin typeface="Times New Roman"/>
                <a:ea typeface="Times New Roman"/>
                <a:cs typeface="Times New Roman"/>
                <a:sym typeface="Times New Roman"/>
              </a:rPr>
              <a:t>, </a:t>
            </a:r>
            <a:r>
              <a:rPr b="1" lang="en-US">
                <a:latin typeface="Times New Roman"/>
                <a:ea typeface="Times New Roman"/>
                <a:cs typeface="Times New Roman"/>
                <a:sym typeface="Times New Roman"/>
              </a:rPr>
              <a:t>£</a:t>
            </a:r>
            <a:r>
              <a:rPr lang="en-US"/>
              <a:t> cheap in NY (in €): </a:t>
            </a:r>
            <a:br>
              <a:rPr lang="en-US"/>
            </a:br>
            <a:r>
              <a:rPr lang="en-US"/>
              <a:t>it takes fewer € to buy a </a:t>
            </a:r>
            <a:r>
              <a:rPr b="1" lang="en-US">
                <a:latin typeface="Times New Roman"/>
                <a:ea typeface="Times New Roman"/>
                <a:cs typeface="Times New Roman"/>
                <a:sym typeface="Times New Roman"/>
              </a:rPr>
              <a:t>£</a:t>
            </a:r>
            <a:endParaRPr/>
          </a:p>
        </p:txBody>
      </p:sp>
      <p:sp>
        <p:nvSpPr>
          <p:cNvPr id="633" name="Google Shape;633;p63"/>
          <p:cNvSpPr txBox="1"/>
          <p:nvPr>
            <p:ph idx="2" type="body"/>
          </p:nvPr>
        </p:nvSpPr>
        <p:spPr>
          <a:xfrm>
            <a:off x="6172200" y="1825625"/>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accent4"/>
              </a:buClr>
              <a:buSzPts val="3200"/>
              <a:buFont typeface="Calibri"/>
              <a:buNone/>
            </a:pPr>
            <a:r>
              <a:rPr lang="en-US">
                <a:solidFill>
                  <a:schemeClr val="accent4"/>
                </a:solidFill>
              </a:rPr>
              <a:t> </a:t>
            </a:r>
            <a:endParaRPr/>
          </a:p>
        </p:txBody>
      </p:sp>
      <p:cxnSp>
        <p:nvCxnSpPr>
          <p:cNvPr id="634" name="Google Shape;634;p63"/>
          <p:cNvCxnSpPr/>
          <p:nvPr/>
        </p:nvCxnSpPr>
        <p:spPr>
          <a:xfrm flipH="1">
            <a:off x="7189788" y="2643188"/>
            <a:ext cx="1243012" cy="1878012"/>
          </a:xfrm>
          <a:prstGeom prst="straightConnector1">
            <a:avLst/>
          </a:prstGeom>
          <a:noFill/>
          <a:ln cap="flat" cmpd="sng" w="50800">
            <a:solidFill>
              <a:schemeClr val="dk1"/>
            </a:solidFill>
            <a:prstDash val="dot"/>
            <a:round/>
            <a:headEnd len="med" w="med" type="none"/>
            <a:tailEnd len="med" w="med" type="none"/>
          </a:ln>
        </p:spPr>
      </p:cxnSp>
      <p:cxnSp>
        <p:nvCxnSpPr>
          <p:cNvPr id="635" name="Google Shape;635;p63"/>
          <p:cNvCxnSpPr/>
          <p:nvPr/>
        </p:nvCxnSpPr>
        <p:spPr>
          <a:xfrm>
            <a:off x="7367588" y="4572000"/>
            <a:ext cx="2182812" cy="0"/>
          </a:xfrm>
          <a:prstGeom prst="straightConnector1">
            <a:avLst/>
          </a:prstGeom>
          <a:noFill/>
          <a:ln cap="flat" cmpd="sng" w="50800">
            <a:solidFill>
              <a:schemeClr val="dk1"/>
            </a:solidFill>
            <a:prstDash val="dot"/>
            <a:round/>
            <a:headEnd len="med" w="med" type="none"/>
            <a:tailEnd len="med" w="med" type="none"/>
          </a:ln>
        </p:spPr>
      </p:cxnSp>
      <p:cxnSp>
        <p:nvCxnSpPr>
          <p:cNvPr id="636" name="Google Shape;636;p63"/>
          <p:cNvCxnSpPr/>
          <p:nvPr/>
        </p:nvCxnSpPr>
        <p:spPr>
          <a:xfrm>
            <a:off x="8434388" y="2643188"/>
            <a:ext cx="1116012" cy="1878012"/>
          </a:xfrm>
          <a:prstGeom prst="straightConnector1">
            <a:avLst/>
          </a:prstGeom>
          <a:noFill/>
          <a:ln cap="flat" cmpd="sng" w="50800">
            <a:solidFill>
              <a:schemeClr val="dk1"/>
            </a:solidFill>
            <a:prstDash val="dot"/>
            <a:round/>
            <a:headEnd len="med" w="med" type="none"/>
            <a:tailEnd len="med" w="med" type="none"/>
          </a:ln>
        </p:spPr>
      </p:cxnSp>
      <p:sp>
        <p:nvSpPr>
          <p:cNvPr id="637" name="Google Shape;637;p63"/>
          <p:cNvSpPr/>
          <p:nvPr/>
        </p:nvSpPr>
        <p:spPr>
          <a:xfrm>
            <a:off x="9372600" y="4648200"/>
            <a:ext cx="1143000" cy="6096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Frankfurt</a:t>
            </a:r>
            <a:endParaRPr/>
          </a:p>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638" name="Google Shape;638;p63"/>
          <p:cNvSpPr/>
          <p:nvPr/>
        </p:nvSpPr>
        <p:spPr>
          <a:xfrm>
            <a:off x="7924800" y="2209800"/>
            <a:ext cx="10668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London</a:t>
            </a:r>
            <a:endParaRPr/>
          </a:p>
        </p:txBody>
      </p:sp>
      <p:sp>
        <p:nvSpPr>
          <p:cNvPr id="639" name="Google Shape;639;p63"/>
          <p:cNvSpPr/>
          <p:nvPr/>
        </p:nvSpPr>
        <p:spPr>
          <a:xfrm>
            <a:off x="7086600" y="4648200"/>
            <a:ext cx="6096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NY</a:t>
            </a:r>
            <a:endParaRPr/>
          </a:p>
        </p:txBody>
      </p:sp>
      <p:sp>
        <p:nvSpPr>
          <p:cNvPr id="640" name="Google Shape;640;p63"/>
          <p:cNvSpPr/>
          <p:nvPr/>
        </p:nvSpPr>
        <p:spPr>
          <a:xfrm>
            <a:off x="3657600" y="3352800"/>
            <a:ext cx="304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63"/>
          <p:cNvSpPr/>
          <p:nvPr/>
        </p:nvSpPr>
        <p:spPr>
          <a:xfrm>
            <a:off x="4953000" y="3352800"/>
            <a:ext cx="2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accent4"/>
              </a:solidFill>
              <a:latin typeface="Calibri"/>
              <a:ea typeface="Calibri"/>
              <a:cs typeface="Calibri"/>
              <a:sym typeface="Calibri"/>
            </a:endParaRPr>
          </a:p>
        </p:txBody>
      </p:sp>
      <p:sp>
        <p:nvSpPr>
          <p:cNvPr id="642" name="Google Shape;642;p63"/>
          <p:cNvSpPr txBox="1"/>
          <p:nvPr/>
        </p:nvSpPr>
        <p:spPr>
          <a:xfrm>
            <a:off x="7696200" y="4724401"/>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€ 1.15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(€=$.86)</a:t>
            </a:r>
            <a:endParaRPr/>
          </a:p>
        </p:txBody>
      </p:sp>
      <p:sp>
        <p:nvSpPr>
          <p:cNvPr id="643" name="Google Shape;643;p63"/>
          <p:cNvSpPr txBox="1"/>
          <p:nvPr/>
        </p:nvSpPr>
        <p:spPr>
          <a:xfrm>
            <a:off x="6172200" y="3200401"/>
            <a:ext cx="1676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£=$1.65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($=£ 0.606)</a:t>
            </a:r>
            <a:endParaRPr/>
          </a:p>
        </p:txBody>
      </p:sp>
      <p:sp>
        <p:nvSpPr>
          <p:cNvPr id="644" name="Google Shape;644;p63"/>
          <p:cNvSpPr txBox="1"/>
          <p:nvPr/>
        </p:nvSpPr>
        <p:spPr>
          <a:xfrm>
            <a:off x="9144000" y="3200401"/>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£0.5</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€2)</a:t>
            </a:r>
            <a:endParaRPr/>
          </a:p>
        </p:txBody>
      </p:sp>
      <p:sp>
        <p:nvSpPr>
          <p:cNvPr id="645" name="Google Shape;645;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xEl>
                                              <p:pRg end="0" st="0"/>
                                            </p:txEl>
                                          </p:spTgt>
                                        </p:tgtEl>
                                        <p:attrNameLst>
                                          <p:attrName>style.visibility</p:attrName>
                                        </p:attrNameLst>
                                      </p:cBhvr>
                                      <p:to>
                                        <p:strVal val="visible"/>
                                      </p:to>
                                    </p:set>
                                    <p:animEffect filter="fade" transition="in">
                                      <p:cBhvr>
                                        <p:cTn dur="500"/>
                                        <p:tgtEl>
                                          <p:spTgt spid="6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xEl>
                                              <p:pRg end="1" st="1"/>
                                            </p:txEl>
                                          </p:spTgt>
                                        </p:tgtEl>
                                        <p:attrNameLst>
                                          <p:attrName>style.visibility</p:attrName>
                                        </p:attrNameLst>
                                      </p:cBhvr>
                                      <p:to>
                                        <p:strVal val="visible"/>
                                      </p:to>
                                    </p:set>
                                    <p:animEffect filter="fade" transition="in">
                                      <p:cBhvr>
                                        <p:cTn dur="500"/>
                                        <p:tgtEl>
                                          <p:spTgt spid="6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xEl>
                                              <p:pRg end="2" st="2"/>
                                            </p:txEl>
                                          </p:spTgt>
                                        </p:tgtEl>
                                        <p:attrNameLst>
                                          <p:attrName>style.visibility</p:attrName>
                                        </p:attrNameLst>
                                      </p:cBhvr>
                                      <p:to>
                                        <p:strVal val="visible"/>
                                      </p:to>
                                    </p:set>
                                    <p:animEffect filter="fade" transition="in">
                                      <p:cBhvr>
                                        <p:cTn dur="500"/>
                                        <p:tgtEl>
                                          <p:spTgt spid="6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xEl>
                                              <p:pRg end="3" st="3"/>
                                            </p:txEl>
                                          </p:spTgt>
                                        </p:tgtEl>
                                        <p:attrNameLst>
                                          <p:attrName>style.visibility</p:attrName>
                                        </p:attrNameLst>
                                      </p:cBhvr>
                                      <p:to>
                                        <p:strVal val="visible"/>
                                      </p:to>
                                    </p:set>
                                    <p:animEffect filter="fade" transition="in">
                                      <p:cBhvr>
                                        <p:cTn dur="500"/>
                                        <p:tgtEl>
                                          <p:spTgt spid="6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2">
                                            <p:txEl>
                                              <p:pRg end="4" st="4"/>
                                            </p:txEl>
                                          </p:spTgt>
                                        </p:tgtEl>
                                        <p:attrNameLst>
                                          <p:attrName>style.visibility</p:attrName>
                                        </p:attrNameLst>
                                      </p:cBhvr>
                                      <p:to>
                                        <p:strVal val="visible"/>
                                      </p:to>
                                    </p:set>
                                    <p:animEffect filter="fade" transition="in">
                                      <p:cBhvr>
                                        <p:cTn dur="500"/>
                                        <p:tgtEl>
                                          <p:spTgt spid="632">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64"/>
          <p:cNvSpPr txBox="1"/>
          <p:nvPr>
            <p:ph type="title"/>
          </p:nvPr>
        </p:nvSpPr>
        <p:spPr>
          <a:xfrm>
            <a:off x="2895600" y="135320"/>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000"/>
              <a:buFont typeface="Calibri"/>
              <a:buNone/>
            </a:pPr>
            <a:r>
              <a:rPr lang="en-US" sz="4000"/>
              <a:t>3-Point Ex. Arbitrage</a:t>
            </a:r>
            <a:endParaRPr/>
          </a:p>
        </p:txBody>
      </p:sp>
      <p:sp>
        <p:nvSpPr>
          <p:cNvPr id="651" name="Google Shape;651;p64"/>
          <p:cNvSpPr txBox="1"/>
          <p:nvPr>
            <p:ph idx="1" type="body"/>
          </p:nvPr>
        </p:nvSpPr>
        <p:spPr>
          <a:xfrm>
            <a:off x="838200" y="1825625"/>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200"/>
              <a:buFont typeface="Calibri"/>
              <a:buNone/>
            </a:pPr>
            <a:r>
              <a:rPr b="1" lang="en-US"/>
              <a:t>      </a:t>
            </a:r>
            <a:r>
              <a:rPr lang="en-US" sz="3600" u="sng"/>
              <a:t>Frankfurt</a:t>
            </a:r>
            <a:r>
              <a:rPr lang="en-US"/>
              <a:t>  </a:t>
            </a:r>
            <a:endParaRPr/>
          </a:p>
          <a:p>
            <a:pPr indent="-228600" lvl="1" marL="685800" rtl="0" algn="l">
              <a:lnSpc>
                <a:spcPct val="90000"/>
              </a:lnSpc>
              <a:spcBef>
                <a:spcPts val="500"/>
              </a:spcBef>
              <a:spcAft>
                <a:spcPts val="0"/>
              </a:spcAft>
              <a:buClr>
                <a:schemeClr val="dk1"/>
              </a:buClr>
              <a:buSzPts val="2800"/>
              <a:buChar char="•"/>
            </a:pPr>
            <a:r>
              <a:rPr lang="en-US"/>
              <a:t> € = $.86</a:t>
            </a:r>
            <a:endParaRPr/>
          </a:p>
          <a:p>
            <a:pPr indent="-228600" lvl="1" marL="685800" rtl="0" algn="l">
              <a:lnSpc>
                <a:spcPct val="90000"/>
              </a:lnSpc>
              <a:spcBef>
                <a:spcPts val="500"/>
              </a:spcBef>
              <a:spcAft>
                <a:spcPts val="0"/>
              </a:spcAft>
              <a:buClr>
                <a:schemeClr val="dk1"/>
              </a:buClr>
              <a:buSzPts val="2800"/>
              <a:buChar char="•"/>
            </a:pPr>
            <a:r>
              <a:rPr lang="en-US"/>
              <a:t> € = </a:t>
            </a:r>
            <a:r>
              <a:rPr b="1" lang="en-US">
                <a:latin typeface="Times New Roman"/>
                <a:ea typeface="Times New Roman"/>
                <a:cs typeface="Times New Roman"/>
                <a:sym typeface="Times New Roman"/>
              </a:rPr>
              <a:t>£</a:t>
            </a:r>
            <a:r>
              <a:rPr lang="en-US"/>
              <a:t>0.5</a:t>
            </a:r>
            <a:endParaRPr/>
          </a:p>
          <a:p>
            <a:pPr indent="-228600" lvl="0" marL="228600" rtl="0" algn="l">
              <a:lnSpc>
                <a:spcPct val="90000"/>
              </a:lnSpc>
              <a:spcBef>
                <a:spcPts val="1000"/>
              </a:spcBef>
              <a:spcAft>
                <a:spcPts val="0"/>
              </a:spcAft>
              <a:buClr>
                <a:schemeClr val="dk1"/>
              </a:buClr>
              <a:buSzPts val="3200"/>
              <a:buFont typeface="Calibri"/>
              <a:buNone/>
            </a:pPr>
            <a:r>
              <a:rPr i="1" lang="en-US"/>
              <a:t>   </a:t>
            </a:r>
            <a:r>
              <a:rPr i="1" lang="en-US">
                <a:solidFill>
                  <a:srgbClr val="FF0000"/>
                </a:solidFill>
              </a:rPr>
              <a:t>CROSSRATE:</a:t>
            </a:r>
            <a:br>
              <a:rPr i="1" lang="en-US">
                <a:solidFill>
                  <a:srgbClr val="FF0000"/>
                </a:solidFill>
              </a:rPr>
            </a:br>
            <a:r>
              <a:rPr i="1" lang="en-US"/>
              <a:t> </a:t>
            </a:r>
            <a:r>
              <a:rPr i="1" lang="en-US">
                <a:solidFill>
                  <a:srgbClr val="FF0000"/>
                </a:solidFill>
              </a:rPr>
              <a:t>($=</a:t>
            </a:r>
            <a:r>
              <a:rPr b="1" i="1" lang="en-US">
                <a:solidFill>
                  <a:srgbClr val="FF0000"/>
                </a:solidFill>
                <a:latin typeface="Times New Roman"/>
                <a:ea typeface="Times New Roman"/>
                <a:cs typeface="Times New Roman"/>
                <a:sym typeface="Times New Roman"/>
              </a:rPr>
              <a:t>£</a:t>
            </a:r>
            <a:r>
              <a:rPr i="1" lang="en-US">
                <a:solidFill>
                  <a:srgbClr val="FF0000"/>
                </a:solidFill>
              </a:rPr>
              <a:t>0.58)</a:t>
            </a:r>
            <a:endParaRPr i="1" sz="2400">
              <a:solidFill>
                <a:srgbClr val="FF0000"/>
              </a:solidFill>
            </a:endParaRPr>
          </a:p>
          <a:p>
            <a:pPr indent="-228600" lvl="1" marL="685800" rtl="0" algn="l">
              <a:lnSpc>
                <a:spcPct val="90000"/>
              </a:lnSpc>
              <a:spcBef>
                <a:spcPts val="500"/>
              </a:spcBef>
              <a:spcAft>
                <a:spcPts val="0"/>
              </a:spcAft>
              <a:buClr>
                <a:schemeClr val="dk1"/>
              </a:buClr>
              <a:buSzPts val="2800"/>
              <a:buChar char="•"/>
            </a:pPr>
            <a:r>
              <a:rPr lang="en-US"/>
              <a:t>Therefore, $ is cheap in Frkft (in £’s): it takes fewer </a:t>
            </a:r>
            <a:r>
              <a:rPr b="1" lang="en-US">
                <a:latin typeface="Times New Roman"/>
                <a:ea typeface="Times New Roman"/>
                <a:cs typeface="Times New Roman"/>
                <a:sym typeface="Times New Roman"/>
              </a:rPr>
              <a:t>£</a:t>
            </a:r>
            <a:r>
              <a:rPr lang="en-US"/>
              <a:t> to buy a $</a:t>
            </a:r>
            <a:endParaRPr/>
          </a:p>
        </p:txBody>
      </p:sp>
      <p:sp>
        <p:nvSpPr>
          <p:cNvPr id="652" name="Google Shape;652;p64"/>
          <p:cNvSpPr txBox="1"/>
          <p:nvPr>
            <p:ph idx="2" type="body"/>
          </p:nvPr>
        </p:nvSpPr>
        <p:spPr>
          <a:xfrm>
            <a:off x="6172200" y="1825625"/>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200"/>
              <a:buFont typeface="Calibri"/>
              <a:buNone/>
            </a:pPr>
            <a:r>
              <a:rPr lang="en-US"/>
              <a:t> </a:t>
            </a:r>
            <a:endParaRPr/>
          </a:p>
        </p:txBody>
      </p:sp>
      <p:cxnSp>
        <p:nvCxnSpPr>
          <p:cNvPr id="653" name="Google Shape;653;p64"/>
          <p:cNvCxnSpPr/>
          <p:nvPr/>
        </p:nvCxnSpPr>
        <p:spPr>
          <a:xfrm flipH="1">
            <a:off x="7189788" y="2643188"/>
            <a:ext cx="1243012" cy="1878012"/>
          </a:xfrm>
          <a:prstGeom prst="straightConnector1">
            <a:avLst/>
          </a:prstGeom>
          <a:noFill/>
          <a:ln cap="flat" cmpd="sng" w="50800">
            <a:solidFill>
              <a:schemeClr val="dk1"/>
            </a:solidFill>
            <a:prstDash val="dot"/>
            <a:round/>
            <a:headEnd len="med" w="med" type="none"/>
            <a:tailEnd len="med" w="med" type="none"/>
          </a:ln>
        </p:spPr>
      </p:cxnSp>
      <p:cxnSp>
        <p:nvCxnSpPr>
          <p:cNvPr id="654" name="Google Shape;654;p64"/>
          <p:cNvCxnSpPr/>
          <p:nvPr/>
        </p:nvCxnSpPr>
        <p:spPr>
          <a:xfrm>
            <a:off x="7367588" y="4572000"/>
            <a:ext cx="2182812" cy="0"/>
          </a:xfrm>
          <a:prstGeom prst="straightConnector1">
            <a:avLst/>
          </a:prstGeom>
          <a:noFill/>
          <a:ln cap="flat" cmpd="sng" w="50800">
            <a:solidFill>
              <a:schemeClr val="dk1"/>
            </a:solidFill>
            <a:prstDash val="dot"/>
            <a:round/>
            <a:headEnd len="med" w="med" type="none"/>
            <a:tailEnd len="med" w="med" type="none"/>
          </a:ln>
        </p:spPr>
      </p:cxnSp>
      <p:cxnSp>
        <p:nvCxnSpPr>
          <p:cNvPr id="655" name="Google Shape;655;p64"/>
          <p:cNvCxnSpPr/>
          <p:nvPr/>
        </p:nvCxnSpPr>
        <p:spPr>
          <a:xfrm>
            <a:off x="8434388" y="2643188"/>
            <a:ext cx="1116012" cy="1878012"/>
          </a:xfrm>
          <a:prstGeom prst="straightConnector1">
            <a:avLst/>
          </a:prstGeom>
          <a:noFill/>
          <a:ln cap="flat" cmpd="sng" w="50800">
            <a:solidFill>
              <a:schemeClr val="dk1"/>
            </a:solidFill>
            <a:prstDash val="dot"/>
            <a:round/>
            <a:headEnd len="med" w="med" type="none"/>
            <a:tailEnd len="med" w="med" type="none"/>
          </a:ln>
        </p:spPr>
      </p:cxnSp>
      <p:sp>
        <p:nvSpPr>
          <p:cNvPr id="656" name="Google Shape;656;p64"/>
          <p:cNvSpPr/>
          <p:nvPr/>
        </p:nvSpPr>
        <p:spPr>
          <a:xfrm>
            <a:off x="9372600" y="4648200"/>
            <a:ext cx="1143000" cy="6096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Frankfurt</a:t>
            </a:r>
            <a:endParaRPr/>
          </a:p>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657" name="Google Shape;657;p64"/>
          <p:cNvSpPr/>
          <p:nvPr/>
        </p:nvSpPr>
        <p:spPr>
          <a:xfrm>
            <a:off x="7924800" y="2209800"/>
            <a:ext cx="10668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London</a:t>
            </a:r>
            <a:endParaRPr/>
          </a:p>
        </p:txBody>
      </p:sp>
      <p:sp>
        <p:nvSpPr>
          <p:cNvPr id="658" name="Google Shape;658;p64"/>
          <p:cNvSpPr/>
          <p:nvPr/>
        </p:nvSpPr>
        <p:spPr>
          <a:xfrm>
            <a:off x="7086600" y="4648200"/>
            <a:ext cx="6096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NY</a:t>
            </a:r>
            <a:endParaRPr/>
          </a:p>
        </p:txBody>
      </p:sp>
      <p:sp>
        <p:nvSpPr>
          <p:cNvPr id="659" name="Google Shape;659;p64"/>
          <p:cNvSpPr/>
          <p:nvPr/>
        </p:nvSpPr>
        <p:spPr>
          <a:xfrm>
            <a:off x="3657600" y="3352800"/>
            <a:ext cx="304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p64"/>
          <p:cNvSpPr/>
          <p:nvPr/>
        </p:nvSpPr>
        <p:spPr>
          <a:xfrm>
            <a:off x="4953000" y="3352800"/>
            <a:ext cx="2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p64"/>
          <p:cNvSpPr txBox="1"/>
          <p:nvPr/>
        </p:nvSpPr>
        <p:spPr>
          <a:xfrm>
            <a:off x="7696200" y="4648201"/>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Calibri"/>
                <a:ea typeface="Calibri"/>
                <a:cs typeface="Calibri"/>
                <a:sym typeface="Calibri"/>
              </a:rPr>
              <a:t>$= € 1.15</a:t>
            </a:r>
            <a:endParaRPr/>
          </a:p>
          <a:p>
            <a:pPr indent="0" lvl="0" marL="0" marR="0" rtl="0" algn="l">
              <a:spcBef>
                <a:spcPts val="0"/>
              </a:spcBef>
              <a:spcAft>
                <a:spcPts val="0"/>
              </a:spcAft>
              <a:buNone/>
            </a:pPr>
            <a:r>
              <a:rPr b="1" lang="en-US" sz="1800">
                <a:solidFill>
                  <a:srgbClr val="0000FF"/>
                </a:solidFill>
                <a:latin typeface="Calibri"/>
                <a:ea typeface="Calibri"/>
                <a:cs typeface="Calibri"/>
                <a:sym typeface="Calibri"/>
              </a:rPr>
              <a:t>(€=$.86)</a:t>
            </a:r>
            <a:endParaRPr/>
          </a:p>
        </p:txBody>
      </p:sp>
      <p:sp>
        <p:nvSpPr>
          <p:cNvPr id="662" name="Google Shape;662;p64"/>
          <p:cNvSpPr txBox="1"/>
          <p:nvPr/>
        </p:nvSpPr>
        <p:spPr>
          <a:xfrm>
            <a:off x="6172200" y="3124201"/>
            <a:ext cx="1676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Calibri"/>
                <a:ea typeface="Calibri"/>
                <a:cs typeface="Calibri"/>
                <a:sym typeface="Calibri"/>
              </a:rPr>
              <a:t>£=$1.65</a:t>
            </a:r>
            <a:endParaRPr/>
          </a:p>
          <a:p>
            <a:pPr indent="0" lvl="0" marL="0" marR="0" rtl="0" algn="l">
              <a:spcBef>
                <a:spcPts val="0"/>
              </a:spcBef>
              <a:spcAft>
                <a:spcPts val="0"/>
              </a:spcAft>
              <a:buNone/>
            </a:pPr>
            <a:r>
              <a:rPr b="1" lang="en-US" sz="1800">
                <a:solidFill>
                  <a:srgbClr val="0000FF"/>
                </a:solidFill>
                <a:latin typeface="Calibri"/>
                <a:ea typeface="Calibri"/>
                <a:cs typeface="Calibri"/>
                <a:sym typeface="Calibri"/>
              </a:rPr>
              <a:t>($=£ 0.606)</a:t>
            </a:r>
            <a:endParaRPr/>
          </a:p>
        </p:txBody>
      </p:sp>
      <p:sp>
        <p:nvSpPr>
          <p:cNvPr id="663" name="Google Shape;663;p64"/>
          <p:cNvSpPr txBox="1"/>
          <p:nvPr/>
        </p:nvSpPr>
        <p:spPr>
          <a:xfrm>
            <a:off x="9144000" y="3124201"/>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00FF"/>
                </a:solidFill>
                <a:latin typeface="Calibri"/>
                <a:ea typeface="Calibri"/>
                <a:cs typeface="Calibri"/>
                <a:sym typeface="Calibri"/>
              </a:rPr>
              <a:t>€= £0.5</a:t>
            </a:r>
            <a:endParaRPr b="1" sz="1800">
              <a:solidFill>
                <a:srgbClr val="0000FF"/>
              </a:solidFill>
              <a:latin typeface="Calibri"/>
              <a:ea typeface="Calibri"/>
              <a:cs typeface="Calibri"/>
              <a:sym typeface="Calibri"/>
            </a:endParaRPr>
          </a:p>
          <a:p>
            <a:pPr indent="0" lvl="0" marL="0" marR="0" rtl="0" algn="l">
              <a:spcBef>
                <a:spcPts val="0"/>
              </a:spcBef>
              <a:spcAft>
                <a:spcPts val="0"/>
              </a:spcAft>
              <a:buNone/>
            </a:pPr>
            <a:r>
              <a:rPr b="1" lang="en-US" sz="1800">
                <a:solidFill>
                  <a:srgbClr val="0000FF"/>
                </a:solidFill>
                <a:latin typeface="Calibri"/>
                <a:ea typeface="Calibri"/>
                <a:cs typeface="Calibri"/>
                <a:sym typeface="Calibri"/>
              </a:rPr>
              <a:t>(£= €2)</a:t>
            </a:r>
            <a:endParaRPr/>
          </a:p>
        </p:txBody>
      </p:sp>
      <p:sp>
        <p:nvSpPr>
          <p:cNvPr id="664" name="Google Shape;664;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0" st="0"/>
                                            </p:txEl>
                                          </p:spTgt>
                                        </p:tgtEl>
                                        <p:attrNameLst>
                                          <p:attrName>style.visibility</p:attrName>
                                        </p:attrNameLst>
                                      </p:cBhvr>
                                      <p:to>
                                        <p:strVal val="visible"/>
                                      </p:to>
                                    </p:set>
                                    <p:animEffect filter="fade" transition="in">
                                      <p:cBhvr>
                                        <p:cTn dur="500"/>
                                        <p:tgtEl>
                                          <p:spTgt spid="6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1" st="1"/>
                                            </p:txEl>
                                          </p:spTgt>
                                        </p:tgtEl>
                                        <p:attrNameLst>
                                          <p:attrName>style.visibility</p:attrName>
                                        </p:attrNameLst>
                                      </p:cBhvr>
                                      <p:to>
                                        <p:strVal val="visible"/>
                                      </p:to>
                                    </p:set>
                                    <p:animEffect filter="fade" transition="in">
                                      <p:cBhvr>
                                        <p:cTn dur="500"/>
                                        <p:tgtEl>
                                          <p:spTgt spid="6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2" st="2"/>
                                            </p:txEl>
                                          </p:spTgt>
                                        </p:tgtEl>
                                        <p:attrNameLst>
                                          <p:attrName>style.visibility</p:attrName>
                                        </p:attrNameLst>
                                      </p:cBhvr>
                                      <p:to>
                                        <p:strVal val="visible"/>
                                      </p:to>
                                    </p:set>
                                    <p:animEffect filter="fade" transition="in">
                                      <p:cBhvr>
                                        <p:cTn dur="500"/>
                                        <p:tgtEl>
                                          <p:spTgt spid="6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3" st="3"/>
                                            </p:txEl>
                                          </p:spTgt>
                                        </p:tgtEl>
                                        <p:attrNameLst>
                                          <p:attrName>style.visibility</p:attrName>
                                        </p:attrNameLst>
                                      </p:cBhvr>
                                      <p:to>
                                        <p:strVal val="visible"/>
                                      </p:to>
                                    </p:set>
                                    <p:animEffect filter="fade" transition="in">
                                      <p:cBhvr>
                                        <p:cTn dur="500"/>
                                        <p:tgtEl>
                                          <p:spTgt spid="6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1">
                                            <p:txEl>
                                              <p:pRg end="4" st="4"/>
                                            </p:txEl>
                                          </p:spTgt>
                                        </p:tgtEl>
                                        <p:attrNameLst>
                                          <p:attrName>style.visibility</p:attrName>
                                        </p:attrNameLst>
                                      </p:cBhvr>
                                      <p:to>
                                        <p:strVal val="visible"/>
                                      </p:to>
                                    </p:set>
                                    <p:animEffect filter="fade" transition="in">
                                      <p:cBhvr>
                                        <p:cTn dur="500"/>
                                        <p:tgtEl>
                                          <p:spTgt spid="65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65"/>
          <p:cNvSpPr txBox="1"/>
          <p:nvPr>
            <p:ph type="title"/>
          </p:nvPr>
        </p:nvSpPr>
        <p:spPr>
          <a:xfrm>
            <a:off x="2895600" y="173725"/>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000"/>
              <a:buFont typeface="Calibri"/>
              <a:buNone/>
            </a:pPr>
            <a:r>
              <a:rPr lang="en-US" sz="4000"/>
              <a:t>3-Point Ex. Arbitrage</a:t>
            </a:r>
            <a:endParaRPr/>
          </a:p>
        </p:txBody>
      </p:sp>
      <p:sp>
        <p:nvSpPr>
          <p:cNvPr id="670" name="Google Shape;670;p65"/>
          <p:cNvSpPr txBox="1"/>
          <p:nvPr>
            <p:ph idx="1" type="body"/>
          </p:nvPr>
        </p:nvSpPr>
        <p:spPr>
          <a:xfrm>
            <a:off x="838200" y="1825625"/>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2400"/>
              <a:buFont typeface="Calibri"/>
              <a:buNone/>
            </a:pPr>
            <a:r>
              <a:rPr b="1" lang="en-US" sz="2400"/>
              <a:t>       </a:t>
            </a:r>
            <a:r>
              <a:rPr lang="en-US" u="sng"/>
              <a:t>London</a:t>
            </a:r>
            <a:endParaRPr sz="2400" u="sng"/>
          </a:p>
          <a:p>
            <a:pPr indent="-228600" lvl="1" marL="685800" rtl="0" algn="l">
              <a:lnSpc>
                <a:spcPct val="90000"/>
              </a:lnSpc>
              <a:spcBef>
                <a:spcPts val="500"/>
              </a:spcBef>
              <a:spcAft>
                <a:spcPts val="0"/>
              </a:spcAft>
              <a:buClr>
                <a:schemeClr val="dk1"/>
              </a:buClr>
              <a:buSzPts val="2800"/>
              <a:buChar char="•"/>
            </a:pPr>
            <a:r>
              <a:rPr lang="en-US">
                <a:latin typeface="Times New Roman"/>
                <a:ea typeface="Times New Roman"/>
                <a:cs typeface="Times New Roman"/>
                <a:sym typeface="Times New Roman"/>
              </a:rPr>
              <a:t>£</a:t>
            </a:r>
            <a:r>
              <a:rPr lang="en-US"/>
              <a:t>=$1.65</a:t>
            </a:r>
            <a:endParaRPr/>
          </a:p>
          <a:p>
            <a:pPr indent="-228600" lvl="1" marL="685800" rtl="0" algn="l">
              <a:lnSpc>
                <a:spcPct val="90000"/>
              </a:lnSpc>
              <a:spcBef>
                <a:spcPts val="500"/>
              </a:spcBef>
              <a:spcAft>
                <a:spcPts val="0"/>
              </a:spcAft>
              <a:buClr>
                <a:srgbClr val="0000FF"/>
              </a:buClr>
              <a:buSzPts val="2800"/>
              <a:buChar char="•"/>
            </a:pPr>
            <a:r>
              <a:rPr lang="en-US">
                <a:solidFill>
                  <a:srgbClr val="0000FF"/>
                </a:solidFill>
                <a:latin typeface="Times New Roman"/>
                <a:ea typeface="Times New Roman"/>
                <a:cs typeface="Times New Roman"/>
                <a:sym typeface="Times New Roman"/>
              </a:rPr>
              <a:t>£</a:t>
            </a:r>
            <a:r>
              <a:rPr lang="en-US"/>
              <a:t>= €2</a:t>
            </a:r>
            <a:endParaRPr/>
          </a:p>
          <a:p>
            <a:pPr indent="-228600" lvl="0" marL="228600" rtl="0" algn="l">
              <a:lnSpc>
                <a:spcPct val="90000"/>
              </a:lnSpc>
              <a:spcBef>
                <a:spcPts val="1000"/>
              </a:spcBef>
              <a:spcAft>
                <a:spcPts val="0"/>
              </a:spcAft>
              <a:buClr>
                <a:schemeClr val="dk1"/>
              </a:buClr>
              <a:buSzPts val="3200"/>
              <a:buFont typeface="Calibri"/>
              <a:buNone/>
            </a:pPr>
            <a:r>
              <a:rPr i="1" lang="en-US"/>
              <a:t>   </a:t>
            </a:r>
            <a:r>
              <a:rPr i="1" lang="en-US">
                <a:solidFill>
                  <a:srgbClr val="FF0000"/>
                </a:solidFill>
              </a:rPr>
              <a:t>CROSSRATE:</a:t>
            </a:r>
            <a:br>
              <a:rPr i="1" lang="en-US">
                <a:solidFill>
                  <a:srgbClr val="FF0000"/>
                </a:solidFill>
              </a:rPr>
            </a:br>
            <a:r>
              <a:rPr i="1" lang="en-US"/>
              <a:t> </a:t>
            </a:r>
            <a:r>
              <a:rPr i="1" lang="en-US">
                <a:solidFill>
                  <a:srgbClr val="FF0000"/>
                </a:solidFill>
              </a:rPr>
              <a:t>(€=$.825)</a:t>
            </a:r>
            <a:endParaRPr/>
          </a:p>
          <a:p>
            <a:pPr indent="-228600" lvl="1" marL="685800" rtl="0" algn="l">
              <a:lnSpc>
                <a:spcPct val="90000"/>
              </a:lnSpc>
              <a:spcBef>
                <a:spcPts val="500"/>
              </a:spcBef>
              <a:spcAft>
                <a:spcPts val="0"/>
              </a:spcAft>
              <a:buClr>
                <a:schemeClr val="dk1"/>
              </a:buClr>
              <a:buSzPts val="2800"/>
              <a:buChar char="•"/>
            </a:pPr>
            <a:r>
              <a:rPr lang="en-US"/>
              <a:t>Therefore, the € is cheap in London (in $’s): it takes fewer $ to buy a € </a:t>
            </a:r>
            <a:endParaRPr/>
          </a:p>
        </p:txBody>
      </p:sp>
      <p:sp>
        <p:nvSpPr>
          <p:cNvPr id="671" name="Google Shape;671;p65"/>
          <p:cNvSpPr txBox="1"/>
          <p:nvPr>
            <p:ph idx="2" type="body"/>
          </p:nvPr>
        </p:nvSpPr>
        <p:spPr>
          <a:xfrm>
            <a:off x="6172200" y="1825625"/>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accent4"/>
              </a:buClr>
              <a:buSzPts val="3200"/>
              <a:buFont typeface="Calibri"/>
              <a:buNone/>
            </a:pPr>
            <a:r>
              <a:rPr lang="en-US">
                <a:solidFill>
                  <a:schemeClr val="accent4"/>
                </a:solidFill>
              </a:rPr>
              <a:t> </a:t>
            </a:r>
            <a:endParaRPr/>
          </a:p>
        </p:txBody>
      </p:sp>
      <p:cxnSp>
        <p:nvCxnSpPr>
          <p:cNvPr id="672" name="Google Shape;672;p65"/>
          <p:cNvCxnSpPr/>
          <p:nvPr/>
        </p:nvCxnSpPr>
        <p:spPr>
          <a:xfrm flipH="1">
            <a:off x="7189788" y="2643188"/>
            <a:ext cx="1243012" cy="1878012"/>
          </a:xfrm>
          <a:prstGeom prst="straightConnector1">
            <a:avLst/>
          </a:prstGeom>
          <a:noFill/>
          <a:ln cap="flat" cmpd="sng" w="50800">
            <a:solidFill>
              <a:schemeClr val="dk1"/>
            </a:solidFill>
            <a:prstDash val="dot"/>
            <a:round/>
            <a:headEnd len="med" w="med" type="none"/>
            <a:tailEnd len="med" w="med" type="none"/>
          </a:ln>
        </p:spPr>
      </p:cxnSp>
      <p:cxnSp>
        <p:nvCxnSpPr>
          <p:cNvPr id="673" name="Google Shape;673;p65"/>
          <p:cNvCxnSpPr/>
          <p:nvPr/>
        </p:nvCxnSpPr>
        <p:spPr>
          <a:xfrm>
            <a:off x="7367588" y="4572000"/>
            <a:ext cx="2182812" cy="0"/>
          </a:xfrm>
          <a:prstGeom prst="straightConnector1">
            <a:avLst/>
          </a:prstGeom>
          <a:noFill/>
          <a:ln cap="flat" cmpd="sng" w="50800">
            <a:solidFill>
              <a:schemeClr val="dk1"/>
            </a:solidFill>
            <a:prstDash val="dot"/>
            <a:round/>
            <a:headEnd len="med" w="med" type="none"/>
            <a:tailEnd len="med" w="med" type="none"/>
          </a:ln>
        </p:spPr>
      </p:cxnSp>
      <p:cxnSp>
        <p:nvCxnSpPr>
          <p:cNvPr id="674" name="Google Shape;674;p65"/>
          <p:cNvCxnSpPr/>
          <p:nvPr/>
        </p:nvCxnSpPr>
        <p:spPr>
          <a:xfrm>
            <a:off x="8434388" y="2643188"/>
            <a:ext cx="1116012" cy="1878012"/>
          </a:xfrm>
          <a:prstGeom prst="straightConnector1">
            <a:avLst/>
          </a:prstGeom>
          <a:noFill/>
          <a:ln cap="flat" cmpd="sng" w="50800">
            <a:solidFill>
              <a:schemeClr val="dk1"/>
            </a:solidFill>
            <a:prstDash val="dot"/>
            <a:round/>
            <a:headEnd len="med" w="med" type="none"/>
            <a:tailEnd len="med" w="med" type="none"/>
          </a:ln>
        </p:spPr>
      </p:cxnSp>
      <p:sp>
        <p:nvSpPr>
          <p:cNvPr id="675" name="Google Shape;675;p65"/>
          <p:cNvSpPr/>
          <p:nvPr/>
        </p:nvSpPr>
        <p:spPr>
          <a:xfrm>
            <a:off x="9372600" y="4648200"/>
            <a:ext cx="1143000" cy="6096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Frankfurt</a:t>
            </a:r>
            <a:endParaRPr/>
          </a:p>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676" name="Google Shape;676;p65"/>
          <p:cNvSpPr/>
          <p:nvPr/>
        </p:nvSpPr>
        <p:spPr>
          <a:xfrm>
            <a:off x="8001000" y="3429000"/>
            <a:ext cx="838200" cy="10668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677" name="Google Shape;677;p65"/>
          <p:cNvSpPr/>
          <p:nvPr/>
        </p:nvSpPr>
        <p:spPr>
          <a:xfrm>
            <a:off x="7924800" y="2209800"/>
            <a:ext cx="10668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London</a:t>
            </a:r>
            <a:endParaRPr/>
          </a:p>
        </p:txBody>
      </p:sp>
      <p:sp>
        <p:nvSpPr>
          <p:cNvPr id="678" name="Google Shape;678;p65"/>
          <p:cNvSpPr/>
          <p:nvPr/>
        </p:nvSpPr>
        <p:spPr>
          <a:xfrm>
            <a:off x="7086600" y="4648200"/>
            <a:ext cx="6096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NY</a:t>
            </a:r>
            <a:endParaRPr/>
          </a:p>
        </p:txBody>
      </p:sp>
      <p:sp>
        <p:nvSpPr>
          <p:cNvPr id="679" name="Google Shape;679;p65"/>
          <p:cNvSpPr/>
          <p:nvPr/>
        </p:nvSpPr>
        <p:spPr>
          <a:xfrm>
            <a:off x="3657600" y="3352800"/>
            <a:ext cx="3048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65"/>
          <p:cNvSpPr/>
          <p:nvPr/>
        </p:nvSpPr>
        <p:spPr>
          <a:xfrm>
            <a:off x="4953000" y="3352800"/>
            <a:ext cx="228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1" name="Google Shape;681;p65"/>
          <p:cNvSpPr txBox="1"/>
          <p:nvPr/>
        </p:nvSpPr>
        <p:spPr>
          <a:xfrm>
            <a:off x="6172200" y="3048001"/>
            <a:ext cx="1676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£=$1.65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($=£ 0.606)</a:t>
            </a:r>
            <a:endParaRPr/>
          </a:p>
        </p:txBody>
      </p:sp>
      <p:sp>
        <p:nvSpPr>
          <p:cNvPr id="682" name="Google Shape;682;p65"/>
          <p:cNvSpPr txBox="1"/>
          <p:nvPr/>
        </p:nvSpPr>
        <p:spPr>
          <a:xfrm>
            <a:off x="7696200" y="4724401"/>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€1.15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(€=$.86)</a:t>
            </a:r>
            <a:endParaRPr/>
          </a:p>
        </p:txBody>
      </p:sp>
      <p:sp>
        <p:nvSpPr>
          <p:cNvPr id="683" name="Google Shape;683;p65"/>
          <p:cNvSpPr txBox="1"/>
          <p:nvPr/>
        </p:nvSpPr>
        <p:spPr>
          <a:xfrm>
            <a:off x="9144000" y="3048001"/>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£0.5</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€2)</a:t>
            </a:r>
            <a:endParaRPr/>
          </a:p>
        </p:txBody>
      </p:sp>
      <p:sp>
        <p:nvSpPr>
          <p:cNvPr id="684" name="Google Shape;684;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0" st="0"/>
                                            </p:txEl>
                                          </p:spTgt>
                                        </p:tgtEl>
                                        <p:attrNameLst>
                                          <p:attrName>style.visibility</p:attrName>
                                        </p:attrNameLst>
                                      </p:cBhvr>
                                      <p:to>
                                        <p:strVal val="visible"/>
                                      </p:to>
                                    </p:set>
                                    <p:animEffect filter="fade" transition="in">
                                      <p:cBhvr>
                                        <p:cTn dur="500"/>
                                        <p:tgtEl>
                                          <p:spTgt spid="6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1" st="1"/>
                                            </p:txEl>
                                          </p:spTgt>
                                        </p:tgtEl>
                                        <p:attrNameLst>
                                          <p:attrName>style.visibility</p:attrName>
                                        </p:attrNameLst>
                                      </p:cBhvr>
                                      <p:to>
                                        <p:strVal val="visible"/>
                                      </p:to>
                                    </p:set>
                                    <p:animEffect filter="fade" transition="in">
                                      <p:cBhvr>
                                        <p:cTn dur="500"/>
                                        <p:tgtEl>
                                          <p:spTgt spid="6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2" st="2"/>
                                            </p:txEl>
                                          </p:spTgt>
                                        </p:tgtEl>
                                        <p:attrNameLst>
                                          <p:attrName>style.visibility</p:attrName>
                                        </p:attrNameLst>
                                      </p:cBhvr>
                                      <p:to>
                                        <p:strVal val="visible"/>
                                      </p:to>
                                    </p:set>
                                    <p:animEffect filter="fade" transition="in">
                                      <p:cBhvr>
                                        <p:cTn dur="500"/>
                                        <p:tgtEl>
                                          <p:spTgt spid="6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3" st="3"/>
                                            </p:txEl>
                                          </p:spTgt>
                                        </p:tgtEl>
                                        <p:attrNameLst>
                                          <p:attrName>style.visibility</p:attrName>
                                        </p:attrNameLst>
                                      </p:cBhvr>
                                      <p:to>
                                        <p:strVal val="visible"/>
                                      </p:to>
                                    </p:set>
                                    <p:animEffect filter="fade" transition="in">
                                      <p:cBhvr>
                                        <p:cTn dur="500"/>
                                        <p:tgtEl>
                                          <p:spTgt spid="6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0">
                                            <p:txEl>
                                              <p:pRg end="4" st="4"/>
                                            </p:txEl>
                                          </p:spTgt>
                                        </p:tgtEl>
                                        <p:attrNameLst>
                                          <p:attrName>style.visibility</p:attrName>
                                        </p:attrNameLst>
                                      </p:cBhvr>
                                      <p:to>
                                        <p:strVal val="visible"/>
                                      </p:to>
                                    </p:set>
                                    <p:animEffect filter="fade" transition="in">
                                      <p:cBhvr>
                                        <p:cTn dur="500"/>
                                        <p:tgtEl>
                                          <p:spTgt spid="67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66"/>
          <p:cNvSpPr txBox="1"/>
          <p:nvPr>
            <p:ph type="title"/>
          </p:nvPr>
        </p:nvSpPr>
        <p:spPr>
          <a:xfrm>
            <a:off x="1161805" y="-44200"/>
            <a:ext cx="10515600" cy="1325563"/>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5400"/>
              <a:buFont typeface="Calibri"/>
              <a:buNone/>
            </a:pPr>
            <a:r>
              <a:rPr lang="en-US" sz="5400"/>
              <a:t>3-Point Ex. Arbitrage</a:t>
            </a:r>
            <a:endParaRPr/>
          </a:p>
        </p:txBody>
      </p:sp>
      <p:sp>
        <p:nvSpPr>
          <p:cNvPr id="690" name="Google Shape;690;p66"/>
          <p:cNvSpPr txBox="1"/>
          <p:nvPr>
            <p:ph idx="1" type="body"/>
          </p:nvPr>
        </p:nvSpPr>
        <p:spPr>
          <a:xfrm>
            <a:off x="1981200" y="2147888"/>
            <a:ext cx="4038600" cy="4114800"/>
          </a:xfrm>
          <a:prstGeom prst="rect">
            <a:avLst/>
          </a:prstGeom>
          <a:noFill/>
          <a:ln>
            <a:noFill/>
          </a:ln>
        </p:spPr>
        <p:txBody>
          <a:bodyPr anchorCtr="0" anchor="t" bIns="44450" lIns="90475" spcFirstLastPara="1" rIns="90475" wrap="square" tIns="44450">
            <a:normAutofit lnSpcReduction="10000"/>
          </a:bodyPr>
          <a:lstStyle/>
          <a:p>
            <a:pPr indent="-228600" lvl="0" marL="228600" rtl="0" algn="l">
              <a:lnSpc>
                <a:spcPct val="90000"/>
              </a:lnSpc>
              <a:spcBef>
                <a:spcPts val="0"/>
              </a:spcBef>
              <a:spcAft>
                <a:spcPts val="0"/>
              </a:spcAft>
              <a:buClr>
                <a:schemeClr val="dk1"/>
              </a:buClr>
              <a:buSzPts val="3200"/>
              <a:buChar char="•"/>
            </a:pPr>
            <a:r>
              <a:rPr lang="en-US" u="sng"/>
              <a:t>buy low/sell high</a:t>
            </a:r>
            <a:endParaRPr/>
          </a:p>
          <a:p>
            <a:pPr indent="-228600" lvl="1" marL="685800" rtl="0" algn="l">
              <a:lnSpc>
                <a:spcPct val="90000"/>
              </a:lnSpc>
              <a:spcBef>
                <a:spcPts val="500"/>
              </a:spcBef>
              <a:spcAft>
                <a:spcPts val="0"/>
              </a:spcAft>
              <a:buClr>
                <a:schemeClr val="dk1"/>
              </a:buClr>
              <a:buSzPts val="2800"/>
              <a:buChar char="•"/>
            </a:pPr>
            <a:r>
              <a:rPr b="1" lang="en-US"/>
              <a:t>$ low in Frankfurt</a:t>
            </a:r>
            <a:endParaRPr/>
          </a:p>
          <a:p>
            <a:pPr indent="-228600" lvl="1" marL="685800" rtl="0" algn="l">
              <a:lnSpc>
                <a:spcPct val="90000"/>
              </a:lnSpc>
              <a:spcBef>
                <a:spcPts val="500"/>
              </a:spcBef>
              <a:spcAft>
                <a:spcPts val="0"/>
              </a:spcAft>
              <a:buClr>
                <a:schemeClr val="dk1"/>
              </a:buClr>
              <a:buSzPts val="2800"/>
              <a:buChar char="•"/>
            </a:pPr>
            <a:r>
              <a:rPr b="1" lang="en-US"/>
              <a:t>€ low in London</a:t>
            </a:r>
            <a:endParaRPr/>
          </a:p>
          <a:p>
            <a:pPr indent="-228600" lvl="1" marL="685800" rtl="0" algn="l">
              <a:lnSpc>
                <a:spcPct val="90000"/>
              </a:lnSpc>
              <a:spcBef>
                <a:spcPts val="500"/>
              </a:spcBef>
              <a:spcAft>
                <a:spcPts val="0"/>
              </a:spcAft>
              <a:buClr>
                <a:schemeClr val="dk1"/>
              </a:buClr>
              <a:buSzPts val="2800"/>
              <a:buChar char="•"/>
            </a:pPr>
            <a:r>
              <a:rPr b="1" lang="en-US">
                <a:latin typeface="Times New Roman"/>
                <a:ea typeface="Times New Roman"/>
                <a:cs typeface="Times New Roman"/>
                <a:sym typeface="Times New Roman"/>
              </a:rPr>
              <a:t>£</a:t>
            </a:r>
            <a:r>
              <a:rPr b="1" lang="en-US">
                <a:solidFill>
                  <a:srgbClr val="0000FF"/>
                </a:solidFill>
                <a:latin typeface="Times New Roman"/>
                <a:ea typeface="Times New Roman"/>
                <a:cs typeface="Times New Roman"/>
                <a:sym typeface="Times New Roman"/>
              </a:rPr>
              <a:t> </a:t>
            </a:r>
            <a:r>
              <a:rPr b="1" lang="en-US"/>
              <a:t>low in NY</a:t>
            </a:r>
            <a:endParaRPr/>
          </a:p>
          <a:p>
            <a:pPr indent="-228600" lvl="0" marL="228600" rtl="0" algn="l">
              <a:lnSpc>
                <a:spcPct val="90000"/>
              </a:lnSpc>
              <a:spcBef>
                <a:spcPts val="1000"/>
              </a:spcBef>
              <a:spcAft>
                <a:spcPts val="0"/>
              </a:spcAft>
              <a:buClr>
                <a:schemeClr val="dk1"/>
              </a:buClr>
              <a:buSzPts val="3200"/>
              <a:buChar char="•"/>
            </a:pPr>
            <a:r>
              <a:rPr lang="en-US" u="sng"/>
              <a:t>Transactions</a:t>
            </a:r>
            <a:r>
              <a:rPr lang="en-US"/>
              <a:t>:</a:t>
            </a:r>
            <a:endParaRPr/>
          </a:p>
          <a:p>
            <a:pPr indent="-228600" lvl="1" marL="685800" rtl="0" algn="l">
              <a:lnSpc>
                <a:spcPct val="90000"/>
              </a:lnSpc>
              <a:spcBef>
                <a:spcPts val="500"/>
              </a:spcBef>
              <a:spcAft>
                <a:spcPts val="0"/>
              </a:spcAft>
              <a:buClr>
                <a:schemeClr val="dk1"/>
              </a:buClr>
              <a:buSzPts val="2800"/>
              <a:buChar char="•"/>
            </a:pPr>
            <a:r>
              <a:rPr b="1" i="1" lang="en-US"/>
              <a:t>Buy $ for </a:t>
            </a:r>
            <a:r>
              <a:rPr b="1" lang="en-US">
                <a:latin typeface="Times New Roman"/>
                <a:ea typeface="Times New Roman"/>
                <a:cs typeface="Times New Roman"/>
                <a:sym typeface="Times New Roman"/>
              </a:rPr>
              <a:t>£</a:t>
            </a:r>
            <a:r>
              <a:rPr b="1" i="1" lang="en-US"/>
              <a:t> (Frankfurt)</a:t>
            </a:r>
            <a:endParaRPr/>
          </a:p>
          <a:p>
            <a:pPr indent="-228600" lvl="1" marL="685800" rtl="0" algn="l">
              <a:lnSpc>
                <a:spcPct val="90000"/>
              </a:lnSpc>
              <a:spcBef>
                <a:spcPts val="500"/>
              </a:spcBef>
              <a:spcAft>
                <a:spcPts val="0"/>
              </a:spcAft>
              <a:buClr>
                <a:schemeClr val="dk1"/>
              </a:buClr>
              <a:buSzPts val="2800"/>
              <a:buChar char="•"/>
            </a:pPr>
            <a:r>
              <a:rPr b="1" i="1" lang="en-US"/>
              <a:t>Buy €  for $ (London)</a:t>
            </a:r>
            <a:endParaRPr/>
          </a:p>
          <a:p>
            <a:pPr indent="-228600" lvl="1" marL="685800" rtl="0" algn="l">
              <a:lnSpc>
                <a:spcPct val="90000"/>
              </a:lnSpc>
              <a:spcBef>
                <a:spcPts val="500"/>
              </a:spcBef>
              <a:spcAft>
                <a:spcPts val="0"/>
              </a:spcAft>
              <a:buClr>
                <a:schemeClr val="dk1"/>
              </a:buClr>
              <a:buSzPts val="2800"/>
              <a:buChar char="•"/>
            </a:pPr>
            <a:r>
              <a:rPr b="1" i="1" lang="en-US"/>
              <a:t>Buy </a:t>
            </a:r>
            <a:r>
              <a:rPr b="1" lang="en-US">
                <a:latin typeface="Times New Roman"/>
                <a:ea typeface="Times New Roman"/>
                <a:cs typeface="Times New Roman"/>
                <a:sym typeface="Times New Roman"/>
              </a:rPr>
              <a:t>£</a:t>
            </a:r>
            <a:r>
              <a:rPr b="1" i="1" lang="en-US"/>
              <a:t> for € (NY)</a:t>
            </a:r>
            <a:endParaRPr/>
          </a:p>
        </p:txBody>
      </p:sp>
      <p:sp>
        <p:nvSpPr>
          <p:cNvPr id="691" name="Google Shape;691;p66"/>
          <p:cNvSpPr txBox="1"/>
          <p:nvPr>
            <p:ph idx="2" type="body"/>
          </p:nvPr>
        </p:nvSpPr>
        <p:spPr>
          <a:xfrm>
            <a:off x="4267200" y="618581"/>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accent4"/>
              </a:buClr>
              <a:buSzPts val="3200"/>
              <a:buFont typeface="Calibri"/>
              <a:buNone/>
            </a:pPr>
            <a:r>
              <a:rPr lang="en-US">
                <a:solidFill>
                  <a:schemeClr val="accent4"/>
                </a:solidFill>
              </a:rPr>
              <a:t> </a:t>
            </a:r>
            <a:endParaRPr/>
          </a:p>
        </p:txBody>
      </p:sp>
      <p:cxnSp>
        <p:nvCxnSpPr>
          <p:cNvPr id="692" name="Google Shape;692;p66"/>
          <p:cNvCxnSpPr/>
          <p:nvPr/>
        </p:nvCxnSpPr>
        <p:spPr>
          <a:xfrm flipH="1">
            <a:off x="7189788" y="2643188"/>
            <a:ext cx="1243012" cy="1878012"/>
          </a:xfrm>
          <a:prstGeom prst="straightConnector1">
            <a:avLst/>
          </a:prstGeom>
          <a:noFill/>
          <a:ln cap="flat" cmpd="sng" w="50800">
            <a:solidFill>
              <a:schemeClr val="dk1"/>
            </a:solidFill>
            <a:prstDash val="dot"/>
            <a:round/>
            <a:headEnd len="med" w="med" type="none"/>
            <a:tailEnd len="med" w="med" type="none"/>
          </a:ln>
        </p:spPr>
      </p:cxnSp>
      <p:cxnSp>
        <p:nvCxnSpPr>
          <p:cNvPr id="693" name="Google Shape;693;p66"/>
          <p:cNvCxnSpPr/>
          <p:nvPr/>
        </p:nvCxnSpPr>
        <p:spPr>
          <a:xfrm>
            <a:off x="7367588" y="4572000"/>
            <a:ext cx="2182812" cy="0"/>
          </a:xfrm>
          <a:prstGeom prst="straightConnector1">
            <a:avLst/>
          </a:prstGeom>
          <a:noFill/>
          <a:ln cap="flat" cmpd="sng" w="50800">
            <a:solidFill>
              <a:schemeClr val="dk1"/>
            </a:solidFill>
            <a:prstDash val="dot"/>
            <a:round/>
            <a:headEnd len="med" w="med" type="none"/>
            <a:tailEnd len="med" w="med" type="none"/>
          </a:ln>
        </p:spPr>
      </p:cxnSp>
      <p:cxnSp>
        <p:nvCxnSpPr>
          <p:cNvPr id="694" name="Google Shape;694;p66"/>
          <p:cNvCxnSpPr/>
          <p:nvPr/>
        </p:nvCxnSpPr>
        <p:spPr>
          <a:xfrm>
            <a:off x="8434388" y="2643188"/>
            <a:ext cx="1116012" cy="1878012"/>
          </a:xfrm>
          <a:prstGeom prst="straightConnector1">
            <a:avLst/>
          </a:prstGeom>
          <a:noFill/>
          <a:ln cap="flat" cmpd="sng" w="50800">
            <a:solidFill>
              <a:schemeClr val="dk1"/>
            </a:solidFill>
            <a:prstDash val="dot"/>
            <a:round/>
            <a:headEnd len="med" w="med" type="none"/>
            <a:tailEnd len="med" w="med" type="none"/>
          </a:ln>
        </p:spPr>
      </p:cxnSp>
      <p:sp>
        <p:nvSpPr>
          <p:cNvPr id="695" name="Google Shape;695;p66"/>
          <p:cNvSpPr/>
          <p:nvPr/>
        </p:nvSpPr>
        <p:spPr>
          <a:xfrm>
            <a:off x="9372600" y="4648200"/>
            <a:ext cx="1143000" cy="6096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Frankfurt</a:t>
            </a:r>
            <a:endParaRPr/>
          </a:p>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696" name="Google Shape;696;p66"/>
          <p:cNvSpPr/>
          <p:nvPr/>
        </p:nvSpPr>
        <p:spPr>
          <a:xfrm>
            <a:off x="7924800" y="2209800"/>
            <a:ext cx="10668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London</a:t>
            </a:r>
            <a:endParaRPr/>
          </a:p>
        </p:txBody>
      </p:sp>
      <p:sp>
        <p:nvSpPr>
          <p:cNvPr id="697" name="Google Shape;697;p66"/>
          <p:cNvSpPr/>
          <p:nvPr/>
        </p:nvSpPr>
        <p:spPr>
          <a:xfrm>
            <a:off x="7086600" y="4648200"/>
            <a:ext cx="6096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NY</a:t>
            </a:r>
            <a:endParaRPr/>
          </a:p>
        </p:txBody>
      </p:sp>
      <p:sp>
        <p:nvSpPr>
          <p:cNvPr id="698" name="Google Shape;698;p66"/>
          <p:cNvSpPr txBox="1"/>
          <p:nvPr/>
        </p:nvSpPr>
        <p:spPr>
          <a:xfrm>
            <a:off x="7696200" y="4724401"/>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€ 1.15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(€=$.086)</a:t>
            </a:r>
            <a:endParaRPr/>
          </a:p>
        </p:txBody>
      </p:sp>
      <p:sp>
        <p:nvSpPr>
          <p:cNvPr id="699" name="Google Shape;699;p66"/>
          <p:cNvSpPr txBox="1"/>
          <p:nvPr/>
        </p:nvSpPr>
        <p:spPr>
          <a:xfrm>
            <a:off x="5903975" y="3200401"/>
            <a:ext cx="1676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£=$1.65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($=£ 0.606)</a:t>
            </a:r>
            <a:endParaRPr/>
          </a:p>
        </p:txBody>
      </p:sp>
      <p:sp>
        <p:nvSpPr>
          <p:cNvPr id="700" name="Google Shape;700;p66"/>
          <p:cNvSpPr txBox="1"/>
          <p:nvPr/>
        </p:nvSpPr>
        <p:spPr>
          <a:xfrm>
            <a:off x="9144000" y="3200401"/>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£0.5</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€2)</a:t>
            </a:r>
            <a:endParaRPr/>
          </a:p>
        </p:txBody>
      </p:sp>
      <p:sp>
        <p:nvSpPr>
          <p:cNvPr id="701" name="Google Shape;701;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xEl>
                                              <p:pRg end="0" st="0"/>
                                            </p:txEl>
                                          </p:spTgt>
                                        </p:tgtEl>
                                        <p:attrNameLst>
                                          <p:attrName>style.visibility</p:attrName>
                                        </p:attrNameLst>
                                      </p:cBhvr>
                                      <p:to>
                                        <p:strVal val="visible"/>
                                      </p:to>
                                    </p:set>
                                    <p:animEffect filter="fade" transition="in">
                                      <p:cBhvr>
                                        <p:cTn dur="500"/>
                                        <p:tgtEl>
                                          <p:spTgt spid="6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xEl>
                                              <p:pRg end="1" st="1"/>
                                            </p:txEl>
                                          </p:spTgt>
                                        </p:tgtEl>
                                        <p:attrNameLst>
                                          <p:attrName>style.visibility</p:attrName>
                                        </p:attrNameLst>
                                      </p:cBhvr>
                                      <p:to>
                                        <p:strVal val="visible"/>
                                      </p:to>
                                    </p:set>
                                    <p:animEffect filter="fade" transition="in">
                                      <p:cBhvr>
                                        <p:cTn dur="500"/>
                                        <p:tgtEl>
                                          <p:spTgt spid="6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xEl>
                                              <p:pRg end="2" st="2"/>
                                            </p:txEl>
                                          </p:spTgt>
                                        </p:tgtEl>
                                        <p:attrNameLst>
                                          <p:attrName>style.visibility</p:attrName>
                                        </p:attrNameLst>
                                      </p:cBhvr>
                                      <p:to>
                                        <p:strVal val="visible"/>
                                      </p:to>
                                    </p:set>
                                    <p:animEffect filter="fade" transition="in">
                                      <p:cBhvr>
                                        <p:cTn dur="500"/>
                                        <p:tgtEl>
                                          <p:spTgt spid="6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xEl>
                                              <p:pRg end="3" st="3"/>
                                            </p:txEl>
                                          </p:spTgt>
                                        </p:tgtEl>
                                        <p:attrNameLst>
                                          <p:attrName>style.visibility</p:attrName>
                                        </p:attrNameLst>
                                      </p:cBhvr>
                                      <p:to>
                                        <p:strVal val="visible"/>
                                      </p:to>
                                    </p:set>
                                    <p:animEffect filter="fade" transition="in">
                                      <p:cBhvr>
                                        <p:cTn dur="500"/>
                                        <p:tgtEl>
                                          <p:spTgt spid="6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xEl>
                                              <p:pRg end="4" st="4"/>
                                            </p:txEl>
                                          </p:spTgt>
                                        </p:tgtEl>
                                        <p:attrNameLst>
                                          <p:attrName>style.visibility</p:attrName>
                                        </p:attrNameLst>
                                      </p:cBhvr>
                                      <p:to>
                                        <p:strVal val="visible"/>
                                      </p:to>
                                    </p:set>
                                    <p:animEffect filter="fade" transition="in">
                                      <p:cBhvr>
                                        <p:cTn dur="500"/>
                                        <p:tgtEl>
                                          <p:spTgt spid="6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xEl>
                                              <p:pRg end="5" st="5"/>
                                            </p:txEl>
                                          </p:spTgt>
                                        </p:tgtEl>
                                        <p:attrNameLst>
                                          <p:attrName>style.visibility</p:attrName>
                                        </p:attrNameLst>
                                      </p:cBhvr>
                                      <p:to>
                                        <p:strVal val="visible"/>
                                      </p:to>
                                    </p:set>
                                    <p:animEffect filter="fade" transition="in">
                                      <p:cBhvr>
                                        <p:cTn dur="500"/>
                                        <p:tgtEl>
                                          <p:spTgt spid="6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xEl>
                                              <p:pRg end="6" st="6"/>
                                            </p:txEl>
                                          </p:spTgt>
                                        </p:tgtEl>
                                        <p:attrNameLst>
                                          <p:attrName>style.visibility</p:attrName>
                                        </p:attrNameLst>
                                      </p:cBhvr>
                                      <p:to>
                                        <p:strVal val="visible"/>
                                      </p:to>
                                    </p:set>
                                    <p:animEffect filter="fade" transition="in">
                                      <p:cBhvr>
                                        <p:cTn dur="500"/>
                                        <p:tgtEl>
                                          <p:spTgt spid="6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xEl>
                                              <p:pRg end="7" st="7"/>
                                            </p:txEl>
                                          </p:spTgt>
                                        </p:tgtEl>
                                        <p:attrNameLst>
                                          <p:attrName>style.visibility</p:attrName>
                                        </p:attrNameLst>
                                      </p:cBhvr>
                                      <p:to>
                                        <p:strVal val="visible"/>
                                      </p:to>
                                    </p:set>
                                    <p:animEffect filter="fade" transition="in">
                                      <p:cBhvr>
                                        <p:cTn dur="500"/>
                                        <p:tgtEl>
                                          <p:spTgt spid="690">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67"/>
          <p:cNvSpPr txBox="1"/>
          <p:nvPr>
            <p:ph type="title"/>
          </p:nvPr>
        </p:nvSpPr>
        <p:spPr>
          <a:xfrm>
            <a:off x="1161805" y="-44200"/>
            <a:ext cx="10515600" cy="1325563"/>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5400"/>
              <a:buFont typeface="Calibri"/>
              <a:buNone/>
            </a:pPr>
            <a:r>
              <a:rPr lang="en-US" sz="5400"/>
              <a:t>3-Point Ex. Arbitrage</a:t>
            </a:r>
            <a:endParaRPr/>
          </a:p>
        </p:txBody>
      </p:sp>
      <p:sp>
        <p:nvSpPr>
          <p:cNvPr id="707" name="Google Shape;707;p67"/>
          <p:cNvSpPr txBox="1"/>
          <p:nvPr>
            <p:ph idx="1" type="body"/>
          </p:nvPr>
        </p:nvSpPr>
        <p:spPr>
          <a:xfrm>
            <a:off x="2514600" y="2057401"/>
            <a:ext cx="3805238" cy="4181475"/>
          </a:xfrm>
          <a:prstGeom prst="rect">
            <a:avLst/>
          </a:prstGeom>
          <a:noFill/>
          <a:ln>
            <a:noFill/>
          </a:ln>
        </p:spPr>
        <p:txBody>
          <a:bodyPr anchorCtr="0" anchor="t" bIns="44450" lIns="90475" spcFirstLastPara="1" rIns="90475" wrap="square" tIns="44450">
            <a:normAutofit lnSpcReduction="10000"/>
          </a:bodyPr>
          <a:lstStyle/>
          <a:p>
            <a:pPr indent="-228600" lvl="0" marL="228600" rtl="0" algn="l">
              <a:lnSpc>
                <a:spcPct val="90000"/>
              </a:lnSpc>
              <a:spcBef>
                <a:spcPts val="0"/>
              </a:spcBef>
              <a:spcAft>
                <a:spcPts val="0"/>
              </a:spcAft>
              <a:buClr>
                <a:schemeClr val="dk1"/>
              </a:buClr>
              <a:buSzPts val="2400"/>
              <a:buChar char="•"/>
            </a:pPr>
            <a:r>
              <a:rPr lang="en-US" sz="2400" u="sng"/>
              <a:t>Frankfurt</a:t>
            </a:r>
            <a:endParaRPr/>
          </a:p>
          <a:p>
            <a:pPr indent="-228600" lvl="1" marL="685800" rtl="0" algn="l">
              <a:lnSpc>
                <a:spcPct val="90000"/>
              </a:lnSpc>
              <a:spcBef>
                <a:spcPts val="500"/>
              </a:spcBef>
              <a:spcAft>
                <a:spcPts val="0"/>
              </a:spcAft>
              <a:buClr>
                <a:schemeClr val="dk1"/>
              </a:buClr>
              <a:buSzPts val="2800"/>
              <a:buFont typeface="Calibri"/>
              <a:buNone/>
            </a:pPr>
            <a:r>
              <a:rPr i="1" lang="en-US"/>
              <a:t>*Buy $1,724,137 for</a:t>
            </a:r>
            <a:br>
              <a:rPr i="1" lang="en-US"/>
            </a:br>
            <a:r>
              <a:rPr i="1" lang="en-US"/>
              <a:t> </a:t>
            </a:r>
            <a:r>
              <a:rPr lang="en-US">
                <a:latin typeface="Times New Roman"/>
                <a:ea typeface="Times New Roman"/>
                <a:cs typeface="Times New Roman"/>
                <a:sym typeface="Times New Roman"/>
              </a:rPr>
              <a:t>£</a:t>
            </a:r>
            <a:r>
              <a:rPr i="1" lang="en-US"/>
              <a:t>1,000,000</a:t>
            </a:r>
            <a:endParaRPr/>
          </a:p>
          <a:p>
            <a:pPr indent="-228600" lvl="0" marL="228600" rtl="0" algn="l">
              <a:lnSpc>
                <a:spcPct val="90000"/>
              </a:lnSpc>
              <a:spcBef>
                <a:spcPts val="1000"/>
              </a:spcBef>
              <a:spcAft>
                <a:spcPts val="0"/>
              </a:spcAft>
              <a:buClr>
                <a:schemeClr val="dk1"/>
              </a:buClr>
              <a:buSzPts val="2400"/>
              <a:buChar char="•"/>
            </a:pPr>
            <a:r>
              <a:rPr lang="en-US" sz="2400" u="sng"/>
              <a:t>London</a:t>
            </a:r>
            <a:endParaRPr/>
          </a:p>
          <a:p>
            <a:pPr indent="-228600" lvl="1" marL="685800" rtl="0" algn="l">
              <a:lnSpc>
                <a:spcPct val="90000"/>
              </a:lnSpc>
              <a:spcBef>
                <a:spcPts val="500"/>
              </a:spcBef>
              <a:spcAft>
                <a:spcPts val="0"/>
              </a:spcAft>
              <a:buClr>
                <a:schemeClr val="dk1"/>
              </a:buClr>
              <a:buSzPts val="2800"/>
              <a:buFont typeface="Calibri"/>
              <a:buNone/>
            </a:pPr>
            <a:r>
              <a:rPr i="1" lang="en-US"/>
              <a:t>*Buy € 2,089,863 for $1,724,137</a:t>
            </a:r>
            <a:endParaRPr/>
          </a:p>
          <a:p>
            <a:pPr indent="-228600" lvl="0" marL="228600" rtl="0" algn="l">
              <a:lnSpc>
                <a:spcPct val="90000"/>
              </a:lnSpc>
              <a:spcBef>
                <a:spcPts val="1000"/>
              </a:spcBef>
              <a:spcAft>
                <a:spcPts val="0"/>
              </a:spcAft>
              <a:buClr>
                <a:schemeClr val="dk1"/>
              </a:buClr>
              <a:buSzPts val="2400"/>
              <a:buChar char="•"/>
            </a:pPr>
            <a:r>
              <a:rPr lang="en-US" sz="2400" u="sng"/>
              <a:t>New York</a:t>
            </a:r>
            <a:endParaRPr/>
          </a:p>
          <a:p>
            <a:pPr indent="-228600" lvl="1" marL="685800" rtl="0" algn="l">
              <a:lnSpc>
                <a:spcPct val="90000"/>
              </a:lnSpc>
              <a:spcBef>
                <a:spcPts val="500"/>
              </a:spcBef>
              <a:spcAft>
                <a:spcPts val="0"/>
              </a:spcAft>
              <a:buClr>
                <a:schemeClr val="dk1"/>
              </a:buClr>
              <a:buSzPts val="2800"/>
              <a:buFont typeface="Calibri"/>
              <a:buNone/>
            </a:pPr>
            <a:r>
              <a:rPr i="1" lang="en-US"/>
              <a:t>*Buy </a:t>
            </a:r>
            <a:r>
              <a:rPr lang="en-US">
                <a:latin typeface="Times New Roman"/>
                <a:ea typeface="Times New Roman"/>
                <a:cs typeface="Times New Roman"/>
                <a:sym typeface="Times New Roman"/>
              </a:rPr>
              <a:t>£</a:t>
            </a:r>
            <a:r>
              <a:rPr i="1" lang="en-US"/>
              <a:t>1,044,932</a:t>
            </a:r>
            <a:r>
              <a:rPr lang="en-US">
                <a:solidFill>
                  <a:srgbClr val="0000FF"/>
                </a:solidFill>
                <a:latin typeface="Times New Roman"/>
                <a:ea typeface="Times New Roman"/>
                <a:cs typeface="Times New Roman"/>
                <a:sym typeface="Times New Roman"/>
              </a:rPr>
              <a:t> </a:t>
            </a:r>
            <a:r>
              <a:rPr i="1" lang="en-US"/>
              <a:t>for </a:t>
            </a:r>
            <a:br>
              <a:rPr i="1" lang="en-US"/>
            </a:br>
            <a:r>
              <a:rPr i="1" lang="en-US"/>
              <a:t>€ 2,089,863</a:t>
            </a:r>
            <a:endParaRPr/>
          </a:p>
          <a:p>
            <a:pPr indent="-228600" lvl="0" marL="228600" rtl="0" algn="l">
              <a:lnSpc>
                <a:spcPct val="90000"/>
              </a:lnSpc>
              <a:spcBef>
                <a:spcPts val="1000"/>
              </a:spcBef>
              <a:spcAft>
                <a:spcPts val="0"/>
              </a:spcAft>
              <a:buClr>
                <a:schemeClr val="dk1"/>
              </a:buClr>
              <a:buSzPts val="2400"/>
              <a:buFont typeface="Calibri"/>
              <a:buNone/>
            </a:pPr>
            <a:r>
              <a:rPr lang="en-US" sz="2400"/>
              <a:t>Profit = £ 44,932</a:t>
            </a:r>
            <a:endParaRPr/>
          </a:p>
        </p:txBody>
      </p:sp>
      <p:sp>
        <p:nvSpPr>
          <p:cNvPr id="708" name="Google Shape;708;p67"/>
          <p:cNvSpPr txBox="1"/>
          <p:nvPr>
            <p:ph idx="2" type="body"/>
          </p:nvPr>
        </p:nvSpPr>
        <p:spPr>
          <a:xfrm>
            <a:off x="6172200" y="1839072"/>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accent4"/>
              </a:buClr>
              <a:buSzPts val="3200"/>
              <a:buFont typeface="Calibri"/>
              <a:buNone/>
            </a:pPr>
            <a:r>
              <a:rPr lang="en-US">
                <a:solidFill>
                  <a:schemeClr val="accent4"/>
                </a:solidFill>
              </a:rPr>
              <a:t> </a:t>
            </a:r>
            <a:endParaRPr/>
          </a:p>
        </p:txBody>
      </p:sp>
      <p:cxnSp>
        <p:nvCxnSpPr>
          <p:cNvPr id="709" name="Google Shape;709;p67"/>
          <p:cNvCxnSpPr/>
          <p:nvPr/>
        </p:nvCxnSpPr>
        <p:spPr>
          <a:xfrm flipH="1">
            <a:off x="7189788" y="2643188"/>
            <a:ext cx="1243012" cy="1878012"/>
          </a:xfrm>
          <a:prstGeom prst="straightConnector1">
            <a:avLst/>
          </a:prstGeom>
          <a:noFill/>
          <a:ln cap="flat" cmpd="sng" w="50800">
            <a:solidFill>
              <a:schemeClr val="dk1"/>
            </a:solidFill>
            <a:prstDash val="dot"/>
            <a:round/>
            <a:headEnd len="med" w="med" type="none"/>
            <a:tailEnd len="med" w="med" type="triangle"/>
          </a:ln>
        </p:spPr>
      </p:cxnSp>
      <p:cxnSp>
        <p:nvCxnSpPr>
          <p:cNvPr id="710" name="Google Shape;710;p67"/>
          <p:cNvCxnSpPr/>
          <p:nvPr/>
        </p:nvCxnSpPr>
        <p:spPr>
          <a:xfrm>
            <a:off x="7367588" y="4572000"/>
            <a:ext cx="2182812" cy="0"/>
          </a:xfrm>
          <a:prstGeom prst="straightConnector1">
            <a:avLst/>
          </a:prstGeom>
          <a:noFill/>
          <a:ln cap="flat" cmpd="sng" w="50800">
            <a:solidFill>
              <a:schemeClr val="dk1"/>
            </a:solidFill>
            <a:prstDash val="dot"/>
            <a:round/>
            <a:headEnd len="med" w="med" type="none"/>
            <a:tailEnd len="med" w="med" type="triangle"/>
          </a:ln>
        </p:spPr>
      </p:cxnSp>
      <p:cxnSp>
        <p:nvCxnSpPr>
          <p:cNvPr id="711" name="Google Shape;711;p67"/>
          <p:cNvCxnSpPr/>
          <p:nvPr/>
        </p:nvCxnSpPr>
        <p:spPr>
          <a:xfrm>
            <a:off x="8434388" y="2643188"/>
            <a:ext cx="1116012" cy="1878012"/>
          </a:xfrm>
          <a:prstGeom prst="straightConnector1">
            <a:avLst/>
          </a:prstGeom>
          <a:noFill/>
          <a:ln cap="flat" cmpd="sng" w="50800">
            <a:solidFill>
              <a:schemeClr val="dk1"/>
            </a:solidFill>
            <a:prstDash val="dot"/>
            <a:round/>
            <a:headEnd len="med" w="med" type="triangle"/>
            <a:tailEnd len="med" w="med" type="none"/>
          </a:ln>
        </p:spPr>
      </p:cxnSp>
      <p:sp>
        <p:nvSpPr>
          <p:cNvPr id="712" name="Google Shape;712;p67"/>
          <p:cNvSpPr/>
          <p:nvPr/>
        </p:nvSpPr>
        <p:spPr>
          <a:xfrm>
            <a:off x="9372600" y="4648200"/>
            <a:ext cx="1143000" cy="6096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Frankfurt</a:t>
            </a:r>
            <a:endParaRPr/>
          </a:p>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713" name="Google Shape;713;p67"/>
          <p:cNvSpPr/>
          <p:nvPr/>
        </p:nvSpPr>
        <p:spPr>
          <a:xfrm>
            <a:off x="7924800" y="2209800"/>
            <a:ext cx="10668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London</a:t>
            </a:r>
            <a:endParaRPr/>
          </a:p>
        </p:txBody>
      </p:sp>
      <p:sp>
        <p:nvSpPr>
          <p:cNvPr id="714" name="Google Shape;714;p67"/>
          <p:cNvSpPr/>
          <p:nvPr/>
        </p:nvSpPr>
        <p:spPr>
          <a:xfrm>
            <a:off x="7239000" y="4648200"/>
            <a:ext cx="6096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NY</a:t>
            </a:r>
            <a:endParaRPr/>
          </a:p>
        </p:txBody>
      </p:sp>
      <p:sp>
        <p:nvSpPr>
          <p:cNvPr id="715" name="Google Shape;715;p67"/>
          <p:cNvSpPr/>
          <p:nvPr/>
        </p:nvSpPr>
        <p:spPr>
          <a:xfrm>
            <a:off x="5791200" y="4495800"/>
            <a:ext cx="1447800" cy="381000"/>
          </a:xfrm>
          <a:prstGeom prst="rect">
            <a:avLst/>
          </a:prstGeom>
          <a:noFill/>
          <a:ln cap="flat" cmpd="sng" w="9525">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2000">
                <a:solidFill>
                  <a:schemeClr val="dk1"/>
                </a:solidFill>
                <a:latin typeface="Book Antiqua"/>
                <a:ea typeface="Book Antiqua"/>
                <a:cs typeface="Book Antiqua"/>
                <a:sym typeface="Book Antiqua"/>
              </a:rPr>
              <a:t>buy  </a:t>
            </a:r>
            <a:r>
              <a:rPr b="1" lang="en-US" sz="2000">
                <a:solidFill>
                  <a:schemeClr val="dk1"/>
                </a:solidFill>
                <a:latin typeface="Calibri"/>
                <a:ea typeface="Calibri"/>
                <a:cs typeface="Calibri"/>
                <a:sym typeface="Calibri"/>
              </a:rPr>
              <a:t>£</a:t>
            </a:r>
            <a:r>
              <a:rPr b="1" lang="en-US" sz="2000">
                <a:solidFill>
                  <a:schemeClr val="dk1"/>
                </a:solidFill>
                <a:latin typeface="Book Antiqua"/>
                <a:ea typeface="Book Antiqua"/>
                <a:cs typeface="Book Antiqua"/>
                <a:sym typeface="Book Antiqua"/>
              </a:rPr>
              <a:t> for €</a:t>
            </a:r>
            <a:endParaRPr/>
          </a:p>
        </p:txBody>
      </p:sp>
      <p:sp>
        <p:nvSpPr>
          <p:cNvPr id="716" name="Google Shape;716;p67"/>
          <p:cNvSpPr/>
          <p:nvPr/>
        </p:nvSpPr>
        <p:spPr>
          <a:xfrm rot="-30908">
            <a:off x="7924800" y="1524000"/>
            <a:ext cx="1524000" cy="304800"/>
          </a:xfrm>
          <a:prstGeom prst="rect">
            <a:avLst/>
          </a:prstGeom>
          <a:noFill/>
          <a:ln cap="flat" cmpd="sng" w="9525">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2000">
                <a:solidFill>
                  <a:schemeClr val="dk1"/>
                </a:solidFill>
                <a:latin typeface="Book Antiqua"/>
                <a:ea typeface="Book Antiqua"/>
                <a:cs typeface="Book Antiqua"/>
                <a:sym typeface="Book Antiqua"/>
              </a:rPr>
              <a:t>buy € for </a:t>
            </a:r>
            <a:r>
              <a:rPr b="1" lang="en-US" sz="2000">
                <a:solidFill>
                  <a:schemeClr val="dk1"/>
                </a:solidFill>
                <a:latin typeface="Calibri"/>
                <a:ea typeface="Calibri"/>
                <a:cs typeface="Calibri"/>
                <a:sym typeface="Calibri"/>
              </a:rPr>
              <a:t>$</a:t>
            </a:r>
            <a:endParaRPr/>
          </a:p>
        </p:txBody>
      </p:sp>
      <p:sp>
        <p:nvSpPr>
          <p:cNvPr id="717" name="Google Shape;717;p67"/>
          <p:cNvSpPr/>
          <p:nvPr/>
        </p:nvSpPr>
        <p:spPr>
          <a:xfrm rot="-11632">
            <a:off x="9144000" y="5410200"/>
            <a:ext cx="1296988" cy="304800"/>
          </a:xfrm>
          <a:prstGeom prst="rect">
            <a:avLst/>
          </a:prstGeom>
          <a:noFill/>
          <a:ln cap="flat" cmpd="sng" w="9525">
            <a:solidFill>
              <a:schemeClr val="dk1"/>
            </a:solidFill>
            <a:prstDash val="solid"/>
            <a:miter lim="800000"/>
            <a:headEnd len="sm" w="sm" type="none"/>
            <a:tailEnd len="sm" w="sm" type="none"/>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2000">
                <a:solidFill>
                  <a:schemeClr val="dk1"/>
                </a:solidFill>
                <a:latin typeface="Book Antiqua"/>
                <a:ea typeface="Book Antiqua"/>
                <a:cs typeface="Book Antiqua"/>
                <a:sym typeface="Book Antiqua"/>
              </a:rPr>
              <a:t>buy $ for </a:t>
            </a:r>
            <a:r>
              <a:rPr b="1" lang="en-US" sz="2000">
                <a:solidFill>
                  <a:schemeClr val="dk1"/>
                </a:solidFill>
                <a:latin typeface="Calibri"/>
                <a:ea typeface="Calibri"/>
                <a:cs typeface="Calibri"/>
                <a:sym typeface="Calibri"/>
              </a:rPr>
              <a:t>£</a:t>
            </a:r>
            <a:endParaRPr/>
          </a:p>
        </p:txBody>
      </p:sp>
      <p:sp>
        <p:nvSpPr>
          <p:cNvPr id="718" name="Google Shape;718;p67"/>
          <p:cNvSpPr txBox="1"/>
          <p:nvPr/>
        </p:nvSpPr>
        <p:spPr>
          <a:xfrm>
            <a:off x="7924800" y="1905000"/>
            <a:ext cx="1295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$.825</a:t>
            </a:r>
            <a:endParaRPr/>
          </a:p>
        </p:txBody>
      </p:sp>
      <p:sp>
        <p:nvSpPr>
          <p:cNvPr id="719" name="Google Shape;719;p67"/>
          <p:cNvSpPr txBox="1"/>
          <p:nvPr/>
        </p:nvSpPr>
        <p:spPr>
          <a:xfrm>
            <a:off x="6553200" y="4953000"/>
            <a:ext cx="1447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 € 1.9</a:t>
            </a:r>
            <a:endParaRPr/>
          </a:p>
        </p:txBody>
      </p:sp>
      <p:sp>
        <p:nvSpPr>
          <p:cNvPr id="720" name="Google Shape;720;p67"/>
          <p:cNvSpPr txBox="1"/>
          <p:nvPr/>
        </p:nvSpPr>
        <p:spPr>
          <a:xfrm>
            <a:off x="9220200" y="4953000"/>
            <a:ext cx="1447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$=0.58 £</a:t>
            </a:r>
            <a:endParaRPr/>
          </a:p>
        </p:txBody>
      </p:sp>
      <p:sp>
        <p:nvSpPr>
          <p:cNvPr id="721" name="Google Shape;721;p67"/>
          <p:cNvSpPr txBox="1"/>
          <p:nvPr/>
        </p:nvSpPr>
        <p:spPr>
          <a:xfrm>
            <a:off x="5867400" y="2667001"/>
            <a:ext cx="1676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£=$1.65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($=£ 0.606)</a:t>
            </a:r>
            <a:endParaRPr/>
          </a:p>
        </p:txBody>
      </p:sp>
      <p:sp>
        <p:nvSpPr>
          <p:cNvPr id="722" name="Google Shape;722;p67"/>
          <p:cNvSpPr txBox="1"/>
          <p:nvPr/>
        </p:nvSpPr>
        <p:spPr>
          <a:xfrm>
            <a:off x="7772400" y="5029201"/>
            <a:ext cx="14478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€1.15</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(€=$.86)</a:t>
            </a:r>
            <a:endParaRPr/>
          </a:p>
        </p:txBody>
      </p:sp>
      <p:sp>
        <p:nvSpPr>
          <p:cNvPr id="723" name="Google Shape;723;p67"/>
          <p:cNvSpPr txBox="1"/>
          <p:nvPr/>
        </p:nvSpPr>
        <p:spPr>
          <a:xfrm>
            <a:off x="9372600" y="2590801"/>
            <a:ext cx="15240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 £0.5</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€2)</a:t>
            </a:r>
            <a:endParaRPr/>
          </a:p>
        </p:txBody>
      </p:sp>
      <p:sp>
        <p:nvSpPr>
          <p:cNvPr id="724" name="Google Shape;724;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xEl>
                                              <p:pRg end="0" st="0"/>
                                            </p:txEl>
                                          </p:spTgt>
                                        </p:tgtEl>
                                        <p:attrNameLst>
                                          <p:attrName>style.visibility</p:attrName>
                                        </p:attrNameLst>
                                      </p:cBhvr>
                                      <p:to>
                                        <p:strVal val="visible"/>
                                      </p:to>
                                    </p:set>
                                    <p:animEffect filter="fade" transition="in">
                                      <p:cBhvr>
                                        <p:cTn dur="500"/>
                                        <p:tgtEl>
                                          <p:spTgt spid="7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xEl>
                                              <p:pRg end="1" st="1"/>
                                            </p:txEl>
                                          </p:spTgt>
                                        </p:tgtEl>
                                        <p:attrNameLst>
                                          <p:attrName>style.visibility</p:attrName>
                                        </p:attrNameLst>
                                      </p:cBhvr>
                                      <p:to>
                                        <p:strVal val="visible"/>
                                      </p:to>
                                    </p:set>
                                    <p:animEffect filter="fade" transition="in">
                                      <p:cBhvr>
                                        <p:cTn dur="500"/>
                                        <p:tgtEl>
                                          <p:spTgt spid="7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xEl>
                                              <p:pRg end="2" st="2"/>
                                            </p:txEl>
                                          </p:spTgt>
                                        </p:tgtEl>
                                        <p:attrNameLst>
                                          <p:attrName>style.visibility</p:attrName>
                                        </p:attrNameLst>
                                      </p:cBhvr>
                                      <p:to>
                                        <p:strVal val="visible"/>
                                      </p:to>
                                    </p:set>
                                    <p:animEffect filter="fade" transition="in">
                                      <p:cBhvr>
                                        <p:cTn dur="500"/>
                                        <p:tgtEl>
                                          <p:spTgt spid="7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xEl>
                                              <p:pRg end="3" st="3"/>
                                            </p:txEl>
                                          </p:spTgt>
                                        </p:tgtEl>
                                        <p:attrNameLst>
                                          <p:attrName>style.visibility</p:attrName>
                                        </p:attrNameLst>
                                      </p:cBhvr>
                                      <p:to>
                                        <p:strVal val="visible"/>
                                      </p:to>
                                    </p:set>
                                    <p:animEffect filter="fade" transition="in">
                                      <p:cBhvr>
                                        <p:cTn dur="500"/>
                                        <p:tgtEl>
                                          <p:spTgt spid="7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xEl>
                                              <p:pRg end="4" st="4"/>
                                            </p:txEl>
                                          </p:spTgt>
                                        </p:tgtEl>
                                        <p:attrNameLst>
                                          <p:attrName>style.visibility</p:attrName>
                                        </p:attrNameLst>
                                      </p:cBhvr>
                                      <p:to>
                                        <p:strVal val="visible"/>
                                      </p:to>
                                    </p:set>
                                    <p:animEffect filter="fade" transition="in">
                                      <p:cBhvr>
                                        <p:cTn dur="500"/>
                                        <p:tgtEl>
                                          <p:spTgt spid="7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xEl>
                                              <p:pRg end="5" st="5"/>
                                            </p:txEl>
                                          </p:spTgt>
                                        </p:tgtEl>
                                        <p:attrNameLst>
                                          <p:attrName>style.visibility</p:attrName>
                                        </p:attrNameLst>
                                      </p:cBhvr>
                                      <p:to>
                                        <p:strVal val="visible"/>
                                      </p:to>
                                    </p:set>
                                    <p:animEffect filter="fade" transition="in">
                                      <p:cBhvr>
                                        <p:cTn dur="500"/>
                                        <p:tgtEl>
                                          <p:spTgt spid="7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7">
                                            <p:txEl>
                                              <p:pRg end="6" st="6"/>
                                            </p:txEl>
                                          </p:spTgt>
                                        </p:tgtEl>
                                        <p:attrNameLst>
                                          <p:attrName>style.visibility</p:attrName>
                                        </p:attrNameLst>
                                      </p:cBhvr>
                                      <p:to>
                                        <p:strVal val="visible"/>
                                      </p:to>
                                    </p:set>
                                    <p:animEffect filter="fade" transition="in">
                                      <p:cBhvr>
                                        <p:cTn dur="500"/>
                                        <p:tgtEl>
                                          <p:spTgt spid="70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8"/>
          <p:cNvSpPr txBox="1"/>
          <p:nvPr>
            <p:ph type="title"/>
          </p:nvPr>
        </p:nvSpPr>
        <p:spPr>
          <a:xfrm>
            <a:off x="1161805" y="-44200"/>
            <a:ext cx="10515600" cy="1325563"/>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5400"/>
              <a:buFont typeface="Calibri"/>
              <a:buNone/>
            </a:pPr>
            <a:r>
              <a:rPr lang="en-US" sz="5400"/>
              <a:t>3-Point Ex. Arbitrage</a:t>
            </a:r>
            <a:endParaRPr/>
          </a:p>
        </p:txBody>
      </p:sp>
      <p:sp>
        <p:nvSpPr>
          <p:cNvPr id="730" name="Google Shape;730;p68"/>
          <p:cNvSpPr txBox="1"/>
          <p:nvPr>
            <p:ph idx="1" type="body"/>
          </p:nvPr>
        </p:nvSpPr>
        <p:spPr>
          <a:xfrm>
            <a:off x="2438400" y="1981201"/>
            <a:ext cx="3805238" cy="4181475"/>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2400"/>
              <a:buChar char="•"/>
            </a:pPr>
            <a:r>
              <a:rPr lang="en-US" sz="2400" u="sng"/>
              <a:t>Frankfurt</a:t>
            </a:r>
            <a:endParaRPr/>
          </a:p>
          <a:p>
            <a:pPr indent="-228600" lvl="1" marL="685800" rtl="0" algn="l">
              <a:lnSpc>
                <a:spcPct val="90000"/>
              </a:lnSpc>
              <a:spcBef>
                <a:spcPts val="500"/>
              </a:spcBef>
              <a:spcAft>
                <a:spcPts val="0"/>
              </a:spcAft>
              <a:buClr>
                <a:schemeClr val="dk1"/>
              </a:buClr>
              <a:buSzPts val="2800"/>
              <a:buChar char="•"/>
            </a:pPr>
            <a:r>
              <a:rPr i="1" lang="en-US"/>
              <a:t>  demand for $</a:t>
            </a:r>
            <a:endParaRPr/>
          </a:p>
          <a:p>
            <a:pPr indent="-228600" lvl="1" marL="685800" rtl="0" algn="l">
              <a:lnSpc>
                <a:spcPct val="90000"/>
              </a:lnSpc>
              <a:spcBef>
                <a:spcPts val="500"/>
              </a:spcBef>
              <a:spcAft>
                <a:spcPts val="0"/>
              </a:spcAft>
              <a:buClr>
                <a:schemeClr val="dk1"/>
              </a:buClr>
              <a:buSzPts val="2800"/>
              <a:buChar char="•"/>
            </a:pPr>
            <a:r>
              <a:rPr i="1" lang="en-US"/>
              <a:t>  $ price</a:t>
            </a:r>
            <a:endParaRPr/>
          </a:p>
          <a:p>
            <a:pPr indent="-228600" lvl="0" marL="228600" rtl="0" algn="l">
              <a:lnSpc>
                <a:spcPct val="90000"/>
              </a:lnSpc>
              <a:spcBef>
                <a:spcPts val="1000"/>
              </a:spcBef>
              <a:spcAft>
                <a:spcPts val="0"/>
              </a:spcAft>
              <a:buClr>
                <a:schemeClr val="dk1"/>
              </a:buClr>
              <a:buSzPts val="2400"/>
              <a:buChar char="•"/>
            </a:pPr>
            <a:r>
              <a:rPr lang="en-US" sz="2400" u="sng"/>
              <a:t>London</a:t>
            </a:r>
            <a:endParaRPr/>
          </a:p>
          <a:p>
            <a:pPr indent="-228600" lvl="1" marL="685800" rtl="0" algn="l">
              <a:lnSpc>
                <a:spcPct val="90000"/>
              </a:lnSpc>
              <a:spcBef>
                <a:spcPts val="500"/>
              </a:spcBef>
              <a:spcAft>
                <a:spcPts val="0"/>
              </a:spcAft>
              <a:buClr>
                <a:schemeClr val="dk1"/>
              </a:buClr>
              <a:buSzPts val="2800"/>
              <a:buChar char="•"/>
            </a:pPr>
            <a:r>
              <a:rPr i="1" lang="en-US"/>
              <a:t>  demand for €</a:t>
            </a:r>
            <a:endParaRPr/>
          </a:p>
          <a:p>
            <a:pPr indent="-228600" lvl="1" marL="685800" rtl="0" algn="l">
              <a:lnSpc>
                <a:spcPct val="90000"/>
              </a:lnSpc>
              <a:spcBef>
                <a:spcPts val="500"/>
              </a:spcBef>
              <a:spcAft>
                <a:spcPts val="0"/>
              </a:spcAft>
              <a:buClr>
                <a:schemeClr val="dk1"/>
              </a:buClr>
              <a:buSzPts val="2800"/>
              <a:buChar char="•"/>
            </a:pPr>
            <a:r>
              <a:rPr i="1" lang="en-US"/>
              <a:t>  € price</a:t>
            </a:r>
            <a:endParaRPr/>
          </a:p>
          <a:p>
            <a:pPr indent="-228600" lvl="0" marL="228600" rtl="0" algn="l">
              <a:lnSpc>
                <a:spcPct val="90000"/>
              </a:lnSpc>
              <a:spcBef>
                <a:spcPts val="1000"/>
              </a:spcBef>
              <a:spcAft>
                <a:spcPts val="0"/>
              </a:spcAft>
              <a:buClr>
                <a:schemeClr val="dk1"/>
              </a:buClr>
              <a:buSzPts val="2400"/>
              <a:buChar char="•"/>
            </a:pPr>
            <a:r>
              <a:rPr lang="en-US" sz="2400" u="sng"/>
              <a:t>New York</a:t>
            </a:r>
            <a:endParaRPr/>
          </a:p>
          <a:p>
            <a:pPr indent="-228600" lvl="1" marL="685800" rtl="0" algn="l">
              <a:lnSpc>
                <a:spcPct val="90000"/>
              </a:lnSpc>
              <a:spcBef>
                <a:spcPts val="500"/>
              </a:spcBef>
              <a:spcAft>
                <a:spcPts val="0"/>
              </a:spcAft>
              <a:buClr>
                <a:schemeClr val="dk1"/>
              </a:buClr>
              <a:buSzPts val="2800"/>
              <a:buChar char="•"/>
            </a:pPr>
            <a:r>
              <a:rPr i="1" lang="en-US"/>
              <a:t>  demand for </a:t>
            </a:r>
            <a:r>
              <a:rPr lang="en-US">
                <a:solidFill>
                  <a:srgbClr val="0000FF"/>
                </a:solidFill>
                <a:latin typeface="Times New Roman"/>
                <a:ea typeface="Times New Roman"/>
                <a:cs typeface="Times New Roman"/>
                <a:sym typeface="Times New Roman"/>
              </a:rPr>
              <a:t>£</a:t>
            </a:r>
            <a:endParaRPr i="1"/>
          </a:p>
          <a:p>
            <a:pPr indent="-228600" lvl="1" marL="685800" rtl="0" algn="l">
              <a:lnSpc>
                <a:spcPct val="90000"/>
              </a:lnSpc>
              <a:spcBef>
                <a:spcPts val="500"/>
              </a:spcBef>
              <a:spcAft>
                <a:spcPts val="0"/>
              </a:spcAft>
              <a:buClr>
                <a:schemeClr val="dk1"/>
              </a:buClr>
              <a:buSzPts val="2800"/>
              <a:buChar char="•"/>
            </a:pPr>
            <a:r>
              <a:rPr i="1" lang="en-US"/>
              <a:t>  </a:t>
            </a:r>
            <a:r>
              <a:rPr lang="en-US">
                <a:solidFill>
                  <a:srgbClr val="0000FF"/>
                </a:solidFill>
                <a:latin typeface="Times New Roman"/>
                <a:ea typeface="Times New Roman"/>
                <a:cs typeface="Times New Roman"/>
                <a:sym typeface="Times New Roman"/>
              </a:rPr>
              <a:t>£</a:t>
            </a:r>
            <a:r>
              <a:rPr i="1" lang="en-US"/>
              <a:t> price</a:t>
            </a:r>
            <a:endParaRPr/>
          </a:p>
        </p:txBody>
      </p:sp>
      <p:sp>
        <p:nvSpPr>
          <p:cNvPr id="731" name="Google Shape;731;p68"/>
          <p:cNvSpPr txBox="1"/>
          <p:nvPr>
            <p:ph idx="2" type="body"/>
          </p:nvPr>
        </p:nvSpPr>
        <p:spPr>
          <a:xfrm>
            <a:off x="6172200" y="1839072"/>
            <a:ext cx="5181600" cy="4351338"/>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accent4"/>
              </a:buClr>
              <a:buSzPts val="3200"/>
              <a:buFont typeface="Calibri"/>
              <a:buNone/>
            </a:pPr>
            <a:r>
              <a:rPr lang="en-US">
                <a:solidFill>
                  <a:schemeClr val="accent4"/>
                </a:solidFill>
              </a:rPr>
              <a:t> </a:t>
            </a:r>
            <a:endParaRPr/>
          </a:p>
        </p:txBody>
      </p:sp>
      <p:cxnSp>
        <p:nvCxnSpPr>
          <p:cNvPr id="732" name="Google Shape;732;p68"/>
          <p:cNvCxnSpPr/>
          <p:nvPr/>
        </p:nvCxnSpPr>
        <p:spPr>
          <a:xfrm flipH="1">
            <a:off x="7189788" y="2643188"/>
            <a:ext cx="1243012" cy="1878012"/>
          </a:xfrm>
          <a:prstGeom prst="straightConnector1">
            <a:avLst/>
          </a:prstGeom>
          <a:noFill/>
          <a:ln cap="flat" cmpd="sng" w="50800">
            <a:solidFill>
              <a:schemeClr val="dk1"/>
            </a:solidFill>
            <a:prstDash val="dot"/>
            <a:round/>
            <a:headEnd len="med" w="med" type="none"/>
            <a:tailEnd len="med" w="med" type="triangle"/>
          </a:ln>
        </p:spPr>
      </p:cxnSp>
      <p:cxnSp>
        <p:nvCxnSpPr>
          <p:cNvPr id="733" name="Google Shape;733;p68"/>
          <p:cNvCxnSpPr/>
          <p:nvPr/>
        </p:nvCxnSpPr>
        <p:spPr>
          <a:xfrm>
            <a:off x="7367588" y="4572000"/>
            <a:ext cx="2182812" cy="0"/>
          </a:xfrm>
          <a:prstGeom prst="straightConnector1">
            <a:avLst/>
          </a:prstGeom>
          <a:noFill/>
          <a:ln cap="flat" cmpd="sng" w="50800">
            <a:solidFill>
              <a:schemeClr val="dk1"/>
            </a:solidFill>
            <a:prstDash val="dot"/>
            <a:round/>
            <a:headEnd len="med" w="med" type="none"/>
            <a:tailEnd len="med" w="med" type="triangle"/>
          </a:ln>
        </p:spPr>
      </p:cxnSp>
      <p:cxnSp>
        <p:nvCxnSpPr>
          <p:cNvPr id="734" name="Google Shape;734;p68"/>
          <p:cNvCxnSpPr/>
          <p:nvPr/>
        </p:nvCxnSpPr>
        <p:spPr>
          <a:xfrm>
            <a:off x="8434388" y="2643188"/>
            <a:ext cx="1116012" cy="1878012"/>
          </a:xfrm>
          <a:prstGeom prst="straightConnector1">
            <a:avLst/>
          </a:prstGeom>
          <a:noFill/>
          <a:ln cap="flat" cmpd="sng" w="50800">
            <a:solidFill>
              <a:schemeClr val="dk1"/>
            </a:solidFill>
            <a:prstDash val="dot"/>
            <a:round/>
            <a:headEnd len="med" w="med" type="triangle"/>
            <a:tailEnd len="med" w="med" type="none"/>
          </a:ln>
        </p:spPr>
      </p:cxnSp>
      <p:sp>
        <p:nvSpPr>
          <p:cNvPr id="735" name="Google Shape;735;p68"/>
          <p:cNvSpPr/>
          <p:nvPr/>
        </p:nvSpPr>
        <p:spPr>
          <a:xfrm>
            <a:off x="9372600" y="4648200"/>
            <a:ext cx="1143000" cy="6096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Frankfurt</a:t>
            </a:r>
            <a:endParaRPr/>
          </a:p>
          <a:p>
            <a:pPr indent="0" lvl="0" marL="0" marR="0" rtl="0" algn="ctr">
              <a:spcBef>
                <a:spcPts val="0"/>
              </a:spcBef>
              <a:spcAft>
                <a:spcPts val="0"/>
              </a:spcAft>
              <a:buNone/>
            </a:pPr>
            <a:r>
              <a:t/>
            </a:r>
            <a:endParaRPr b="1" sz="1800">
              <a:solidFill>
                <a:schemeClr val="dk1"/>
              </a:solidFill>
              <a:latin typeface="Book Antiqua"/>
              <a:ea typeface="Book Antiqua"/>
              <a:cs typeface="Book Antiqua"/>
              <a:sym typeface="Book Antiqua"/>
            </a:endParaRPr>
          </a:p>
        </p:txBody>
      </p:sp>
      <p:sp>
        <p:nvSpPr>
          <p:cNvPr id="736" name="Google Shape;736;p68"/>
          <p:cNvSpPr/>
          <p:nvPr/>
        </p:nvSpPr>
        <p:spPr>
          <a:xfrm>
            <a:off x="7924800" y="2209800"/>
            <a:ext cx="10668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London</a:t>
            </a:r>
            <a:endParaRPr/>
          </a:p>
        </p:txBody>
      </p:sp>
      <p:sp>
        <p:nvSpPr>
          <p:cNvPr id="737" name="Google Shape;737;p68"/>
          <p:cNvSpPr/>
          <p:nvPr/>
        </p:nvSpPr>
        <p:spPr>
          <a:xfrm>
            <a:off x="7086600" y="4648200"/>
            <a:ext cx="609600" cy="3810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NY</a:t>
            </a:r>
            <a:endParaRPr/>
          </a:p>
        </p:txBody>
      </p:sp>
      <p:sp>
        <p:nvSpPr>
          <p:cNvPr id="738" name="Google Shape;738;p68"/>
          <p:cNvSpPr/>
          <p:nvPr/>
        </p:nvSpPr>
        <p:spPr>
          <a:xfrm>
            <a:off x="6477000" y="5029200"/>
            <a:ext cx="1447800" cy="4572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Buy  </a:t>
            </a:r>
            <a:r>
              <a:rPr b="1" lang="en-US" sz="1800">
                <a:solidFill>
                  <a:schemeClr val="dk1"/>
                </a:solidFill>
                <a:latin typeface="Calibri"/>
                <a:ea typeface="Calibri"/>
                <a:cs typeface="Calibri"/>
                <a:sym typeface="Calibri"/>
              </a:rPr>
              <a:t>£</a:t>
            </a:r>
            <a:r>
              <a:rPr b="1" lang="en-US" sz="1800">
                <a:solidFill>
                  <a:schemeClr val="dk1"/>
                </a:solidFill>
                <a:latin typeface="Book Antiqua"/>
                <a:ea typeface="Book Antiqua"/>
                <a:cs typeface="Book Antiqua"/>
                <a:sym typeface="Book Antiqua"/>
              </a:rPr>
              <a:t> for $</a:t>
            </a:r>
            <a:endParaRPr/>
          </a:p>
        </p:txBody>
      </p:sp>
      <p:sp>
        <p:nvSpPr>
          <p:cNvPr id="739" name="Google Shape;739;p68"/>
          <p:cNvSpPr/>
          <p:nvPr/>
        </p:nvSpPr>
        <p:spPr>
          <a:xfrm rot="12759">
            <a:off x="7848600" y="1676400"/>
            <a:ext cx="1219200" cy="4572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Buy € for </a:t>
            </a:r>
            <a:r>
              <a:rPr b="1" lang="en-US" sz="1800">
                <a:solidFill>
                  <a:schemeClr val="dk1"/>
                </a:solidFill>
                <a:latin typeface="Calibri"/>
                <a:ea typeface="Calibri"/>
                <a:cs typeface="Calibri"/>
                <a:sym typeface="Calibri"/>
              </a:rPr>
              <a:t>£</a:t>
            </a:r>
            <a:endParaRPr/>
          </a:p>
        </p:txBody>
      </p:sp>
      <p:sp>
        <p:nvSpPr>
          <p:cNvPr id="740" name="Google Shape;740;p68"/>
          <p:cNvSpPr/>
          <p:nvPr/>
        </p:nvSpPr>
        <p:spPr>
          <a:xfrm rot="-47112">
            <a:off x="8991600" y="5105400"/>
            <a:ext cx="1449388" cy="304800"/>
          </a:xfrm>
          <a:prstGeom prst="rect">
            <a:avLst/>
          </a:prstGeom>
          <a:noFill/>
          <a:ln>
            <a:noFill/>
          </a:ln>
        </p:spPr>
        <p:txBody>
          <a:bodyPr anchorCtr="0" anchor="ctr" bIns="44450" lIns="90475" spcFirstLastPara="1" rIns="90475" wrap="square" tIns="44450">
            <a:noAutofit/>
          </a:bodyPr>
          <a:lstStyle/>
          <a:p>
            <a:pPr indent="0" lvl="0" marL="0" marR="0" rtl="0" algn="ctr">
              <a:spcBef>
                <a:spcPts val="0"/>
              </a:spcBef>
              <a:spcAft>
                <a:spcPts val="0"/>
              </a:spcAft>
              <a:buNone/>
            </a:pPr>
            <a:r>
              <a:rPr b="1" lang="en-US" sz="1800">
                <a:solidFill>
                  <a:schemeClr val="dk1"/>
                </a:solidFill>
                <a:latin typeface="Book Antiqua"/>
                <a:ea typeface="Book Antiqua"/>
                <a:cs typeface="Book Antiqua"/>
                <a:sym typeface="Book Antiqua"/>
              </a:rPr>
              <a:t>Buy $ for  </a:t>
            </a:r>
            <a:r>
              <a:rPr b="1" lang="en-US" sz="1800">
                <a:solidFill>
                  <a:schemeClr val="dk1"/>
                </a:solidFill>
                <a:latin typeface="Calibri"/>
                <a:ea typeface="Calibri"/>
                <a:cs typeface="Calibri"/>
                <a:sym typeface="Calibri"/>
              </a:rPr>
              <a:t>£</a:t>
            </a:r>
            <a:endParaRPr/>
          </a:p>
        </p:txBody>
      </p:sp>
      <p:cxnSp>
        <p:nvCxnSpPr>
          <p:cNvPr id="741" name="Google Shape;741;p68"/>
          <p:cNvCxnSpPr/>
          <p:nvPr/>
        </p:nvCxnSpPr>
        <p:spPr>
          <a:xfrm rot="10800000">
            <a:off x="3276600" y="2514600"/>
            <a:ext cx="0" cy="228600"/>
          </a:xfrm>
          <a:prstGeom prst="straightConnector1">
            <a:avLst/>
          </a:prstGeom>
          <a:noFill/>
          <a:ln cap="flat" cmpd="sng" w="19050">
            <a:solidFill>
              <a:schemeClr val="dk1"/>
            </a:solidFill>
            <a:prstDash val="solid"/>
            <a:round/>
            <a:headEnd len="med" w="med" type="none"/>
            <a:tailEnd len="med" w="med" type="triangle"/>
          </a:ln>
        </p:spPr>
      </p:cxnSp>
      <p:cxnSp>
        <p:nvCxnSpPr>
          <p:cNvPr id="742" name="Google Shape;742;p68"/>
          <p:cNvCxnSpPr/>
          <p:nvPr/>
        </p:nvCxnSpPr>
        <p:spPr>
          <a:xfrm rot="10800000">
            <a:off x="3276600" y="2971800"/>
            <a:ext cx="0" cy="228600"/>
          </a:xfrm>
          <a:prstGeom prst="straightConnector1">
            <a:avLst/>
          </a:prstGeom>
          <a:noFill/>
          <a:ln cap="flat" cmpd="sng" w="19050">
            <a:solidFill>
              <a:schemeClr val="dk1"/>
            </a:solidFill>
            <a:prstDash val="solid"/>
            <a:round/>
            <a:headEnd len="med" w="med" type="none"/>
            <a:tailEnd len="med" w="med" type="triangle"/>
          </a:ln>
        </p:spPr>
      </p:cxnSp>
      <p:cxnSp>
        <p:nvCxnSpPr>
          <p:cNvPr id="743" name="Google Shape;743;p68"/>
          <p:cNvCxnSpPr/>
          <p:nvPr/>
        </p:nvCxnSpPr>
        <p:spPr>
          <a:xfrm rot="10800000">
            <a:off x="3276600" y="3886200"/>
            <a:ext cx="0" cy="228600"/>
          </a:xfrm>
          <a:prstGeom prst="straightConnector1">
            <a:avLst/>
          </a:prstGeom>
          <a:noFill/>
          <a:ln cap="flat" cmpd="sng" w="19050">
            <a:solidFill>
              <a:schemeClr val="dk1"/>
            </a:solidFill>
            <a:prstDash val="solid"/>
            <a:round/>
            <a:headEnd len="med" w="med" type="none"/>
            <a:tailEnd len="med" w="med" type="triangle"/>
          </a:ln>
        </p:spPr>
      </p:cxnSp>
      <p:cxnSp>
        <p:nvCxnSpPr>
          <p:cNvPr id="744" name="Google Shape;744;p68"/>
          <p:cNvCxnSpPr/>
          <p:nvPr/>
        </p:nvCxnSpPr>
        <p:spPr>
          <a:xfrm rot="10800000">
            <a:off x="3276600" y="4267200"/>
            <a:ext cx="0" cy="228600"/>
          </a:xfrm>
          <a:prstGeom prst="straightConnector1">
            <a:avLst/>
          </a:prstGeom>
          <a:noFill/>
          <a:ln cap="flat" cmpd="sng" w="19050">
            <a:solidFill>
              <a:schemeClr val="dk1"/>
            </a:solidFill>
            <a:prstDash val="solid"/>
            <a:round/>
            <a:headEnd len="med" w="med" type="none"/>
            <a:tailEnd len="med" w="med" type="triangle"/>
          </a:ln>
        </p:spPr>
      </p:cxnSp>
      <p:cxnSp>
        <p:nvCxnSpPr>
          <p:cNvPr id="745" name="Google Shape;745;p68"/>
          <p:cNvCxnSpPr/>
          <p:nvPr/>
        </p:nvCxnSpPr>
        <p:spPr>
          <a:xfrm rot="10800000">
            <a:off x="3352800" y="5257800"/>
            <a:ext cx="0" cy="228600"/>
          </a:xfrm>
          <a:prstGeom prst="straightConnector1">
            <a:avLst/>
          </a:prstGeom>
          <a:noFill/>
          <a:ln cap="flat" cmpd="sng" w="19050">
            <a:solidFill>
              <a:schemeClr val="dk1"/>
            </a:solidFill>
            <a:prstDash val="solid"/>
            <a:round/>
            <a:headEnd len="med" w="med" type="none"/>
            <a:tailEnd len="med" w="med" type="triangle"/>
          </a:ln>
        </p:spPr>
      </p:cxnSp>
      <p:cxnSp>
        <p:nvCxnSpPr>
          <p:cNvPr id="746" name="Google Shape;746;p68"/>
          <p:cNvCxnSpPr/>
          <p:nvPr/>
        </p:nvCxnSpPr>
        <p:spPr>
          <a:xfrm rot="10800000">
            <a:off x="3276600" y="5715000"/>
            <a:ext cx="0" cy="228600"/>
          </a:xfrm>
          <a:prstGeom prst="straightConnector1">
            <a:avLst/>
          </a:prstGeom>
          <a:noFill/>
          <a:ln cap="flat" cmpd="sng" w="19050">
            <a:solidFill>
              <a:schemeClr val="dk1"/>
            </a:solidFill>
            <a:prstDash val="solid"/>
            <a:round/>
            <a:headEnd len="med" w="med" type="none"/>
            <a:tailEnd len="med" w="med" type="triangle"/>
          </a:ln>
        </p:spPr>
      </p:cxnSp>
      <p:sp>
        <p:nvSpPr>
          <p:cNvPr id="747" name="Google Shape;747;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69"/>
          <p:cNvSpPr txBox="1"/>
          <p:nvPr>
            <p:ph type="title"/>
          </p:nvPr>
        </p:nvSpPr>
        <p:spPr>
          <a:xfrm>
            <a:off x="1828800" y="990600"/>
            <a:ext cx="8382000" cy="838200"/>
          </a:xfrm>
          <a:prstGeom prst="rect">
            <a:avLst/>
          </a:prstGeom>
          <a:noFill/>
          <a:ln>
            <a:noFill/>
          </a:ln>
        </p:spPr>
        <p:txBody>
          <a:bodyPr anchorCtr="0" anchor="ctr" bIns="44450" lIns="90475" spcFirstLastPara="1" rIns="90475" wrap="square" tIns="44450">
            <a:normAutofit/>
          </a:bodyPr>
          <a:lstStyle/>
          <a:p>
            <a:pPr indent="0" lvl="0" marL="0" rtl="0" algn="l">
              <a:lnSpc>
                <a:spcPct val="90000"/>
              </a:lnSpc>
              <a:spcBef>
                <a:spcPts val="0"/>
              </a:spcBef>
              <a:spcAft>
                <a:spcPts val="0"/>
              </a:spcAft>
              <a:buClr>
                <a:schemeClr val="dk1"/>
              </a:buClr>
              <a:buSzPts val="3600"/>
              <a:buFont typeface="Calibri"/>
              <a:buNone/>
            </a:pPr>
            <a:r>
              <a:rPr b="1" lang="en-US" sz="3600"/>
              <a:t>Problem:</a:t>
            </a:r>
            <a:endParaRPr/>
          </a:p>
        </p:txBody>
      </p:sp>
      <p:sp>
        <p:nvSpPr>
          <p:cNvPr id="753" name="Google Shape;753;p69"/>
          <p:cNvSpPr txBox="1"/>
          <p:nvPr>
            <p:ph idx="1" type="body"/>
          </p:nvPr>
        </p:nvSpPr>
        <p:spPr>
          <a:xfrm>
            <a:off x="1680882" y="1752600"/>
            <a:ext cx="8955742" cy="4495800"/>
          </a:xfrm>
          <a:prstGeom prst="rect">
            <a:avLst/>
          </a:prstGeom>
          <a:noFill/>
          <a:ln>
            <a:noFill/>
          </a:ln>
        </p:spPr>
        <p:txBody>
          <a:bodyPr anchorCtr="0" anchor="t" bIns="44450" lIns="90475" spcFirstLastPara="1" rIns="90475" wrap="square" tIns="44450">
            <a:normAutofit/>
          </a:bodyPr>
          <a:lstStyle/>
          <a:p>
            <a:pPr indent="-228600" lvl="1" marL="685800" rtl="0" algn="l">
              <a:lnSpc>
                <a:spcPct val="90000"/>
              </a:lnSpc>
              <a:spcBef>
                <a:spcPts val="0"/>
              </a:spcBef>
              <a:spcAft>
                <a:spcPts val="0"/>
              </a:spcAft>
              <a:buClr>
                <a:schemeClr val="dk1"/>
              </a:buClr>
              <a:buSzPts val="2400"/>
              <a:buFont typeface="Calibri"/>
              <a:buNone/>
            </a:pPr>
            <a:r>
              <a:rPr lang="en-US" sz="2400"/>
              <a:t> </a:t>
            </a:r>
            <a:r>
              <a:rPr b="1" lang="en-US" sz="2400">
                <a:solidFill>
                  <a:srgbClr val="0000FF"/>
                </a:solidFill>
              </a:rPr>
              <a:t>The spot rate between the US$ and € in NY is $1= € 1.15.  In Paris, the rate is $1= € 1.12. </a:t>
            </a:r>
            <a:br>
              <a:rPr b="1" lang="en-US" sz="2400">
                <a:solidFill>
                  <a:srgbClr val="0000FF"/>
                </a:solidFill>
              </a:rPr>
            </a:br>
            <a:r>
              <a:rPr b="1" lang="en-US" sz="2400">
                <a:solidFill>
                  <a:srgbClr val="0000FF"/>
                </a:solidFill>
              </a:rPr>
              <a:t>You have $2,000,000.  How much profit can you make through arbitrage in this situation?</a:t>
            </a:r>
            <a:endParaRPr/>
          </a:p>
          <a:p>
            <a:pPr indent="-228600" lvl="1" marL="685800" rtl="0" algn="l">
              <a:lnSpc>
                <a:spcPct val="90000"/>
              </a:lnSpc>
              <a:spcBef>
                <a:spcPts val="500"/>
              </a:spcBef>
              <a:spcAft>
                <a:spcPts val="0"/>
              </a:spcAft>
              <a:buClr>
                <a:schemeClr val="dk1"/>
              </a:buClr>
              <a:buSzPts val="2400"/>
              <a:buFont typeface="Calibri"/>
              <a:buNone/>
            </a:pPr>
            <a:r>
              <a:t/>
            </a:r>
            <a:endParaRPr b="1" sz="2400">
              <a:solidFill>
                <a:srgbClr val="0000FF"/>
              </a:solidFill>
            </a:endParaRPr>
          </a:p>
          <a:p>
            <a:pPr indent="-228600" lvl="1" marL="685800" rtl="0" algn="l">
              <a:lnSpc>
                <a:spcPct val="90000"/>
              </a:lnSpc>
              <a:spcBef>
                <a:spcPts val="500"/>
              </a:spcBef>
              <a:spcAft>
                <a:spcPts val="0"/>
              </a:spcAft>
              <a:buClr>
                <a:schemeClr val="dk1"/>
              </a:buClr>
              <a:buSzPts val="2800"/>
              <a:buChar char="•"/>
            </a:pPr>
            <a:r>
              <a:rPr lang="en-US"/>
              <a:t> € is priced low in NY (relative to Paris)</a:t>
            </a:r>
            <a:endParaRPr/>
          </a:p>
          <a:p>
            <a:pPr indent="-228600" lvl="1" marL="685800" rtl="0" algn="l">
              <a:lnSpc>
                <a:spcPct val="90000"/>
              </a:lnSpc>
              <a:spcBef>
                <a:spcPts val="500"/>
              </a:spcBef>
              <a:spcAft>
                <a:spcPts val="0"/>
              </a:spcAft>
              <a:buClr>
                <a:schemeClr val="dk1"/>
              </a:buClr>
              <a:buSzPts val="2800"/>
              <a:buChar char="•"/>
            </a:pPr>
            <a:r>
              <a:rPr lang="en-US"/>
              <a:t> buy € in NY - sell in Paris</a:t>
            </a:r>
            <a:endParaRPr/>
          </a:p>
          <a:p>
            <a:pPr indent="-228600" lvl="1" marL="685800" rtl="0" algn="l">
              <a:lnSpc>
                <a:spcPct val="90000"/>
              </a:lnSpc>
              <a:spcBef>
                <a:spcPts val="500"/>
              </a:spcBef>
              <a:spcAft>
                <a:spcPts val="0"/>
              </a:spcAft>
              <a:buClr>
                <a:schemeClr val="dk1"/>
              </a:buClr>
              <a:buSzPts val="2800"/>
              <a:buChar char="•"/>
            </a:pPr>
            <a:r>
              <a:rPr lang="en-US"/>
              <a:t> buy € 2,300,000 in NY – </a:t>
            </a:r>
            <a:br>
              <a:rPr lang="en-US"/>
            </a:br>
            <a:r>
              <a:rPr lang="en-US"/>
              <a:t> sell for $2,053,871 in Paris</a:t>
            </a:r>
            <a:endParaRPr/>
          </a:p>
          <a:p>
            <a:pPr indent="-228600" lvl="1" marL="685800" rtl="0" algn="l">
              <a:lnSpc>
                <a:spcPct val="90000"/>
              </a:lnSpc>
              <a:spcBef>
                <a:spcPts val="500"/>
              </a:spcBef>
              <a:spcAft>
                <a:spcPts val="0"/>
              </a:spcAft>
              <a:buClr>
                <a:schemeClr val="dk1"/>
              </a:buClr>
              <a:buSzPts val="2800"/>
              <a:buChar char="•"/>
            </a:pPr>
            <a:r>
              <a:rPr lang="en-US"/>
              <a:t> Profit = $53,871 (risk free)</a:t>
            </a:r>
            <a:endParaRPr/>
          </a:p>
        </p:txBody>
      </p:sp>
      <p:sp>
        <p:nvSpPr>
          <p:cNvPr id="754" name="Google Shape;754;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3">
                                            <p:txEl>
                                              <p:pRg end="0" st="0"/>
                                            </p:txEl>
                                          </p:spTgt>
                                        </p:tgtEl>
                                        <p:attrNameLst>
                                          <p:attrName>style.visibility</p:attrName>
                                        </p:attrNameLst>
                                      </p:cBhvr>
                                      <p:to>
                                        <p:strVal val="visible"/>
                                      </p:to>
                                    </p:set>
                                    <p:animEffect filter="fade" transition="in">
                                      <p:cBhvr>
                                        <p:cTn dur="500"/>
                                        <p:tgtEl>
                                          <p:spTgt spid="7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3">
                                            <p:txEl>
                                              <p:pRg end="1" st="1"/>
                                            </p:txEl>
                                          </p:spTgt>
                                        </p:tgtEl>
                                        <p:attrNameLst>
                                          <p:attrName>style.visibility</p:attrName>
                                        </p:attrNameLst>
                                      </p:cBhvr>
                                      <p:to>
                                        <p:strVal val="visible"/>
                                      </p:to>
                                    </p:set>
                                    <p:animEffect filter="fade" transition="in">
                                      <p:cBhvr>
                                        <p:cTn dur="500"/>
                                        <p:tgtEl>
                                          <p:spTgt spid="7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3">
                                            <p:txEl>
                                              <p:pRg end="2" st="2"/>
                                            </p:txEl>
                                          </p:spTgt>
                                        </p:tgtEl>
                                        <p:attrNameLst>
                                          <p:attrName>style.visibility</p:attrName>
                                        </p:attrNameLst>
                                      </p:cBhvr>
                                      <p:to>
                                        <p:strVal val="visible"/>
                                      </p:to>
                                    </p:set>
                                    <p:animEffect filter="fade" transition="in">
                                      <p:cBhvr>
                                        <p:cTn dur="500"/>
                                        <p:tgtEl>
                                          <p:spTgt spid="7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3">
                                            <p:txEl>
                                              <p:pRg end="3" st="3"/>
                                            </p:txEl>
                                          </p:spTgt>
                                        </p:tgtEl>
                                        <p:attrNameLst>
                                          <p:attrName>style.visibility</p:attrName>
                                        </p:attrNameLst>
                                      </p:cBhvr>
                                      <p:to>
                                        <p:strVal val="visible"/>
                                      </p:to>
                                    </p:set>
                                    <p:animEffect filter="fade" transition="in">
                                      <p:cBhvr>
                                        <p:cTn dur="500"/>
                                        <p:tgtEl>
                                          <p:spTgt spid="7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3">
                                            <p:txEl>
                                              <p:pRg end="4" st="4"/>
                                            </p:txEl>
                                          </p:spTgt>
                                        </p:tgtEl>
                                        <p:attrNameLst>
                                          <p:attrName>style.visibility</p:attrName>
                                        </p:attrNameLst>
                                      </p:cBhvr>
                                      <p:to>
                                        <p:strVal val="visible"/>
                                      </p:to>
                                    </p:set>
                                    <p:animEffect filter="fade" transition="in">
                                      <p:cBhvr>
                                        <p:cTn dur="500"/>
                                        <p:tgtEl>
                                          <p:spTgt spid="7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3">
                                            <p:txEl>
                                              <p:pRg end="5" st="5"/>
                                            </p:txEl>
                                          </p:spTgt>
                                        </p:tgtEl>
                                        <p:attrNameLst>
                                          <p:attrName>style.visibility</p:attrName>
                                        </p:attrNameLst>
                                      </p:cBhvr>
                                      <p:to>
                                        <p:strVal val="visible"/>
                                      </p:to>
                                    </p:set>
                                    <p:animEffect filter="fade" transition="in">
                                      <p:cBhvr>
                                        <p:cTn dur="500"/>
                                        <p:tgtEl>
                                          <p:spTgt spid="753">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70"/>
          <p:cNvSpPr txBox="1"/>
          <p:nvPr>
            <p:ph idx="1" type="body"/>
          </p:nvPr>
        </p:nvSpPr>
        <p:spPr>
          <a:xfrm>
            <a:off x="2209800" y="2057400"/>
            <a:ext cx="7772400" cy="4114800"/>
          </a:xfrm>
          <a:prstGeom prst="rect">
            <a:avLst/>
          </a:prstGeom>
          <a:noFill/>
          <a:ln>
            <a:noFill/>
          </a:ln>
        </p:spPr>
        <p:txBody>
          <a:bodyPr anchorCtr="0" anchor="t" bIns="44450" lIns="90475" spcFirstLastPara="1" rIns="90475" wrap="square" tIns="44450">
            <a:normAutofit/>
          </a:bodyPr>
          <a:lstStyle/>
          <a:p>
            <a:pPr indent="-228600" lvl="1" marL="685800" rtl="0" algn="l">
              <a:lnSpc>
                <a:spcPct val="90000"/>
              </a:lnSpc>
              <a:spcBef>
                <a:spcPts val="0"/>
              </a:spcBef>
              <a:spcAft>
                <a:spcPts val="0"/>
              </a:spcAft>
              <a:buClr>
                <a:schemeClr val="dk1"/>
              </a:buClr>
              <a:buSzPts val="3200"/>
              <a:buFont typeface="Calibri"/>
              <a:buNone/>
            </a:pPr>
            <a:r>
              <a:rPr lang="en-US" sz="3200"/>
              <a:t> </a:t>
            </a:r>
            <a:r>
              <a:rPr b="1" lang="en-US" sz="2400">
                <a:solidFill>
                  <a:srgbClr val="0000FF"/>
                </a:solidFill>
              </a:rPr>
              <a:t>The US interest rate is 5%, the European rate is 9%.  You want to take advantage of this situation, risk free</a:t>
            </a:r>
            <a:r>
              <a:rPr b="1" lang="en-US" sz="2400"/>
              <a:t>.  </a:t>
            </a:r>
            <a:r>
              <a:rPr b="1" lang="en-US" sz="2400">
                <a:solidFill>
                  <a:srgbClr val="0000FF"/>
                </a:solidFill>
              </a:rPr>
              <a:t>The spot rate is $= €1.15.  Would you invest $5,000,000 in Europe if ...</a:t>
            </a:r>
            <a:br>
              <a:rPr b="1" lang="en-US" sz="2400">
                <a:solidFill>
                  <a:srgbClr val="0000FF"/>
                </a:solidFill>
              </a:rPr>
            </a:br>
            <a:endParaRPr b="1" sz="2400">
              <a:solidFill>
                <a:srgbClr val="0000FF"/>
              </a:solidFill>
            </a:endParaRPr>
          </a:p>
          <a:p>
            <a:pPr indent="-228600" lvl="1" marL="685800" rtl="0" algn="l">
              <a:lnSpc>
                <a:spcPct val="90000"/>
              </a:lnSpc>
              <a:spcBef>
                <a:spcPts val="500"/>
              </a:spcBef>
              <a:spcAft>
                <a:spcPts val="0"/>
              </a:spcAft>
              <a:buClr>
                <a:schemeClr val="dk1"/>
              </a:buClr>
              <a:buSzPts val="2800"/>
              <a:buChar char="•"/>
            </a:pPr>
            <a:r>
              <a:rPr lang="en-US"/>
              <a:t> </a:t>
            </a:r>
            <a:r>
              <a:rPr lang="en-US" sz="3200"/>
              <a:t>90-day forward rate is </a:t>
            </a:r>
            <a:br>
              <a:rPr lang="en-US" sz="3200"/>
            </a:br>
            <a:r>
              <a:rPr lang="en-US" sz="3200"/>
              <a:t> $1= € 1.17?</a:t>
            </a:r>
            <a:endParaRPr/>
          </a:p>
          <a:p>
            <a:pPr indent="-228600" lvl="1" marL="685800" rtl="0" algn="l">
              <a:lnSpc>
                <a:spcPct val="90000"/>
              </a:lnSpc>
              <a:spcBef>
                <a:spcPts val="500"/>
              </a:spcBef>
              <a:spcAft>
                <a:spcPts val="0"/>
              </a:spcAft>
              <a:buClr>
                <a:schemeClr val="dk2"/>
              </a:buClr>
              <a:buSzPts val="3200"/>
              <a:buFont typeface="Calibri"/>
              <a:buNone/>
            </a:pPr>
            <a:r>
              <a:rPr lang="en-US" sz="3200">
                <a:solidFill>
                  <a:schemeClr val="dk2"/>
                </a:solidFill>
              </a:rPr>
              <a:t> What about:</a:t>
            </a:r>
            <a:endParaRPr/>
          </a:p>
          <a:p>
            <a:pPr indent="-228600" lvl="1" marL="685800" rtl="0" algn="l">
              <a:lnSpc>
                <a:spcPct val="90000"/>
              </a:lnSpc>
              <a:spcBef>
                <a:spcPts val="500"/>
              </a:spcBef>
              <a:spcAft>
                <a:spcPts val="0"/>
              </a:spcAft>
              <a:buClr>
                <a:schemeClr val="dk1"/>
              </a:buClr>
              <a:buSzPts val="3200"/>
              <a:buChar char="•"/>
            </a:pPr>
            <a:r>
              <a:rPr lang="en-US" sz="3200"/>
              <a:t> 180-day rate is $1= € 1.16?</a:t>
            </a:r>
            <a:endParaRPr/>
          </a:p>
        </p:txBody>
      </p:sp>
      <p:sp>
        <p:nvSpPr>
          <p:cNvPr id="760" name="Google Shape;760;p70"/>
          <p:cNvSpPr txBox="1"/>
          <p:nvPr>
            <p:ph type="title"/>
          </p:nvPr>
        </p:nvSpPr>
        <p:spPr>
          <a:xfrm>
            <a:off x="2438400" y="838200"/>
            <a:ext cx="7772400" cy="1143000"/>
          </a:xfrm>
          <a:prstGeom prst="rect">
            <a:avLst/>
          </a:prstGeom>
          <a:noFill/>
          <a:ln>
            <a:noFill/>
          </a:ln>
        </p:spPr>
        <p:txBody>
          <a:bodyPr anchorCtr="0" anchor="ctr" bIns="44450" lIns="90475" spcFirstLastPara="1" rIns="90475" wrap="square" tIns="44450">
            <a:normAutofit/>
          </a:bodyPr>
          <a:lstStyle/>
          <a:p>
            <a:pPr indent="0" lvl="0" marL="0" rtl="0" algn="l">
              <a:lnSpc>
                <a:spcPct val="90000"/>
              </a:lnSpc>
              <a:spcBef>
                <a:spcPts val="0"/>
              </a:spcBef>
              <a:spcAft>
                <a:spcPts val="0"/>
              </a:spcAft>
              <a:buClr>
                <a:schemeClr val="dk1"/>
              </a:buClr>
              <a:buSzPts val="3600"/>
              <a:buFont typeface="Calibri"/>
              <a:buNone/>
            </a:pPr>
            <a:r>
              <a:rPr b="1" lang="en-US" sz="3600"/>
              <a:t>Problem:</a:t>
            </a:r>
            <a:endParaRPr/>
          </a:p>
        </p:txBody>
      </p:sp>
      <p:sp>
        <p:nvSpPr>
          <p:cNvPr id="761" name="Google Shape;761;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0" st="0"/>
                                            </p:txEl>
                                          </p:spTgt>
                                        </p:tgtEl>
                                        <p:attrNameLst>
                                          <p:attrName>style.visibility</p:attrName>
                                        </p:attrNameLst>
                                      </p:cBhvr>
                                      <p:to>
                                        <p:strVal val="visible"/>
                                      </p:to>
                                    </p:set>
                                    <p:animEffect filter="fade" transition="in">
                                      <p:cBhvr>
                                        <p:cTn dur="500"/>
                                        <p:tgtEl>
                                          <p:spTgt spid="7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1" st="1"/>
                                            </p:txEl>
                                          </p:spTgt>
                                        </p:tgtEl>
                                        <p:attrNameLst>
                                          <p:attrName>style.visibility</p:attrName>
                                        </p:attrNameLst>
                                      </p:cBhvr>
                                      <p:to>
                                        <p:strVal val="visible"/>
                                      </p:to>
                                    </p:set>
                                    <p:animEffect filter="fade" transition="in">
                                      <p:cBhvr>
                                        <p:cTn dur="500"/>
                                        <p:tgtEl>
                                          <p:spTgt spid="7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2" st="2"/>
                                            </p:txEl>
                                          </p:spTgt>
                                        </p:tgtEl>
                                        <p:attrNameLst>
                                          <p:attrName>style.visibility</p:attrName>
                                        </p:attrNameLst>
                                      </p:cBhvr>
                                      <p:to>
                                        <p:strVal val="visible"/>
                                      </p:to>
                                    </p:set>
                                    <p:animEffect filter="fade" transition="in">
                                      <p:cBhvr>
                                        <p:cTn dur="500"/>
                                        <p:tgtEl>
                                          <p:spTgt spid="7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xEl>
                                              <p:pRg end="3" st="3"/>
                                            </p:txEl>
                                          </p:spTgt>
                                        </p:tgtEl>
                                        <p:attrNameLst>
                                          <p:attrName>style.visibility</p:attrName>
                                        </p:attrNameLst>
                                      </p:cBhvr>
                                      <p:to>
                                        <p:strVal val="visible"/>
                                      </p:to>
                                    </p:set>
                                    <p:animEffect filter="fade" transition="in">
                                      <p:cBhvr>
                                        <p:cTn dur="500"/>
                                        <p:tgtEl>
                                          <p:spTgt spid="75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71"/>
          <p:cNvSpPr txBox="1"/>
          <p:nvPr>
            <p:ph type="title"/>
          </p:nvPr>
        </p:nvSpPr>
        <p:spPr>
          <a:xfrm>
            <a:off x="2743200" y="356600"/>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90-day rate $=1.17</a:t>
            </a:r>
            <a:endParaRPr/>
          </a:p>
        </p:txBody>
      </p:sp>
      <p:sp>
        <p:nvSpPr>
          <p:cNvPr id="767" name="Google Shape;767;p71"/>
          <p:cNvSpPr txBox="1"/>
          <p:nvPr>
            <p:ph idx="1" type="body"/>
          </p:nvPr>
        </p:nvSpPr>
        <p:spPr>
          <a:xfrm>
            <a:off x="2209800" y="1905001"/>
            <a:ext cx="8077200" cy="4181475"/>
          </a:xfrm>
          <a:prstGeom prst="rect">
            <a:avLst/>
          </a:prstGeom>
          <a:noFill/>
          <a:ln>
            <a:noFill/>
          </a:ln>
        </p:spPr>
        <p:txBody>
          <a:bodyPr anchorCtr="0" anchor="t" bIns="44450" lIns="90475" spcFirstLastPara="1" rIns="90475" wrap="square" tIns="44450">
            <a:normAutofit lnSpcReduction="10000"/>
          </a:bodyPr>
          <a:lstStyle/>
          <a:p>
            <a:pPr indent="-228600" lvl="0" marL="228600" rtl="0" algn="l">
              <a:lnSpc>
                <a:spcPct val="90000"/>
              </a:lnSpc>
              <a:spcBef>
                <a:spcPts val="0"/>
              </a:spcBef>
              <a:spcAft>
                <a:spcPts val="0"/>
              </a:spcAft>
              <a:buClr>
                <a:schemeClr val="dk1"/>
              </a:buClr>
              <a:buSzPts val="3200"/>
              <a:buChar char="•"/>
            </a:pPr>
            <a:r>
              <a:rPr lang="en-US"/>
              <a:t>buy €5,750,000;  invest in Europe</a:t>
            </a:r>
            <a:endParaRPr/>
          </a:p>
          <a:p>
            <a:pPr indent="-228600" lvl="0" marL="228600" rtl="0" algn="l">
              <a:lnSpc>
                <a:spcPct val="90000"/>
              </a:lnSpc>
              <a:spcBef>
                <a:spcPts val="1000"/>
              </a:spcBef>
              <a:spcAft>
                <a:spcPts val="0"/>
              </a:spcAft>
              <a:buClr>
                <a:schemeClr val="dk1"/>
              </a:buClr>
              <a:buSzPts val="3200"/>
              <a:buChar char="•"/>
            </a:pPr>
            <a:r>
              <a:rPr lang="en-US"/>
              <a:t>(after 90 days you will have €5,879,375 at 9% annual interest rate)</a:t>
            </a:r>
            <a:endParaRPr/>
          </a:p>
          <a:p>
            <a:pPr indent="-228600" lvl="0" marL="228600" rtl="0" algn="l">
              <a:lnSpc>
                <a:spcPct val="90000"/>
              </a:lnSpc>
              <a:spcBef>
                <a:spcPts val="1000"/>
              </a:spcBef>
              <a:spcAft>
                <a:spcPts val="0"/>
              </a:spcAft>
              <a:buClr>
                <a:schemeClr val="dk1"/>
              </a:buClr>
              <a:buSzPts val="3200"/>
              <a:buChar char="•"/>
            </a:pPr>
            <a:r>
              <a:rPr lang="en-US"/>
              <a:t>sell €5,879,375 forward @ €1.17</a:t>
            </a:r>
            <a:endParaRPr/>
          </a:p>
          <a:p>
            <a:pPr indent="-228600" lvl="0" marL="228600" rtl="0" algn="l">
              <a:lnSpc>
                <a:spcPct val="90000"/>
              </a:lnSpc>
              <a:spcBef>
                <a:spcPts val="1000"/>
              </a:spcBef>
              <a:spcAft>
                <a:spcPts val="0"/>
              </a:spcAft>
              <a:buClr>
                <a:schemeClr val="dk1"/>
              </a:buClr>
              <a:buSzPts val="3200"/>
              <a:buChar char="•"/>
            </a:pPr>
            <a:r>
              <a:rPr lang="en-US"/>
              <a:t>convert to $5,025,107 in 90 days </a:t>
            </a:r>
            <a:endParaRPr/>
          </a:p>
          <a:p>
            <a:pPr indent="-228600" lvl="0" marL="228600" rtl="0" algn="l">
              <a:lnSpc>
                <a:spcPct val="90000"/>
              </a:lnSpc>
              <a:spcBef>
                <a:spcPts val="1000"/>
              </a:spcBef>
              <a:spcAft>
                <a:spcPts val="0"/>
              </a:spcAft>
              <a:buClr>
                <a:schemeClr val="dk1"/>
              </a:buClr>
              <a:buSzPts val="3200"/>
              <a:buChar char="•"/>
            </a:pPr>
            <a:r>
              <a:rPr lang="en-US"/>
              <a:t>What return if invested in US?</a:t>
            </a:r>
            <a:endParaRPr/>
          </a:p>
          <a:p>
            <a:pPr indent="-228600" lvl="0" marL="228600" rtl="0" algn="l">
              <a:lnSpc>
                <a:spcPct val="90000"/>
              </a:lnSpc>
              <a:spcBef>
                <a:spcPts val="1000"/>
              </a:spcBef>
              <a:spcAft>
                <a:spcPts val="0"/>
              </a:spcAft>
              <a:buClr>
                <a:schemeClr val="dk1"/>
              </a:buClr>
              <a:buSzPts val="3200"/>
              <a:buChar char="•"/>
            </a:pPr>
            <a:r>
              <a:rPr lang="en-US"/>
              <a:t>$5,062,500 (at 5% annual interest rate)</a:t>
            </a:r>
            <a:endParaRPr/>
          </a:p>
          <a:p>
            <a:pPr indent="-228600" lvl="0" marL="228600" rtl="0" algn="l">
              <a:lnSpc>
                <a:spcPct val="90000"/>
              </a:lnSpc>
              <a:spcBef>
                <a:spcPts val="1000"/>
              </a:spcBef>
              <a:spcAft>
                <a:spcPts val="0"/>
              </a:spcAft>
              <a:buClr>
                <a:srgbClr val="0000FF"/>
              </a:buClr>
              <a:buSzPts val="3200"/>
              <a:buChar char="•"/>
            </a:pPr>
            <a:r>
              <a:rPr lang="en-US" u="sng">
                <a:solidFill>
                  <a:srgbClr val="0000FF"/>
                </a:solidFill>
              </a:rPr>
              <a:t>DECISION</a:t>
            </a:r>
            <a:r>
              <a:rPr lang="en-US">
                <a:solidFill>
                  <a:srgbClr val="0000FF"/>
                </a:solidFill>
              </a:rPr>
              <a:t>:</a:t>
            </a:r>
            <a:r>
              <a:rPr lang="en-US"/>
              <a:t>  </a:t>
            </a:r>
            <a:r>
              <a:rPr lang="en-US">
                <a:solidFill>
                  <a:schemeClr val="dk2"/>
                </a:solidFill>
              </a:rPr>
              <a:t>Invest in US</a:t>
            </a:r>
            <a:endParaRPr/>
          </a:p>
        </p:txBody>
      </p:sp>
      <p:sp>
        <p:nvSpPr>
          <p:cNvPr id="768" name="Google Shape;768;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0" st="0"/>
                                            </p:txEl>
                                          </p:spTgt>
                                        </p:tgtEl>
                                        <p:attrNameLst>
                                          <p:attrName>style.visibility</p:attrName>
                                        </p:attrNameLst>
                                      </p:cBhvr>
                                      <p:to>
                                        <p:strVal val="visible"/>
                                      </p:to>
                                    </p:set>
                                    <p:animEffect filter="fade" transition="in">
                                      <p:cBhvr>
                                        <p:cTn dur="500"/>
                                        <p:tgtEl>
                                          <p:spTgt spid="7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1" st="1"/>
                                            </p:txEl>
                                          </p:spTgt>
                                        </p:tgtEl>
                                        <p:attrNameLst>
                                          <p:attrName>style.visibility</p:attrName>
                                        </p:attrNameLst>
                                      </p:cBhvr>
                                      <p:to>
                                        <p:strVal val="visible"/>
                                      </p:to>
                                    </p:set>
                                    <p:animEffect filter="fade" transition="in">
                                      <p:cBhvr>
                                        <p:cTn dur="500"/>
                                        <p:tgtEl>
                                          <p:spTgt spid="7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2" st="2"/>
                                            </p:txEl>
                                          </p:spTgt>
                                        </p:tgtEl>
                                        <p:attrNameLst>
                                          <p:attrName>style.visibility</p:attrName>
                                        </p:attrNameLst>
                                      </p:cBhvr>
                                      <p:to>
                                        <p:strVal val="visible"/>
                                      </p:to>
                                    </p:set>
                                    <p:animEffect filter="fade" transition="in">
                                      <p:cBhvr>
                                        <p:cTn dur="500"/>
                                        <p:tgtEl>
                                          <p:spTgt spid="7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3" st="3"/>
                                            </p:txEl>
                                          </p:spTgt>
                                        </p:tgtEl>
                                        <p:attrNameLst>
                                          <p:attrName>style.visibility</p:attrName>
                                        </p:attrNameLst>
                                      </p:cBhvr>
                                      <p:to>
                                        <p:strVal val="visible"/>
                                      </p:to>
                                    </p:set>
                                    <p:animEffect filter="fade" transition="in">
                                      <p:cBhvr>
                                        <p:cTn dur="500"/>
                                        <p:tgtEl>
                                          <p:spTgt spid="7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4" st="4"/>
                                            </p:txEl>
                                          </p:spTgt>
                                        </p:tgtEl>
                                        <p:attrNameLst>
                                          <p:attrName>style.visibility</p:attrName>
                                        </p:attrNameLst>
                                      </p:cBhvr>
                                      <p:to>
                                        <p:strVal val="visible"/>
                                      </p:to>
                                    </p:set>
                                    <p:animEffect filter="fade" transition="in">
                                      <p:cBhvr>
                                        <p:cTn dur="500"/>
                                        <p:tgtEl>
                                          <p:spTgt spid="7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5" st="5"/>
                                            </p:txEl>
                                          </p:spTgt>
                                        </p:tgtEl>
                                        <p:attrNameLst>
                                          <p:attrName>style.visibility</p:attrName>
                                        </p:attrNameLst>
                                      </p:cBhvr>
                                      <p:to>
                                        <p:strVal val="visible"/>
                                      </p:to>
                                    </p:set>
                                    <p:animEffect filter="fade" transition="in">
                                      <p:cBhvr>
                                        <p:cTn dur="500"/>
                                        <p:tgtEl>
                                          <p:spTgt spid="7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7">
                                            <p:txEl>
                                              <p:pRg end="6" st="6"/>
                                            </p:txEl>
                                          </p:spTgt>
                                        </p:tgtEl>
                                        <p:attrNameLst>
                                          <p:attrName>style.visibility</p:attrName>
                                        </p:attrNameLst>
                                      </p:cBhvr>
                                      <p:to>
                                        <p:strVal val="visible"/>
                                      </p:to>
                                    </p:set>
                                    <p:animEffect filter="fade" transition="in">
                                      <p:cBhvr>
                                        <p:cTn dur="500"/>
                                        <p:tgtEl>
                                          <p:spTgt spid="76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72"/>
          <p:cNvSpPr txBox="1"/>
          <p:nvPr>
            <p:ph type="title"/>
          </p:nvPr>
        </p:nvSpPr>
        <p:spPr>
          <a:xfrm>
            <a:off x="2743200" y="365750"/>
            <a:ext cx="7772400" cy="1143000"/>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180-day rate is $=€1.16</a:t>
            </a:r>
            <a:endParaRPr/>
          </a:p>
        </p:txBody>
      </p:sp>
      <p:sp>
        <p:nvSpPr>
          <p:cNvPr id="774" name="Google Shape;774;p72"/>
          <p:cNvSpPr txBox="1"/>
          <p:nvPr>
            <p:ph idx="1" type="body"/>
          </p:nvPr>
        </p:nvSpPr>
        <p:spPr>
          <a:xfrm>
            <a:off x="2362201" y="1905001"/>
            <a:ext cx="7762875" cy="4181475"/>
          </a:xfrm>
          <a:prstGeom prst="rect">
            <a:avLst/>
          </a:prstGeom>
          <a:noFill/>
          <a:ln>
            <a:noFill/>
          </a:ln>
        </p:spPr>
        <p:txBody>
          <a:bodyPr anchorCtr="0" anchor="t" bIns="44450" lIns="90475" spcFirstLastPara="1" rIns="90475" wrap="square" tIns="44450">
            <a:normAutofit/>
          </a:bodyPr>
          <a:lstStyle/>
          <a:p>
            <a:pPr indent="-228600" lvl="0" marL="228600" rtl="0" algn="l">
              <a:lnSpc>
                <a:spcPct val="90000"/>
              </a:lnSpc>
              <a:spcBef>
                <a:spcPts val="0"/>
              </a:spcBef>
              <a:spcAft>
                <a:spcPts val="0"/>
              </a:spcAft>
              <a:buClr>
                <a:schemeClr val="dk1"/>
              </a:buClr>
              <a:buSzPts val="3200"/>
              <a:buChar char="•"/>
            </a:pPr>
            <a:r>
              <a:rPr lang="en-US"/>
              <a:t>buy €5,750,000;  invest in Europe</a:t>
            </a:r>
            <a:endParaRPr/>
          </a:p>
          <a:p>
            <a:pPr indent="-228600" lvl="0" marL="228600" rtl="0" algn="l">
              <a:lnSpc>
                <a:spcPct val="90000"/>
              </a:lnSpc>
              <a:spcBef>
                <a:spcPts val="1000"/>
              </a:spcBef>
              <a:spcAft>
                <a:spcPts val="0"/>
              </a:spcAft>
              <a:buClr>
                <a:schemeClr val="dk1"/>
              </a:buClr>
              <a:buSzPts val="3200"/>
              <a:buChar char="•"/>
            </a:pPr>
            <a:r>
              <a:rPr lang="en-US"/>
              <a:t>(after 180 days you will have €6,008,750 )</a:t>
            </a:r>
            <a:endParaRPr/>
          </a:p>
          <a:p>
            <a:pPr indent="-228600" lvl="0" marL="228600" rtl="0" algn="l">
              <a:lnSpc>
                <a:spcPct val="90000"/>
              </a:lnSpc>
              <a:spcBef>
                <a:spcPts val="1000"/>
              </a:spcBef>
              <a:spcAft>
                <a:spcPts val="0"/>
              </a:spcAft>
              <a:buClr>
                <a:schemeClr val="dk1"/>
              </a:buClr>
              <a:buSzPts val="3200"/>
              <a:buChar char="•"/>
            </a:pPr>
            <a:r>
              <a:rPr lang="en-US"/>
              <a:t>sell €6,008,750 forward @ €1.16</a:t>
            </a:r>
            <a:endParaRPr/>
          </a:p>
          <a:p>
            <a:pPr indent="-228600" lvl="0" marL="228600" rtl="0" algn="l">
              <a:lnSpc>
                <a:spcPct val="90000"/>
              </a:lnSpc>
              <a:spcBef>
                <a:spcPts val="1000"/>
              </a:spcBef>
              <a:spcAft>
                <a:spcPts val="0"/>
              </a:spcAft>
              <a:buClr>
                <a:schemeClr val="dk1"/>
              </a:buClr>
              <a:buSzPts val="3200"/>
              <a:buChar char="•"/>
            </a:pPr>
            <a:r>
              <a:rPr lang="en-US"/>
              <a:t>convert to $5,179,957 in 180 days </a:t>
            </a:r>
            <a:endParaRPr/>
          </a:p>
          <a:p>
            <a:pPr indent="-228600" lvl="0" marL="228600" rtl="0" algn="l">
              <a:lnSpc>
                <a:spcPct val="90000"/>
              </a:lnSpc>
              <a:spcBef>
                <a:spcPts val="1000"/>
              </a:spcBef>
              <a:spcAft>
                <a:spcPts val="0"/>
              </a:spcAft>
              <a:buClr>
                <a:schemeClr val="dk1"/>
              </a:buClr>
              <a:buSzPts val="3200"/>
              <a:buChar char="•"/>
            </a:pPr>
            <a:r>
              <a:rPr lang="en-US"/>
              <a:t>What return if invested in US?</a:t>
            </a:r>
            <a:endParaRPr/>
          </a:p>
          <a:p>
            <a:pPr indent="-228600" lvl="0" marL="228600" rtl="0" algn="l">
              <a:lnSpc>
                <a:spcPct val="90000"/>
              </a:lnSpc>
              <a:spcBef>
                <a:spcPts val="1000"/>
              </a:spcBef>
              <a:spcAft>
                <a:spcPts val="0"/>
              </a:spcAft>
              <a:buClr>
                <a:schemeClr val="dk1"/>
              </a:buClr>
              <a:buSzPts val="3200"/>
              <a:buChar char="•"/>
            </a:pPr>
            <a:r>
              <a:rPr lang="en-US"/>
              <a:t>$5,125,000</a:t>
            </a:r>
            <a:endParaRPr/>
          </a:p>
          <a:p>
            <a:pPr indent="-228600" lvl="0" marL="228600" rtl="0" algn="l">
              <a:lnSpc>
                <a:spcPct val="90000"/>
              </a:lnSpc>
              <a:spcBef>
                <a:spcPts val="1000"/>
              </a:spcBef>
              <a:spcAft>
                <a:spcPts val="0"/>
              </a:spcAft>
              <a:buClr>
                <a:srgbClr val="0000FF"/>
              </a:buClr>
              <a:buSzPts val="3200"/>
              <a:buChar char="•"/>
            </a:pPr>
            <a:r>
              <a:rPr lang="en-US" u="sng">
                <a:solidFill>
                  <a:srgbClr val="0000FF"/>
                </a:solidFill>
              </a:rPr>
              <a:t>DECISION</a:t>
            </a:r>
            <a:r>
              <a:rPr lang="en-US">
                <a:solidFill>
                  <a:srgbClr val="0000FF"/>
                </a:solidFill>
              </a:rPr>
              <a:t>:</a:t>
            </a:r>
            <a:r>
              <a:rPr lang="en-US"/>
              <a:t>  </a:t>
            </a:r>
            <a:r>
              <a:rPr lang="en-US">
                <a:solidFill>
                  <a:schemeClr val="dk2"/>
                </a:solidFill>
              </a:rPr>
              <a:t>Invest in Europe</a:t>
            </a:r>
            <a:endParaRPr/>
          </a:p>
        </p:txBody>
      </p:sp>
      <p:sp>
        <p:nvSpPr>
          <p:cNvPr id="775" name="Google Shape;775;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xEl>
                                              <p:pRg end="0" st="0"/>
                                            </p:txEl>
                                          </p:spTgt>
                                        </p:tgtEl>
                                        <p:attrNameLst>
                                          <p:attrName>style.visibility</p:attrName>
                                        </p:attrNameLst>
                                      </p:cBhvr>
                                      <p:to>
                                        <p:strVal val="visible"/>
                                      </p:to>
                                    </p:set>
                                    <p:animEffect filter="fade" transition="in">
                                      <p:cBhvr>
                                        <p:cTn dur="500"/>
                                        <p:tgtEl>
                                          <p:spTgt spid="7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xEl>
                                              <p:pRg end="1" st="1"/>
                                            </p:txEl>
                                          </p:spTgt>
                                        </p:tgtEl>
                                        <p:attrNameLst>
                                          <p:attrName>style.visibility</p:attrName>
                                        </p:attrNameLst>
                                      </p:cBhvr>
                                      <p:to>
                                        <p:strVal val="visible"/>
                                      </p:to>
                                    </p:set>
                                    <p:animEffect filter="fade" transition="in">
                                      <p:cBhvr>
                                        <p:cTn dur="500"/>
                                        <p:tgtEl>
                                          <p:spTgt spid="7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xEl>
                                              <p:pRg end="2" st="2"/>
                                            </p:txEl>
                                          </p:spTgt>
                                        </p:tgtEl>
                                        <p:attrNameLst>
                                          <p:attrName>style.visibility</p:attrName>
                                        </p:attrNameLst>
                                      </p:cBhvr>
                                      <p:to>
                                        <p:strVal val="visible"/>
                                      </p:to>
                                    </p:set>
                                    <p:animEffect filter="fade" transition="in">
                                      <p:cBhvr>
                                        <p:cTn dur="500"/>
                                        <p:tgtEl>
                                          <p:spTgt spid="7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xEl>
                                              <p:pRg end="3" st="3"/>
                                            </p:txEl>
                                          </p:spTgt>
                                        </p:tgtEl>
                                        <p:attrNameLst>
                                          <p:attrName>style.visibility</p:attrName>
                                        </p:attrNameLst>
                                      </p:cBhvr>
                                      <p:to>
                                        <p:strVal val="visible"/>
                                      </p:to>
                                    </p:set>
                                    <p:animEffect filter="fade" transition="in">
                                      <p:cBhvr>
                                        <p:cTn dur="500"/>
                                        <p:tgtEl>
                                          <p:spTgt spid="7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xEl>
                                              <p:pRg end="4" st="4"/>
                                            </p:txEl>
                                          </p:spTgt>
                                        </p:tgtEl>
                                        <p:attrNameLst>
                                          <p:attrName>style.visibility</p:attrName>
                                        </p:attrNameLst>
                                      </p:cBhvr>
                                      <p:to>
                                        <p:strVal val="visible"/>
                                      </p:to>
                                    </p:set>
                                    <p:animEffect filter="fade" transition="in">
                                      <p:cBhvr>
                                        <p:cTn dur="500"/>
                                        <p:tgtEl>
                                          <p:spTgt spid="7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xEl>
                                              <p:pRg end="5" st="5"/>
                                            </p:txEl>
                                          </p:spTgt>
                                        </p:tgtEl>
                                        <p:attrNameLst>
                                          <p:attrName>style.visibility</p:attrName>
                                        </p:attrNameLst>
                                      </p:cBhvr>
                                      <p:to>
                                        <p:strVal val="visible"/>
                                      </p:to>
                                    </p:set>
                                    <p:animEffect filter="fade" transition="in">
                                      <p:cBhvr>
                                        <p:cTn dur="500"/>
                                        <p:tgtEl>
                                          <p:spTgt spid="7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xEl>
                                              <p:pRg end="6" st="6"/>
                                            </p:txEl>
                                          </p:spTgt>
                                        </p:tgtEl>
                                        <p:attrNameLst>
                                          <p:attrName>style.visibility</p:attrName>
                                        </p:attrNameLst>
                                      </p:cBhvr>
                                      <p:to>
                                        <p:strVal val="visible"/>
                                      </p:to>
                                    </p:set>
                                    <p:animEffect filter="fade" transition="in">
                                      <p:cBhvr>
                                        <p:cTn dur="500"/>
                                        <p:tgtEl>
                                          <p:spTgt spid="77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73"/>
          <p:cNvSpPr txBox="1"/>
          <p:nvPr>
            <p:ph type="title"/>
          </p:nvPr>
        </p:nvSpPr>
        <p:spPr>
          <a:xfrm>
            <a:off x="2754765" y="340171"/>
            <a:ext cx="7772400" cy="746125"/>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Example of Risk – </a:t>
            </a:r>
            <a:r>
              <a:rPr lang="en-US">
                <a:solidFill>
                  <a:srgbClr val="0000FF"/>
                </a:solidFill>
              </a:rPr>
              <a:t>capital mkts</a:t>
            </a:r>
            <a:endParaRPr/>
          </a:p>
        </p:txBody>
      </p:sp>
      <p:sp>
        <p:nvSpPr>
          <p:cNvPr id="781" name="Google Shape;781;p73"/>
          <p:cNvSpPr txBox="1"/>
          <p:nvPr>
            <p:ph idx="1" type="body"/>
          </p:nvPr>
        </p:nvSpPr>
        <p:spPr>
          <a:xfrm>
            <a:off x="2209800" y="1875691"/>
            <a:ext cx="7772400" cy="4114800"/>
          </a:xfrm>
          <a:prstGeom prst="rect">
            <a:avLst/>
          </a:prstGeom>
          <a:noFill/>
          <a:ln>
            <a:noFill/>
          </a:ln>
        </p:spPr>
        <p:txBody>
          <a:bodyPr anchorCtr="0" anchor="t" bIns="44450" lIns="90475" spcFirstLastPara="1" rIns="90475" wrap="square" tIns="44450">
            <a:noAutofit/>
          </a:bodyPr>
          <a:lstStyle/>
          <a:p>
            <a:pPr indent="-228600" lvl="0" marL="228600" rtl="0" algn="l">
              <a:lnSpc>
                <a:spcPct val="80000"/>
              </a:lnSpc>
              <a:spcBef>
                <a:spcPts val="0"/>
              </a:spcBef>
              <a:spcAft>
                <a:spcPts val="0"/>
              </a:spcAft>
              <a:buClr>
                <a:schemeClr val="dk1"/>
              </a:buClr>
              <a:buSzPts val="2800"/>
              <a:buChar char="•"/>
            </a:pPr>
            <a:r>
              <a:rPr lang="en-US" sz="2800"/>
              <a:t>US firm invests $100 mil in a Japanese bank, for 30 days at 6% annual rate</a:t>
            </a:r>
            <a:endParaRPr/>
          </a:p>
          <a:p>
            <a:pPr indent="-228600" lvl="0" marL="228600" rtl="0" algn="l">
              <a:lnSpc>
                <a:spcPct val="80000"/>
              </a:lnSpc>
              <a:spcBef>
                <a:spcPts val="2400"/>
              </a:spcBef>
              <a:spcAft>
                <a:spcPts val="0"/>
              </a:spcAft>
              <a:buClr>
                <a:schemeClr val="dk1"/>
              </a:buClr>
              <a:buSzPts val="2800"/>
              <a:buChar char="•"/>
            </a:pPr>
            <a:r>
              <a:rPr lang="en-US" sz="2800"/>
              <a:t>Exchange rate = 110 ¥/$</a:t>
            </a:r>
            <a:endParaRPr/>
          </a:p>
          <a:p>
            <a:pPr indent="-228600" lvl="0" marL="228600" rtl="0" algn="l">
              <a:lnSpc>
                <a:spcPct val="80000"/>
              </a:lnSpc>
              <a:spcBef>
                <a:spcPts val="2400"/>
              </a:spcBef>
              <a:spcAft>
                <a:spcPts val="0"/>
              </a:spcAft>
              <a:buClr>
                <a:schemeClr val="dk1"/>
              </a:buClr>
              <a:buSzPts val="2800"/>
              <a:buChar char="•"/>
            </a:pPr>
            <a:r>
              <a:rPr lang="en-US" sz="2800"/>
              <a:t>Investment will net 55 mil YEN in 30 days (plus initial investment =11,055,000,000 ¥) </a:t>
            </a:r>
            <a:endParaRPr/>
          </a:p>
          <a:p>
            <a:pPr indent="-228600" lvl="0" marL="228600" rtl="0" algn="l">
              <a:lnSpc>
                <a:spcPct val="80000"/>
              </a:lnSpc>
              <a:spcBef>
                <a:spcPts val="2400"/>
              </a:spcBef>
              <a:spcAft>
                <a:spcPts val="0"/>
              </a:spcAft>
              <a:buClr>
                <a:schemeClr val="dk1"/>
              </a:buClr>
              <a:buSzPts val="2800"/>
              <a:buChar char="•"/>
            </a:pPr>
            <a:r>
              <a:rPr lang="en-US" sz="2800"/>
              <a:t>At the end of 30 days, exchange rate is </a:t>
            </a:r>
            <a:r>
              <a:rPr lang="en-US" sz="2800">
                <a:solidFill>
                  <a:srgbClr val="FF0000"/>
                </a:solidFill>
              </a:rPr>
              <a:t>112¥/$</a:t>
            </a:r>
            <a:endParaRPr/>
          </a:p>
          <a:p>
            <a:pPr indent="-228600" lvl="0" marL="228600" rtl="0" algn="l">
              <a:lnSpc>
                <a:spcPct val="80000"/>
              </a:lnSpc>
              <a:spcBef>
                <a:spcPts val="2400"/>
              </a:spcBef>
              <a:spcAft>
                <a:spcPts val="0"/>
              </a:spcAft>
              <a:buClr>
                <a:schemeClr val="dk1"/>
              </a:buClr>
              <a:buSzPts val="2800"/>
              <a:buChar char="•"/>
            </a:pPr>
            <a:r>
              <a:rPr lang="en-US" sz="2800"/>
              <a:t>US firm converts yen to dollars ~$98,705,357 </a:t>
            </a:r>
            <a:endParaRPr/>
          </a:p>
          <a:p>
            <a:pPr indent="-228600" lvl="0" marL="228600" rtl="0" algn="l">
              <a:lnSpc>
                <a:spcPct val="80000"/>
              </a:lnSpc>
              <a:spcBef>
                <a:spcPts val="2400"/>
              </a:spcBef>
              <a:spcAft>
                <a:spcPts val="0"/>
              </a:spcAft>
              <a:buClr>
                <a:schemeClr val="dk1"/>
              </a:buClr>
              <a:buSzPts val="2800"/>
              <a:buChar char="•"/>
            </a:pPr>
            <a:r>
              <a:rPr lang="en-US" sz="2800"/>
              <a:t>US firm loses ~ $2.3 mil (vs. $500K gain at 110 ¥ rate)</a:t>
            </a:r>
            <a:endParaRPr/>
          </a:p>
        </p:txBody>
      </p:sp>
      <p:sp>
        <p:nvSpPr>
          <p:cNvPr id="782" name="Google Shape;782;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781">
                                            <p:txEl>
                                              <p:pRg end="0" st="0"/>
                                            </p:txEl>
                                          </p:spTgt>
                                        </p:tgtEl>
                                        <p:attrNameLst>
                                          <p:attrName>style.visibility</p:attrName>
                                        </p:attrNameLst>
                                      </p:cBhvr>
                                      <p:to>
                                        <p:strVal val="visible"/>
                                      </p:to>
                                    </p:set>
                                    <p:anim calcmode="lin" valueType="num">
                                      <p:cBhvr additive="base">
                                        <p:cTn dur="500"/>
                                        <p:tgtEl>
                                          <p:spTgt spid="781">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781">
                                            <p:txEl>
                                              <p:pRg end="1" st="1"/>
                                            </p:txEl>
                                          </p:spTgt>
                                        </p:tgtEl>
                                        <p:attrNameLst>
                                          <p:attrName>style.visibility</p:attrName>
                                        </p:attrNameLst>
                                      </p:cBhvr>
                                      <p:to>
                                        <p:strVal val="visible"/>
                                      </p:to>
                                    </p:set>
                                    <p:anim calcmode="lin" valueType="num">
                                      <p:cBhvr additive="base">
                                        <p:cTn dur="500"/>
                                        <p:tgtEl>
                                          <p:spTgt spid="781">
                                            <p:txEl>
                                              <p:pRg end="1" st="1"/>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781">
                                            <p:txEl>
                                              <p:pRg end="2" st="2"/>
                                            </p:txEl>
                                          </p:spTgt>
                                        </p:tgtEl>
                                        <p:attrNameLst>
                                          <p:attrName>style.visibility</p:attrName>
                                        </p:attrNameLst>
                                      </p:cBhvr>
                                      <p:to>
                                        <p:strVal val="visible"/>
                                      </p:to>
                                    </p:set>
                                    <p:anim calcmode="lin" valueType="num">
                                      <p:cBhvr additive="base">
                                        <p:cTn dur="500"/>
                                        <p:tgtEl>
                                          <p:spTgt spid="781">
                                            <p:txEl>
                                              <p:pRg end="2" st="2"/>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781">
                                            <p:txEl>
                                              <p:pRg end="3" st="3"/>
                                            </p:txEl>
                                          </p:spTgt>
                                        </p:tgtEl>
                                        <p:attrNameLst>
                                          <p:attrName>style.visibility</p:attrName>
                                        </p:attrNameLst>
                                      </p:cBhvr>
                                      <p:to>
                                        <p:strVal val="visible"/>
                                      </p:to>
                                    </p:set>
                                    <p:anim calcmode="lin" valueType="num">
                                      <p:cBhvr additive="base">
                                        <p:cTn dur="500"/>
                                        <p:tgtEl>
                                          <p:spTgt spid="781">
                                            <p:txEl>
                                              <p:pRg end="3" st="3"/>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781">
                                            <p:txEl>
                                              <p:pRg end="4" st="4"/>
                                            </p:txEl>
                                          </p:spTgt>
                                        </p:tgtEl>
                                        <p:attrNameLst>
                                          <p:attrName>style.visibility</p:attrName>
                                        </p:attrNameLst>
                                      </p:cBhvr>
                                      <p:to>
                                        <p:strVal val="visible"/>
                                      </p:to>
                                    </p:set>
                                    <p:anim calcmode="lin" valueType="num">
                                      <p:cBhvr additive="base">
                                        <p:cTn dur="500"/>
                                        <p:tgtEl>
                                          <p:spTgt spid="781">
                                            <p:txEl>
                                              <p:pRg end="4" st="4"/>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781">
                                            <p:txEl>
                                              <p:pRg end="5" st="5"/>
                                            </p:txEl>
                                          </p:spTgt>
                                        </p:tgtEl>
                                        <p:attrNameLst>
                                          <p:attrName>style.visibility</p:attrName>
                                        </p:attrNameLst>
                                      </p:cBhvr>
                                      <p:to>
                                        <p:strVal val="visible"/>
                                      </p:to>
                                    </p:set>
                                    <p:anim calcmode="lin" valueType="num">
                                      <p:cBhvr additive="base">
                                        <p:cTn dur="500"/>
                                        <p:tgtEl>
                                          <p:spTgt spid="781">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74"/>
          <p:cNvSpPr txBox="1"/>
          <p:nvPr>
            <p:ph type="title"/>
          </p:nvPr>
        </p:nvSpPr>
        <p:spPr>
          <a:xfrm>
            <a:off x="2754765" y="340171"/>
            <a:ext cx="7772400" cy="746125"/>
          </a:xfrm>
          <a:prstGeom prst="rect">
            <a:avLst/>
          </a:prstGeom>
          <a:noFill/>
          <a:ln>
            <a:noFill/>
          </a:ln>
        </p:spPr>
        <p:txBody>
          <a:bodyPr anchorCtr="0" anchor="t" bIns="44450" lIns="90475" spcFirstLastPara="1" rIns="90475" wrap="square" tIns="44450">
            <a:normAutofit/>
          </a:bodyPr>
          <a:lstStyle/>
          <a:p>
            <a:pPr indent="0" lvl="0" marL="0" rtl="0" algn="l">
              <a:lnSpc>
                <a:spcPct val="90000"/>
              </a:lnSpc>
              <a:spcBef>
                <a:spcPts val="0"/>
              </a:spcBef>
              <a:spcAft>
                <a:spcPts val="0"/>
              </a:spcAft>
              <a:buClr>
                <a:schemeClr val="dk1"/>
              </a:buClr>
              <a:buSzPts val="4400"/>
              <a:buFont typeface="Calibri"/>
              <a:buNone/>
            </a:pPr>
            <a:r>
              <a:rPr lang="en-US"/>
              <a:t>Example of Risk – </a:t>
            </a:r>
            <a:r>
              <a:rPr lang="en-US">
                <a:solidFill>
                  <a:srgbClr val="0000FF"/>
                </a:solidFill>
              </a:rPr>
              <a:t>capital mkts</a:t>
            </a:r>
            <a:endParaRPr/>
          </a:p>
        </p:txBody>
      </p:sp>
      <p:sp>
        <p:nvSpPr>
          <p:cNvPr id="788" name="Google Shape;788;p74"/>
          <p:cNvSpPr txBox="1"/>
          <p:nvPr>
            <p:ph idx="1" type="body"/>
          </p:nvPr>
        </p:nvSpPr>
        <p:spPr>
          <a:xfrm>
            <a:off x="2133600" y="1818031"/>
            <a:ext cx="7772400" cy="4724400"/>
          </a:xfrm>
          <a:prstGeom prst="rect">
            <a:avLst/>
          </a:prstGeom>
          <a:noFill/>
          <a:ln>
            <a:noFill/>
          </a:ln>
        </p:spPr>
        <p:txBody>
          <a:bodyPr anchorCtr="0" anchor="t" bIns="44450" lIns="90475" spcFirstLastPara="1" rIns="90475" wrap="square" tIns="44450">
            <a:normAutofit/>
          </a:bodyPr>
          <a:lstStyle/>
          <a:p>
            <a:pPr indent="-228600" lvl="0" marL="228600" rtl="0" algn="l">
              <a:lnSpc>
                <a:spcPct val="80000"/>
              </a:lnSpc>
              <a:spcBef>
                <a:spcPts val="0"/>
              </a:spcBef>
              <a:spcAft>
                <a:spcPts val="0"/>
              </a:spcAft>
              <a:buClr>
                <a:schemeClr val="dk1"/>
              </a:buClr>
              <a:buSzPts val="2800"/>
              <a:buChar char="•"/>
            </a:pPr>
            <a:r>
              <a:rPr lang="en-US" sz="2800"/>
              <a:t>US firm invests $100 mil in a Japanese bank, for 30 days at 6% annual rate</a:t>
            </a:r>
            <a:endParaRPr/>
          </a:p>
          <a:p>
            <a:pPr indent="-228600" lvl="0" marL="228600" rtl="0" algn="l">
              <a:lnSpc>
                <a:spcPct val="80000"/>
              </a:lnSpc>
              <a:spcBef>
                <a:spcPts val="2400"/>
              </a:spcBef>
              <a:spcAft>
                <a:spcPts val="0"/>
              </a:spcAft>
              <a:buClr>
                <a:schemeClr val="dk1"/>
              </a:buClr>
              <a:buSzPts val="2800"/>
              <a:buChar char="•"/>
            </a:pPr>
            <a:r>
              <a:rPr lang="en-US" sz="2800"/>
              <a:t>Exchange rate = 110 ¥/$</a:t>
            </a:r>
            <a:endParaRPr/>
          </a:p>
          <a:p>
            <a:pPr indent="-228600" lvl="0" marL="228600" rtl="0" algn="l">
              <a:lnSpc>
                <a:spcPct val="80000"/>
              </a:lnSpc>
              <a:spcBef>
                <a:spcPts val="2400"/>
              </a:spcBef>
              <a:spcAft>
                <a:spcPts val="0"/>
              </a:spcAft>
              <a:buClr>
                <a:schemeClr val="dk1"/>
              </a:buClr>
              <a:buSzPts val="2800"/>
              <a:buChar char="•"/>
            </a:pPr>
            <a:r>
              <a:rPr lang="en-US" sz="2800"/>
              <a:t>Investment will net 55 mil YEN in 30 days (plus initial investment =11,055,000,000 ¥) </a:t>
            </a:r>
            <a:endParaRPr/>
          </a:p>
          <a:p>
            <a:pPr indent="-228600" lvl="0" marL="228600" rtl="0" algn="l">
              <a:lnSpc>
                <a:spcPct val="80000"/>
              </a:lnSpc>
              <a:spcBef>
                <a:spcPts val="2400"/>
              </a:spcBef>
              <a:spcAft>
                <a:spcPts val="0"/>
              </a:spcAft>
              <a:buClr>
                <a:schemeClr val="dk1"/>
              </a:buClr>
              <a:buSzPts val="2800"/>
              <a:buChar char="•"/>
            </a:pPr>
            <a:r>
              <a:rPr lang="en-US" sz="2800"/>
              <a:t>At the end of 30 days, exchange rate is </a:t>
            </a:r>
            <a:r>
              <a:rPr lang="en-US" sz="2800">
                <a:solidFill>
                  <a:srgbClr val="FF0000"/>
                </a:solidFill>
              </a:rPr>
              <a:t>108¥/$</a:t>
            </a:r>
            <a:endParaRPr/>
          </a:p>
          <a:p>
            <a:pPr indent="-228600" lvl="0" marL="228600" rtl="0" algn="l">
              <a:lnSpc>
                <a:spcPct val="80000"/>
              </a:lnSpc>
              <a:spcBef>
                <a:spcPts val="2400"/>
              </a:spcBef>
              <a:spcAft>
                <a:spcPts val="0"/>
              </a:spcAft>
              <a:buClr>
                <a:schemeClr val="dk1"/>
              </a:buClr>
              <a:buSzPts val="2800"/>
              <a:buChar char="•"/>
            </a:pPr>
            <a:r>
              <a:rPr lang="en-US" sz="2800"/>
              <a:t>US firm converts yen to dollars ~$102,361,111 </a:t>
            </a:r>
            <a:endParaRPr/>
          </a:p>
          <a:p>
            <a:pPr indent="-228600" lvl="0" marL="228600" rtl="0" algn="l">
              <a:lnSpc>
                <a:spcPct val="80000"/>
              </a:lnSpc>
              <a:spcBef>
                <a:spcPts val="2400"/>
              </a:spcBef>
              <a:spcAft>
                <a:spcPts val="0"/>
              </a:spcAft>
              <a:buClr>
                <a:schemeClr val="dk1"/>
              </a:buClr>
              <a:buSzPts val="2800"/>
              <a:buChar char="•"/>
            </a:pPr>
            <a:r>
              <a:rPr lang="en-US" sz="2800"/>
              <a:t>US firm earns ~ $2.3 mil (vs. $500K at 110 ¥ rate)</a:t>
            </a:r>
            <a:endParaRPr/>
          </a:p>
        </p:txBody>
      </p:sp>
      <p:sp>
        <p:nvSpPr>
          <p:cNvPr id="789" name="Google Shape;789;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88">
                                            <p:txEl>
                                              <p:pRg end="0" st="0"/>
                                            </p:txEl>
                                          </p:spTgt>
                                        </p:tgtEl>
                                        <p:attrNameLst>
                                          <p:attrName>style.visibility</p:attrName>
                                        </p:attrNameLst>
                                      </p:cBhvr>
                                      <p:to>
                                        <p:strVal val="visible"/>
                                      </p:to>
                                    </p:set>
                                    <p:animEffect filter="fade" transition="in">
                                      <p:cBhvr>
                                        <p:cTn dur="500"/>
                                        <p:tgtEl>
                                          <p:spTgt spid="788">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788">
                                            <p:txEl>
                                              <p:pRg end="1" st="1"/>
                                            </p:txEl>
                                          </p:spTgt>
                                        </p:tgtEl>
                                        <p:attrNameLst>
                                          <p:attrName>style.visibility</p:attrName>
                                        </p:attrNameLst>
                                      </p:cBhvr>
                                      <p:to>
                                        <p:strVal val="visible"/>
                                      </p:to>
                                    </p:set>
                                    <p:animEffect filter="fade" transition="in">
                                      <p:cBhvr>
                                        <p:cTn dur="500"/>
                                        <p:tgtEl>
                                          <p:spTgt spid="788">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788">
                                            <p:txEl>
                                              <p:pRg end="2" st="2"/>
                                            </p:txEl>
                                          </p:spTgt>
                                        </p:tgtEl>
                                        <p:attrNameLst>
                                          <p:attrName>style.visibility</p:attrName>
                                        </p:attrNameLst>
                                      </p:cBhvr>
                                      <p:to>
                                        <p:strVal val="visible"/>
                                      </p:to>
                                    </p:set>
                                    <p:animEffect filter="fade" transition="in">
                                      <p:cBhvr>
                                        <p:cTn dur="500"/>
                                        <p:tgtEl>
                                          <p:spTgt spid="788">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788">
                                            <p:txEl>
                                              <p:pRg end="3" st="3"/>
                                            </p:txEl>
                                          </p:spTgt>
                                        </p:tgtEl>
                                        <p:attrNameLst>
                                          <p:attrName>style.visibility</p:attrName>
                                        </p:attrNameLst>
                                      </p:cBhvr>
                                      <p:to>
                                        <p:strVal val="visible"/>
                                      </p:to>
                                    </p:set>
                                    <p:animEffect filter="fade" transition="in">
                                      <p:cBhvr>
                                        <p:cTn dur="500"/>
                                        <p:tgtEl>
                                          <p:spTgt spid="788">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788">
                                            <p:txEl>
                                              <p:pRg end="4" st="4"/>
                                            </p:txEl>
                                          </p:spTgt>
                                        </p:tgtEl>
                                        <p:attrNameLst>
                                          <p:attrName>style.visibility</p:attrName>
                                        </p:attrNameLst>
                                      </p:cBhvr>
                                      <p:to>
                                        <p:strVal val="visible"/>
                                      </p:to>
                                    </p:set>
                                    <p:animEffect filter="fade" transition="in">
                                      <p:cBhvr>
                                        <p:cTn dur="500"/>
                                        <p:tgtEl>
                                          <p:spTgt spid="788">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788">
                                            <p:txEl>
                                              <p:pRg end="5" st="5"/>
                                            </p:txEl>
                                          </p:spTgt>
                                        </p:tgtEl>
                                        <p:attrNameLst>
                                          <p:attrName>style.visibility</p:attrName>
                                        </p:attrNameLst>
                                      </p:cBhvr>
                                      <p:to>
                                        <p:strVal val="visible"/>
                                      </p:to>
                                    </p:set>
                                    <p:animEffect filter="fade" transition="in">
                                      <p:cBhvr>
                                        <p:cTn dur="500"/>
                                        <p:tgtEl>
                                          <p:spTgt spid="78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75"/>
          <p:cNvSpPr txBox="1"/>
          <p:nvPr>
            <p:ph type="title"/>
          </p:nvPr>
        </p:nvSpPr>
        <p:spPr>
          <a:xfrm>
            <a:off x="1560918" y="94666"/>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Hedging – </a:t>
            </a:r>
            <a:r>
              <a:rPr lang="en-US">
                <a:solidFill>
                  <a:srgbClr val="0000FF"/>
                </a:solidFill>
              </a:rPr>
              <a:t>capital market</a:t>
            </a:r>
            <a:endParaRPr/>
          </a:p>
        </p:txBody>
      </p:sp>
      <p:sp>
        <p:nvSpPr>
          <p:cNvPr id="795" name="Google Shape;795;p75"/>
          <p:cNvSpPr txBox="1"/>
          <p:nvPr>
            <p:ph idx="1" type="body"/>
          </p:nvPr>
        </p:nvSpPr>
        <p:spPr>
          <a:xfrm>
            <a:off x="2217095" y="1862244"/>
            <a:ext cx="7772400" cy="3948112"/>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3200"/>
              <a:buChar char="•"/>
            </a:pPr>
            <a:r>
              <a:rPr lang="en-US"/>
              <a:t>Buying currency in the forward market to eliminate uncertainly (risk) in currency value)</a:t>
            </a:r>
            <a:endParaRPr/>
          </a:p>
          <a:p>
            <a:pPr indent="-228600" lvl="1" marL="685800" rtl="0" algn="l">
              <a:lnSpc>
                <a:spcPct val="90000"/>
              </a:lnSpc>
              <a:spcBef>
                <a:spcPts val="3000"/>
              </a:spcBef>
              <a:spcAft>
                <a:spcPts val="0"/>
              </a:spcAft>
              <a:buClr>
                <a:schemeClr val="dk1"/>
              </a:buClr>
              <a:buSzPts val="2800"/>
              <a:buChar char="•"/>
            </a:pPr>
            <a:r>
              <a:rPr lang="en-US"/>
              <a:t>US firm invests $100 mil in a Japanese bank, for 30 days at 6% annual rate</a:t>
            </a:r>
            <a:endParaRPr/>
          </a:p>
          <a:p>
            <a:pPr indent="-228600" lvl="1" marL="685800" rtl="0" algn="l">
              <a:lnSpc>
                <a:spcPct val="90000"/>
              </a:lnSpc>
              <a:spcBef>
                <a:spcPts val="3000"/>
              </a:spcBef>
              <a:spcAft>
                <a:spcPts val="0"/>
              </a:spcAft>
              <a:buClr>
                <a:schemeClr val="dk1"/>
              </a:buClr>
              <a:buSzPts val="2800"/>
              <a:buChar char="•"/>
            </a:pPr>
            <a:r>
              <a:rPr lang="en-US"/>
              <a:t>Buy $101,422,018 (for 11,055,000,000 yen) in Forward market at 109 Yen/$:  Gain is $1,422,018 whether dollar appreciates or depreciates</a:t>
            </a:r>
            <a:endParaRPr/>
          </a:p>
          <a:p>
            <a:pPr indent="0" lvl="0" marL="228600" rtl="0" algn="l">
              <a:lnSpc>
                <a:spcPct val="90000"/>
              </a:lnSpc>
              <a:spcBef>
                <a:spcPts val="1000"/>
              </a:spcBef>
              <a:spcAft>
                <a:spcPts val="0"/>
              </a:spcAft>
              <a:buClr>
                <a:schemeClr val="dk1"/>
              </a:buClr>
              <a:buSzPts val="3600"/>
              <a:buNone/>
            </a:pPr>
            <a:r>
              <a:t/>
            </a:r>
            <a:endParaRPr sz="3600"/>
          </a:p>
        </p:txBody>
      </p:sp>
      <p:sp>
        <p:nvSpPr>
          <p:cNvPr id="796" name="Google Shape;796;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795">
                                            <p:txEl>
                                              <p:pRg end="0" st="0"/>
                                            </p:txEl>
                                          </p:spTgt>
                                        </p:tgtEl>
                                        <p:attrNameLst>
                                          <p:attrName>style.visibility</p:attrName>
                                        </p:attrNameLst>
                                      </p:cBhvr>
                                      <p:to>
                                        <p:strVal val="visible"/>
                                      </p:to>
                                    </p:set>
                                    <p:anim calcmode="lin" valueType="num">
                                      <p:cBhvr additive="base">
                                        <p:cTn dur="500"/>
                                        <p:tgtEl>
                                          <p:spTgt spid="795">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795">
                                            <p:txEl>
                                              <p:pRg end="1" st="1"/>
                                            </p:txEl>
                                          </p:spTgt>
                                        </p:tgtEl>
                                        <p:attrNameLst>
                                          <p:attrName>style.visibility</p:attrName>
                                        </p:attrNameLst>
                                      </p:cBhvr>
                                      <p:to>
                                        <p:strVal val="visible"/>
                                      </p:to>
                                    </p:set>
                                    <p:anim calcmode="lin" valueType="num">
                                      <p:cBhvr additive="base">
                                        <p:cTn dur="500"/>
                                        <p:tgtEl>
                                          <p:spTgt spid="795">
                                            <p:txEl>
                                              <p:pRg end="1" st="1"/>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795">
                                            <p:txEl>
                                              <p:pRg end="2" st="2"/>
                                            </p:txEl>
                                          </p:spTgt>
                                        </p:tgtEl>
                                        <p:attrNameLst>
                                          <p:attrName>style.visibility</p:attrName>
                                        </p:attrNameLst>
                                      </p:cBhvr>
                                      <p:to>
                                        <p:strVal val="visible"/>
                                      </p:to>
                                    </p:set>
                                    <p:anim calcmode="lin" valueType="num">
                                      <p:cBhvr additive="base">
                                        <p:cTn dur="500"/>
                                        <p:tgtEl>
                                          <p:spTgt spid="795">
                                            <p:txEl>
                                              <p:pRg end="2" st="2"/>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795">
                                            <p:txEl>
                                              <p:pRg end="3" st="3"/>
                                            </p:txEl>
                                          </p:spTgt>
                                        </p:tgtEl>
                                        <p:attrNameLst>
                                          <p:attrName>style.visibility</p:attrName>
                                        </p:attrNameLst>
                                      </p:cBhvr>
                                      <p:to>
                                        <p:strVal val="visible"/>
                                      </p:to>
                                    </p:set>
                                    <p:anim calcmode="lin" valueType="num">
                                      <p:cBhvr additive="base">
                                        <p:cTn dur="500"/>
                                        <p:tgtEl>
                                          <p:spTgt spid="79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76"/>
          <p:cNvSpPr txBox="1"/>
          <p:nvPr>
            <p:ph type="title"/>
          </p:nvPr>
        </p:nvSpPr>
        <p:spPr>
          <a:xfrm>
            <a:off x="1808480" y="286869"/>
            <a:ext cx="103632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Big Mac Index:  Good predictor?</a:t>
            </a:r>
            <a:endParaRPr/>
          </a:p>
        </p:txBody>
      </p:sp>
      <p:graphicFrame>
        <p:nvGraphicFramePr>
          <p:cNvPr id="802" name="Google Shape;802;p76"/>
          <p:cNvGraphicFramePr/>
          <p:nvPr/>
        </p:nvGraphicFramePr>
        <p:xfrm>
          <a:off x="2209800" y="2119313"/>
          <a:ext cx="3000000" cy="3000000"/>
        </p:xfrm>
        <a:graphic>
          <a:graphicData uri="http://schemas.openxmlformats.org/drawingml/2006/table">
            <a:tbl>
              <a:tblPr>
                <a:noFill/>
                <a:tableStyleId>{927CC9C6-97F8-4375-91D3-5A93729F15AD}</a:tableStyleId>
              </a:tblPr>
              <a:tblGrid>
                <a:gridCol w="1276350"/>
                <a:gridCol w="833450"/>
                <a:gridCol w="1116000"/>
                <a:gridCol w="735025"/>
                <a:gridCol w="1001700"/>
                <a:gridCol w="936625"/>
                <a:gridCol w="938225"/>
                <a:gridCol w="935025"/>
              </a:tblGrid>
              <a:tr h="127000">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Big Mac</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Currency</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Big Mac</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r>
              <a:tr h="514350">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Unit/$</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Price</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PPP</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value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Units/$</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change</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 value </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FF"/>
                    </a:solidFill>
                  </a:tcPr>
                </a:tc>
              </a:tr>
              <a:tr h="180975">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Currency</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Feb 1 07</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Big Mac</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Units/$</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Feb 1 2007</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Nov 13 08</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2007 - 08</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FF"/>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Nov 13 08</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FF"/>
                    </a:solidFill>
                  </a:tcPr>
                </a:tc>
              </a:tr>
              <a:tr h="514350">
                <a:tc>
                  <a:txBody>
                    <a:bodyPr/>
                    <a:lstStyle/>
                    <a:p>
                      <a:pPr indent="-342900" lvl="0" marL="34290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Japanese Yen</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CC"/>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121</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280 yen</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87</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28%</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96</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8000"/>
                        </a:buClr>
                        <a:buSzPts val="1000"/>
                        <a:buFont typeface="Arial"/>
                        <a:buNone/>
                      </a:pPr>
                      <a:r>
                        <a:rPr b="1" i="0" lang="en-US" sz="1000" u="none" cap="none" strike="noStrike">
                          <a:solidFill>
                            <a:srgbClr val="008000"/>
                          </a:solidFill>
                          <a:latin typeface="Arial"/>
                          <a:ea typeface="Arial"/>
                          <a:cs typeface="Arial"/>
                          <a:sym typeface="Arial"/>
                        </a:rPr>
                        <a:t>20.66%</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9%</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4350">
                <a:tc>
                  <a:txBody>
                    <a:bodyPr/>
                    <a:lstStyle/>
                    <a:p>
                      <a:pPr indent="-342900" lvl="0" marL="34290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Chinese Yuan</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CC"/>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7.77</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11 Yuan</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3.42</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56%</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6.83</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8000"/>
                        </a:buClr>
                        <a:buSzPts val="1000"/>
                        <a:buFont typeface="Arial"/>
                        <a:buNone/>
                      </a:pPr>
                      <a:r>
                        <a:rPr b="1" i="0" lang="en-US" sz="1000" u="none" cap="none" strike="noStrike">
                          <a:solidFill>
                            <a:srgbClr val="008000"/>
                          </a:solidFill>
                          <a:latin typeface="Arial"/>
                          <a:ea typeface="Arial"/>
                          <a:cs typeface="Arial"/>
                          <a:sym typeface="Arial"/>
                        </a:rPr>
                        <a:t>12.10%</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50%</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4350">
                <a:tc>
                  <a:txBody>
                    <a:bodyPr/>
                    <a:lstStyle/>
                    <a:p>
                      <a:pPr indent="-342900" lvl="0" marL="34290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Icelandic Koran</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CC99"/>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68.4</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509 kroner</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158</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8000"/>
                        </a:buClr>
                        <a:buSzPts val="1000"/>
                        <a:buFont typeface="Arial"/>
                        <a:buNone/>
                      </a:pPr>
                      <a:r>
                        <a:rPr b="1" i="0" lang="en-US" sz="1000" u="none" cap="none" strike="noStrike">
                          <a:solidFill>
                            <a:srgbClr val="008000"/>
                          </a:solidFill>
                          <a:latin typeface="Arial"/>
                          <a:ea typeface="Arial"/>
                          <a:cs typeface="Arial"/>
                          <a:sym typeface="Arial"/>
                        </a:rPr>
                        <a:t>131%</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61.15</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8000"/>
                        </a:buClr>
                        <a:buSzPts val="1000"/>
                        <a:buFont typeface="Arial"/>
                        <a:buNone/>
                      </a:pPr>
                      <a:r>
                        <a:rPr b="1" i="0" lang="en-US" sz="1000" u="none" cap="none" strike="noStrike">
                          <a:solidFill>
                            <a:srgbClr val="008000"/>
                          </a:solidFill>
                          <a:latin typeface="Arial"/>
                          <a:ea typeface="Arial"/>
                          <a:cs typeface="Arial"/>
                          <a:sym typeface="Arial"/>
                        </a:rPr>
                        <a:t>10.60%</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8000"/>
                        </a:buClr>
                        <a:buSzPts val="1000"/>
                        <a:buFont typeface="Arial"/>
                        <a:buNone/>
                      </a:pPr>
                      <a:r>
                        <a:rPr b="1" i="0" lang="en-US" sz="1000" u="none" cap="none" strike="noStrike">
                          <a:solidFill>
                            <a:srgbClr val="008000"/>
                          </a:solidFill>
                          <a:latin typeface="Arial"/>
                          <a:ea typeface="Arial"/>
                          <a:cs typeface="Arial"/>
                          <a:sym typeface="Arial"/>
                        </a:rPr>
                        <a:t>158%</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4350">
                <a:tc>
                  <a:txBody>
                    <a:bodyPr/>
                    <a:lstStyle/>
                    <a:p>
                      <a:pPr indent="-342900" lvl="0" marL="34290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Pound Sterling</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CC"/>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0.51</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1.99 pounds</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0.62</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8000"/>
                        </a:buClr>
                        <a:buSzPts val="1000"/>
                        <a:buFont typeface="Arial"/>
                        <a:buNone/>
                      </a:pPr>
                      <a:r>
                        <a:rPr b="1" i="0" lang="en-US" sz="1000" u="none" cap="none" strike="noStrike">
                          <a:solidFill>
                            <a:srgbClr val="008000"/>
                          </a:solidFill>
                          <a:latin typeface="Arial"/>
                          <a:ea typeface="Arial"/>
                          <a:cs typeface="Arial"/>
                          <a:sym typeface="Arial"/>
                        </a:rPr>
                        <a:t>21%</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0.68</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6600"/>
                        </a:buClr>
                        <a:buSzPts val="1000"/>
                        <a:buFont typeface="Arial"/>
                        <a:buNone/>
                      </a:pPr>
                      <a:r>
                        <a:rPr b="1" i="0" lang="en-US" sz="1000" u="none" cap="none" strike="noStrike">
                          <a:solidFill>
                            <a:srgbClr val="FF6600"/>
                          </a:solidFill>
                          <a:latin typeface="Arial"/>
                          <a:ea typeface="Arial"/>
                          <a:cs typeface="Arial"/>
                          <a:sym typeface="Arial"/>
                        </a:rPr>
                        <a:t>-33.33%</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9%</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14350">
                <a:tc>
                  <a:txBody>
                    <a:bodyPr/>
                    <a:lstStyle/>
                    <a:p>
                      <a:pPr indent="-342900" lvl="0" marL="34290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Euro</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CCFFCC"/>
                    </a:solidFill>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0.77</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2.94 Euros</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0.91</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8000"/>
                        </a:buClr>
                        <a:buSzPts val="1000"/>
                        <a:buFont typeface="Arial"/>
                        <a:buNone/>
                      </a:pPr>
                      <a:r>
                        <a:rPr b="1" i="0" lang="en-US" sz="1000" u="none" cap="none" strike="noStrike">
                          <a:solidFill>
                            <a:srgbClr val="008000"/>
                          </a:solidFill>
                          <a:latin typeface="Arial"/>
                          <a:ea typeface="Arial"/>
                          <a:cs typeface="Arial"/>
                          <a:sym typeface="Arial"/>
                        </a:rPr>
                        <a:t>19%</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0.798</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6600"/>
                        </a:buClr>
                        <a:buSzPts val="1000"/>
                        <a:buFont typeface="Arial"/>
                        <a:buNone/>
                      </a:pPr>
                      <a:r>
                        <a:rPr b="1" i="0" lang="en-US" sz="1000" u="none" cap="none" strike="noStrike">
                          <a:solidFill>
                            <a:srgbClr val="FF6600"/>
                          </a:solidFill>
                          <a:latin typeface="Arial"/>
                          <a:ea typeface="Arial"/>
                          <a:cs typeface="Arial"/>
                          <a:sym typeface="Arial"/>
                        </a:rPr>
                        <a:t>-3.64%</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008000"/>
                        </a:buClr>
                        <a:buSzPts val="1000"/>
                        <a:buFont typeface="Arial"/>
                        <a:buNone/>
                      </a:pPr>
                      <a:r>
                        <a:rPr b="1" i="0" lang="en-US" sz="1000" u="none" cap="none" strike="noStrike">
                          <a:solidFill>
                            <a:srgbClr val="008000"/>
                          </a:solidFill>
                          <a:latin typeface="Arial"/>
                          <a:ea typeface="Arial"/>
                          <a:cs typeface="Arial"/>
                          <a:sym typeface="Arial"/>
                        </a:rPr>
                        <a:t>14%</a:t>
                      </a:r>
                      <a:endParaRPr b="0" i="0" sz="2400" u="none" cap="none" strike="noStrike">
                        <a:solidFill>
                          <a:schemeClr val="dk1"/>
                        </a:solidFill>
                        <a:latin typeface="Times New Roman"/>
                        <a:ea typeface="Times New Roman"/>
                        <a:cs typeface="Times New Roman"/>
                        <a:sym typeface="Times New Roman"/>
                      </a:endParaRPr>
                    </a:p>
                  </a:txBody>
                  <a:tcPr marT="45725" marB="45725" marR="91450" marL="91450" anchor="b">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803" name="Google Shape;803;p76"/>
          <p:cNvSpPr txBox="1"/>
          <p:nvPr/>
        </p:nvSpPr>
        <p:spPr>
          <a:xfrm>
            <a:off x="2209800" y="6096000"/>
            <a:ext cx="7162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VALUATION (vis a vis $):  Actuel minus ppp / actuel</a:t>
            </a:r>
            <a:endParaRPr sz="1800">
              <a:solidFill>
                <a:schemeClr val="dk1"/>
              </a:solidFill>
              <a:latin typeface="Calibri"/>
              <a:ea typeface="Calibri"/>
              <a:cs typeface="Calibri"/>
              <a:sym typeface="Calibri"/>
            </a:endParaRPr>
          </a:p>
        </p:txBody>
      </p:sp>
      <p:sp>
        <p:nvSpPr>
          <p:cNvPr id="804" name="Google Shape;804;p76">
            <a:hlinkClick action="ppaction://hlinksldjump" r:id="rId3"/>
          </p:cNvPr>
          <p:cNvSpPr/>
          <p:nvPr/>
        </p:nvSpPr>
        <p:spPr>
          <a:xfrm>
            <a:off x="10134600" y="6248400"/>
            <a:ext cx="228600" cy="152400"/>
          </a:xfrm>
          <a:custGeom>
            <a:rect b="b" l="l" r="r" t="t"/>
            <a:pathLst>
              <a:path extrusionOk="0" h="120000" w="120000">
                <a:moveTo>
                  <a:pt x="0" y="0"/>
                </a:moveTo>
                <a:lnTo>
                  <a:pt x="120000" y="0"/>
                </a:lnTo>
                <a:lnTo>
                  <a:pt x="120000" y="120000"/>
                </a:lnTo>
                <a:lnTo>
                  <a:pt x="0" y="120000"/>
                </a:lnTo>
                <a:close/>
                <a:moveTo>
                  <a:pt x="30000" y="60000"/>
                </a:moveTo>
                <a:lnTo>
                  <a:pt x="90000" y="15000"/>
                </a:lnTo>
                <a:lnTo>
                  <a:pt x="90000" y="105000"/>
                </a:lnTo>
                <a:close/>
              </a:path>
              <a:path extrusionOk="0" fill="darken" h="120000" w="120000">
                <a:moveTo>
                  <a:pt x="30000" y="60000"/>
                </a:moveTo>
                <a:lnTo>
                  <a:pt x="90000" y="15000"/>
                </a:lnTo>
                <a:lnTo>
                  <a:pt x="90000" y="105000"/>
                </a:lnTo>
                <a:close/>
              </a:path>
              <a:path extrusionOk="0" fill="none" h="120000" w="120000">
                <a:moveTo>
                  <a:pt x="30000" y="60000"/>
                </a:moveTo>
                <a:lnTo>
                  <a:pt x="90000" y="15000"/>
                </a:lnTo>
                <a:lnTo>
                  <a:pt x="90000" y="10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5" name="Google Shape;805;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77"/>
          <p:cNvSpPr txBox="1"/>
          <p:nvPr>
            <p:ph type="title"/>
          </p:nvPr>
        </p:nvSpPr>
        <p:spPr>
          <a:xfrm>
            <a:off x="1808480" y="-76200"/>
            <a:ext cx="103632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Link to video on “new” Gold Standard</a:t>
            </a:r>
            <a:endParaRPr/>
          </a:p>
        </p:txBody>
      </p:sp>
      <p:sp>
        <p:nvSpPr>
          <p:cNvPr id="811" name="Google Shape;811;p77"/>
          <p:cNvSpPr/>
          <p:nvPr/>
        </p:nvSpPr>
        <p:spPr>
          <a:xfrm>
            <a:off x="1075765" y="1969609"/>
            <a:ext cx="8131041" cy="13849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2800" u="sng">
                <a:solidFill>
                  <a:schemeClr val="hlink"/>
                </a:solidFill>
                <a:latin typeface="Calibri"/>
                <a:ea typeface="Calibri"/>
                <a:cs typeface="Calibri"/>
                <a:sym typeface="Calibri"/>
                <a:hlinkClick r:id="rId3"/>
              </a:rPr>
              <a:t>http://www.ft.com/cms/s/0/32114cee-eb78-11df-b482-00144feab49a,dwp_uuid=60a3db68-b177-11dd-b97a-0000779fd18c.html</a:t>
            </a:r>
            <a:r>
              <a:rPr lang="en-US" sz="2800">
                <a:solidFill>
                  <a:schemeClr val="dk1"/>
                </a:solidFill>
                <a:latin typeface="Calibri"/>
                <a:ea typeface="Calibri"/>
                <a:cs typeface="Calibri"/>
                <a:sym typeface="Calibri"/>
              </a:rPr>
              <a:t> </a:t>
            </a:r>
            <a:endParaRPr/>
          </a:p>
        </p:txBody>
      </p:sp>
      <p:sp>
        <p:nvSpPr>
          <p:cNvPr id="812" name="Google Shape;812;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78"/>
          <p:cNvSpPr txBox="1"/>
          <p:nvPr>
            <p:ph type="title"/>
          </p:nvPr>
        </p:nvSpPr>
        <p:spPr>
          <a:xfrm>
            <a:off x="2892188" y="13831"/>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Let’s talk G20…	</a:t>
            </a:r>
            <a:endParaRPr/>
          </a:p>
        </p:txBody>
      </p:sp>
      <p:sp>
        <p:nvSpPr>
          <p:cNvPr id="818" name="Google Shape;818;p78"/>
          <p:cNvSpPr txBox="1"/>
          <p:nvPr>
            <p:ph idx="1" type="body"/>
          </p:nvPr>
        </p:nvSpPr>
        <p:spPr>
          <a:xfrm>
            <a:off x="2209800" y="1892800"/>
            <a:ext cx="7772400" cy="47366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What is it?</a:t>
            </a:r>
            <a:endParaRPr/>
          </a:p>
          <a:p>
            <a:pPr indent="-228600" lvl="0" marL="228600" rtl="0" algn="l">
              <a:lnSpc>
                <a:spcPct val="90000"/>
              </a:lnSpc>
              <a:spcBef>
                <a:spcPts val="1800"/>
              </a:spcBef>
              <a:spcAft>
                <a:spcPts val="0"/>
              </a:spcAft>
              <a:buClr>
                <a:schemeClr val="dk1"/>
              </a:buClr>
              <a:buSzPts val="2400"/>
              <a:buChar char="•"/>
            </a:pPr>
            <a:r>
              <a:rPr lang="en-US" sz="2400"/>
              <a:t>Why is it important?</a:t>
            </a:r>
            <a:endParaRPr/>
          </a:p>
          <a:p>
            <a:pPr indent="-228600" lvl="0" marL="228600" rtl="0" algn="l">
              <a:lnSpc>
                <a:spcPct val="90000"/>
              </a:lnSpc>
              <a:spcBef>
                <a:spcPts val="1800"/>
              </a:spcBef>
              <a:spcAft>
                <a:spcPts val="0"/>
              </a:spcAft>
              <a:buClr>
                <a:schemeClr val="dk1"/>
              </a:buClr>
              <a:buSzPts val="2400"/>
              <a:buChar char="•"/>
            </a:pPr>
            <a:r>
              <a:rPr lang="en-US" sz="2400"/>
              <a:t>What is its history</a:t>
            </a:r>
            <a:endParaRPr/>
          </a:p>
          <a:p>
            <a:pPr indent="-228600" lvl="0" marL="228600" rtl="0" algn="l">
              <a:lnSpc>
                <a:spcPct val="90000"/>
              </a:lnSpc>
              <a:spcBef>
                <a:spcPts val="1800"/>
              </a:spcBef>
              <a:spcAft>
                <a:spcPts val="0"/>
              </a:spcAft>
              <a:buClr>
                <a:schemeClr val="dk1"/>
              </a:buClr>
              <a:buSzPts val="2400"/>
              <a:buChar char="•"/>
            </a:pPr>
            <a:r>
              <a:rPr lang="en-US" sz="2400"/>
              <a:t>What are issues now?</a:t>
            </a:r>
            <a:endParaRPr/>
          </a:p>
          <a:p>
            <a:pPr indent="-228600" lvl="1" marL="685800" rtl="0" algn="l">
              <a:lnSpc>
                <a:spcPct val="90000"/>
              </a:lnSpc>
              <a:spcBef>
                <a:spcPts val="500"/>
              </a:spcBef>
              <a:spcAft>
                <a:spcPts val="0"/>
              </a:spcAft>
              <a:buClr>
                <a:schemeClr val="dk1"/>
              </a:buClr>
              <a:buSzPts val="2000"/>
              <a:buChar char="•"/>
            </a:pPr>
            <a:r>
              <a:rPr lang="en-US" sz="2000"/>
              <a:t>Trade imbalances </a:t>
            </a:r>
            <a:r>
              <a:rPr lang="en-US" sz="700" u="sng">
                <a:solidFill>
                  <a:schemeClr val="hlink"/>
                </a:solidFill>
                <a:hlinkClick r:id="rId3"/>
              </a:rPr>
              <a:t>http://www.ft.com/cms/s/0/32a3c85a-ec39-11df-9e11-00144feab49a,dwp_uuid=60a3db68-b177-11dd-b97a-0000779fd18c.html</a:t>
            </a:r>
            <a:r>
              <a:rPr lang="en-US" sz="700"/>
              <a:t> </a:t>
            </a:r>
            <a:endParaRPr/>
          </a:p>
          <a:p>
            <a:pPr indent="-228600" lvl="1" marL="685800" rtl="0" algn="l">
              <a:lnSpc>
                <a:spcPct val="90000"/>
              </a:lnSpc>
              <a:spcBef>
                <a:spcPts val="500"/>
              </a:spcBef>
              <a:spcAft>
                <a:spcPts val="0"/>
              </a:spcAft>
              <a:buClr>
                <a:schemeClr val="dk1"/>
              </a:buClr>
              <a:buSzPts val="2000"/>
              <a:buChar char="•"/>
            </a:pPr>
            <a:r>
              <a:rPr lang="en-US" sz="2000"/>
              <a:t>Currency manipulation (China and US)</a:t>
            </a:r>
            <a:endParaRPr/>
          </a:p>
          <a:p>
            <a:pPr indent="-228600" lvl="1" marL="685800" rtl="0" algn="l">
              <a:lnSpc>
                <a:spcPct val="90000"/>
              </a:lnSpc>
              <a:spcBef>
                <a:spcPts val="500"/>
              </a:spcBef>
              <a:spcAft>
                <a:spcPts val="0"/>
              </a:spcAft>
              <a:buClr>
                <a:schemeClr val="dk1"/>
              </a:buClr>
              <a:buSzPts val="2000"/>
              <a:buChar char="•"/>
            </a:pPr>
            <a:r>
              <a:rPr lang="en-US" sz="2000"/>
              <a:t>Capital controls</a:t>
            </a:r>
            <a:endParaRPr/>
          </a:p>
          <a:p>
            <a:pPr indent="-228600" lvl="1" marL="685800" rtl="0" algn="l">
              <a:lnSpc>
                <a:spcPct val="90000"/>
              </a:lnSpc>
              <a:spcBef>
                <a:spcPts val="500"/>
              </a:spcBef>
              <a:spcAft>
                <a:spcPts val="0"/>
              </a:spcAft>
              <a:buClr>
                <a:schemeClr val="dk1"/>
              </a:buClr>
              <a:buSzPts val="2000"/>
              <a:buChar char="•"/>
            </a:pPr>
            <a:r>
              <a:rPr lang="en-US" sz="2000"/>
              <a:t>System for managing exchange rates and trade deficits</a:t>
            </a:r>
            <a:endParaRPr/>
          </a:p>
          <a:p>
            <a:pPr indent="-228600" lvl="0" marL="228600" rtl="0" algn="l">
              <a:lnSpc>
                <a:spcPct val="90000"/>
              </a:lnSpc>
              <a:spcBef>
                <a:spcPts val="1800"/>
              </a:spcBef>
              <a:spcAft>
                <a:spcPts val="0"/>
              </a:spcAft>
              <a:buClr>
                <a:schemeClr val="dk1"/>
              </a:buClr>
              <a:buSzPts val="2400"/>
              <a:buChar char="•"/>
            </a:pPr>
            <a:r>
              <a:rPr lang="en-US" sz="2400"/>
              <a:t>What is at stake?  </a:t>
            </a:r>
            <a:endParaRPr/>
          </a:p>
          <a:p>
            <a:pPr indent="-76200" lvl="0" marL="228600" rtl="0" algn="l">
              <a:lnSpc>
                <a:spcPct val="90000"/>
              </a:lnSpc>
              <a:spcBef>
                <a:spcPts val="1000"/>
              </a:spcBef>
              <a:spcAft>
                <a:spcPts val="0"/>
              </a:spcAft>
              <a:buClr>
                <a:schemeClr val="dk1"/>
              </a:buClr>
              <a:buSzPts val="2400"/>
              <a:buNone/>
            </a:pPr>
            <a:r>
              <a:t/>
            </a:r>
            <a:endParaRPr sz="2400"/>
          </a:p>
        </p:txBody>
      </p:sp>
      <p:pic>
        <p:nvPicPr>
          <p:cNvPr descr="G20 Seoul.jpg" id="819" name="Google Shape;819;p78"/>
          <p:cNvPicPr preferRelativeResize="0"/>
          <p:nvPr/>
        </p:nvPicPr>
        <p:blipFill rotWithShape="1">
          <a:blip r:embed="rId4">
            <a:alphaModFix/>
          </a:blip>
          <a:srcRect b="0" l="0" r="0" t="0"/>
          <a:stretch/>
        </p:blipFill>
        <p:spPr>
          <a:xfrm>
            <a:off x="7478580" y="1721669"/>
            <a:ext cx="1600200" cy="1600200"/>
          </a:xfrm>
          <a:prstGeom prst="rect">
            <a:avLst/>
          </a:prstGeom>
          <a:noFill/>
          <a:ln>
            <a:noFill/>
          </a:ln>
        </p:spPr>
      </p:pic>
      <p:sp>
        <p:nvSpPr>
          <p:cNvPr id="820" name="Google Shape;820;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0" st="0"/>
                                            </p:txEl>
                                          </p:spTgt>
                                        </p:tgtEl>
                                        <p:attrNameLst>
                                          <p:attrName>style.visibility</p:attrName>
                                        </p:attrNameLst>
                                      </p:cBhvr>
                                      <p:to>
                                        <p:strVal val="visible"/>
                                      </p:to>
                                    </p:set>
                                    <p:anim calcmode="lin" valueType="num">
                                      <p:cBhvr additive="base">
                                        <p:cTn dur="500"/>
                                        <p:tgtEl>
                                          <p:spTgt spid="81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1" st="1"/>
                                            </p:txEl>
                                          </p:spTgt>
                                        </p:tgtEl>
                                        <p:attrNameLst>
                                          <p:attrName>style.visibility</p:attrName>
                                        </p:attrNameLst>
                                      </p:cBhvr>
                                      <p:to>
                                        <p:strVal val="visible"/>
                                      </p:to>
                                    </p:set>
                                    <p:anim calcmode="lin" valueType="num">
                                      <p:cBhvr additive="base">
                                        <p:cTn dur="500"/>
                                        <p:tgtEl>
                                          <p:spTgt spid="818">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2" st="2"/>
                                            </p:txEl>
                                          </p:spTgt>
                                        </p:tgtEl>
                                        <p:attrNameLst>
                                          <p:attrName>style.visibility</p:attrName>
                                        </p:attrNameLst>
                                      </p:cBhvr>
                                      <p:to>
                                        <p:strVal val="visible"/>
                                      </p:to>
                                    </p:set>
                                    <p:anim calcmode="lin" valueType="num">
                                      <p:cBhvr additive="base">
                                        <p:cTn dur="500"/>
                                        <p:tgtEl>
                                          <p:spTgt spid="818">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3" st="3"/>
                                            </p:txEl>
                                          </p:spTgt>
                                        </p:tgtEl>
                                        <p:attrNameLst>
                                          <p:attrName>style.visibility</p:attrName>
                                        </p:attrNameLst>
                                      </p:cBhvr>
                                      <p:to>
                                        <p:strVal val="visible"/>
                                      </p:to>
                                    </p:set>
                                    <p:anim calcmode="lin" valueType="num">
                                      <p:cBhvr additive="base">
                                        <p:cTn dur="500"/>
                                        <p:tgtEl>
                                          <p:spTgt spid="818">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4" st="4"/>
                                            </p:txEl>
                                          </p:spTgt>
                                        </p:tgtEl>
                                        <p:attrNameLst>
                                          <p:attrName>style.visibility</p:attrName>
                                        </p:attrNameLst>
                                      </p:cBhvr>
                                      <p:to>
                                        <p:strVal val="visible"/>
                                      </p:to>
                                    </p:set>
                                    <p:anim calcmode="lin" valueType="num">
                                      <p:cBhvr additive="base">
                                        <p:cTn dur="500"/>
                                        <p:tgtEl>
                                          <p:spTgt spid="818">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5" st="5"/>
                                            </p:txEl>
                                          </p:spTgt>
                                        </p:tgtEl>
                                        <p:attrNameLst>
                                          <p:attrName>style.visibility</p:attrName>
                                        </p:attrNameLst>
                                      </p:cBhvr>
                                      <p:to>
                                        <p:strVal val="visible"/>
                                      </p:to>
                                    </p:set>
                                    <p:anim calcmode="lin" valueType="num">
                                      <p:cBhvr additive="base">
                                        <p:cTn dur="500"/>
                                        <p:tgtEl>
                                          <p:spTgt spid="818">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6" st="6"/>
                                            </p:txEl>
                                          </p:spTgt>
                                        </p:tgtEl>
                                        <p:attrNameLst>
                                          <p:attrName>style.visibility</p:attrName>
                                        </p:attrNameLst>
                                      </p:cBhvr>
                                      <p:to>
                                        <p:strVal val="visible"/>
                                      </p:to>
                                    </p:set>
                                    <p:anim calcmode="lin" valueType="num">
                                      <p:cBhvr additive="base">
                                        <p:cTn dur="500"/>
                                        <p:tgtEl>
                                          <p:spTgt spid="818">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7" st="7"/>
                                            </p:txEl>
                                          </p:spTgt>
                                        </p:tgtEl>
                                        <p:attrNameLst>
                                          <p:attrName>style.visibility</p:attrName>
                                        </p:attrNameLst>
                                      </p:cBhvr>
                                      <p:to>
                                        <p:strVal val="visible"/>
                                      </p:to>
                                    </p:set>
                                    <p:anim calcmode="lin" valueType="num">
                                      <p:cBhvr additive="base">
                                        <p:cTn dur="500"/>
                                        <p:tgtEl>
                                          <p:spTgt spid="818">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8" st="8"/>
                                            </p:txEl>
                                          </p:spTgt>
                                        </p:tgtEl>
                                        <p:attrNameLst>
                                          <p:attrName>style.visibility</p:attrName>
                                        </p:attrNameLst>
                                      </p:cBhvr>
                                      <p:to>
                                        <p:strVal val="visible"/>
                                      </p:to>
                                    </p:set>
                                    <p:anim calcmode="lin" valueType="num">
                                      <p:cBhvr additive="base">
                                        <p:cTn dur="500"/>
                                        <p:tgtEl>
                                          <p:spTgt spid="818">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18">
                                            <p:txEl>
                                              <p:pRg end="9" st="9"/>
                                            </p:txEl>
                                          </p:spTgt>
                                        </p:tgtEl>
                                        <p:attrNameLst>
                                          <p:attrName>style.visibility</p:attrName>
                                        </p:attrNameLst>
                                      </p:cBhvr>
                                      <p:to>
                                        <p:strVal val="visible"/>
                                      </p:to>
                                    </p:set>
                                    <p:anim calcmode="lin" valueType="num">
                                      <p:cBhvr additive="base">
                                        <p:cTn dur="500"/>
                                        <p:tgtEl>
                                          <p:spTgt spid="818">
                                            <p:txEl>
                                              <p:pRg end="9" st="9"/>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79"/>
          <p:cNvSpPr txBox="1"/>
          <p:nvPr>
            <p:ph type="title"/>
          </p:nvPr>
        </p:nvSpPr>
        <p:spPr>
          <a:xfrm>
            <a:off x="1560918" y="94666"/>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could/did happen at Seoul?</a:t>
            </a:r>
            <a:endParaRPr/>
          </a:p>
        </p:txBody>
      </p:sp>
      <p:pic>
        <p:nvPicPr>
          <p:cNvPr descr="G20 tension.jpg" id="826" name="Google Shape;826;p79"/>
          <p:cNvPicPr preferRelativeResize="0"/>
          <p:nvPr>
            <p:ph idx="1" type="body"/>
          </p:nvPr>
        </p:nvPicPr>
        <p:blipFill rotWithShape="1">
          <a:blip r:embed="rId3">
            <a:alphaModFix/>
          </a:blip>
          <a:srcRect b="0" l="0" r="0" t="0"/>
          <a:stretch/>
        </p:blipFill>
        <p:spPr>
          <a:xfrm>
            <a:off x="2438400" y="2057400"/>
            <a:ext cx="6858000" cy="3939702"/>
          </a:xfrm>
          <a:prstGeom prst="rect">
            <a:avLst/>
          </a:prstGeom>
          <a:noFill/>
          <a:ln>
            <a:noFill/>
          </a:ln>
        </p:spPr>
      </p:pic>
      <p:sp>
        <p:nvSpPr>
          <p:cNvPr id="827" name="Google Shape;827;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80"/>
          <p:cNvSpPr txBox="1"/>
          <p:nvPr>
            <p:ph type="title"/>
          </p:nvPr>
        </p:nvSpPr>
        <p:spPr>
          <a:xfrm>
            <a:off x="1560918" y="94666"/>
            <a:ext cx="9792881"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China vs. the US?</a:t>
            </a:r>
            <a:endParaRPr/>
          </a:p>
        </p:txBody>
      </p:sp>
      <p:sp>
        <p:nvSpPr>
          <p:cNvPr id="833" name="Google Shape;833;p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a:t> Help your understanding:   - rap  </a:t>
            </a:r>
            <a:r>
              <a:rPr lang="en-US" u="sng">
                <a:solidFill>
                  <a:schemeClr val="hlink"/>
                </a:solidFill>
                <a:hlinkClick r:id="rId3"/>
              </a:rPr>
              <a:t>http://behindthewall.msnbc.msn.com/_news/2010/11/11/5447670-chinas-in-the-house</a:t>
            </a:r>
            <a:endParaRPr u="sng"/>
          </a:p>
          <a:p>
            <a:pPr indent="-228600" lvl="0" marL="228600" rtl="0" algn="l">
              <a:lnSpc>
                <a:spcPct val="90000"/>
              </a:lnSpc>
              <a:spcBef>
                <a:spcPts val="1000"/>
              </a:spcBef>
              <a:spcAft>
                <a:spcPts val="0"/>
              </a:spcAft>
              <a:buClr>
                <a:schemeClr val="dk1"/>
              </a:buClr>
              <a:buSzPts val="3200"/>
              <a:buNone/>
            </a:pPr>
            <a:r>
              <a:t/>
            </a:r>
            <a:endParaRPr/>
          </a:p>
        </p:txBody>
      </p:sp>
      <p:sp>
        <p:nvSpPr>
          <p:cNvPr id="834" name="Google Shape;834;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